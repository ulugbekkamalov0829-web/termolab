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Kirish" id="{9c277e79-5635-6c08-19f2-23bb48185ab5}">
          <p14:sldIdLst>
            <p14:sldId id="256"/>
            <p14:sldId id="257"/>
          </p14:sldIdLst>
        </p14:section>
        <p14:section name="Masala va usullar" id="{0c5dcb65-f23c-c708-a040-6869d945f39b}">
          <p14:sldIdLst>
            <p14:sldId id="258"/>
            <p14:sldId id="259"/>
            <p14:sldId id="260"/>
            <p14:sldId id="261"/>
            <p14:sldId id="262"/>
            <p14:sldId id="263"/>
          </p14:sldIdLst>
        </p14:section>
        <p14:section name="Taqqoslash" id="{1b88a7f0-8d73-05b2-8460-54e174a8f477}">
          <p14:sldIdLst>
            <p14:sldId id="264"/>
            <p14:sldId id="265"/>
          </p14:sldIdLst>
        </p14:section>
        <p14:section name="Dasturiy ta’minot" id="{6063cf7e-e273-e878-0d9a-8376bb8e32e1}">
          <p14:sldIdLst>
            <p14:sldId id="266"/>
            <p14:sldId id="267"/>
          </p14:sldIdLst>
        </p14:section>
        <p14:section name="Amaliy natijalar" id="{b74fbc88-6116-ea68-d18d-7e5630114ffa}">
          <p14:sldIdLst>
            <p14:sldId id="268"/>
            <p14:sldId id="269"/>
            <p14:sldId id="270"/>
          </p14:sldIdLst>
        </p14:section>
        <p14:section name="Ishonchlilik" id="{84e68fc0-0d12-46a1-330e-b404016cb5c1}">
          <p14:sldIdLst>
            <p14:sldId id="271"/>
          </p14:sldIdLst>
        </p14:section>
        <p14:section name="Foydalanish" id="{d7406ad6-9c71-8246-2b76-c71653ac063f}">
          <p14:sldIdLst>
            <p14:sldId id="272"/>
          </p14:sldIdLst>
        </p14:section>
        <p14:section name="Xulosa" id="{05939e61-71ce-2606-2995-e2fef4b8aea5}">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12E"/>
                </a:solidFill>
                <a:latin typeface="+mn-lt"/>
              </a:defRPr>
            </a:pPr>
            <a:r>
              <a:rPr sz="1400" b="0" i="0" u="none" strike="noStrike">
                <a:solidFill>
                  <a:srgbClr val="16212E"/>
                </a:solidFill>
                <a:latin typeface="+mn-lt"/>
              </a:rPr>
              <a:t>1D: hisoblash vaqti, ms (kam – yaxshi)</a:t>
            </a:r>
          </a:p>
        </c:rich>
      </c:tx>
      <c:layout/>
      <c:overlay val="0"/>
    </c:title>
    <c:autoTitleDeleted val="0"/>
    <c:plotArea>
      <c:layout/>
      <c:barChart>
        <c:barDir val="bar"/>
        <c:grouping val="clustered"/>
        <c:varyColors val="0"/>
        <c:ser>
          <c:idx val="0"/>
          <c:order val="0"/>
          <c:tx>
            <c:strRef>
              <c:f>Sheet1!$B$1</c:f>
              <c:strCache>
                <c:ptCount val="1"/>
                <c:pt idx="0">
                  <c:v>Hisoblash vaqti, ms</c:v>
                </c:pt>
              </c:strCache>
            </c:strRef>
          </c:tx>
          <c:spPr>
            <a:solidFill>
              <a:srgbClr val="C77F12"/>
            </a:solidFill>
            <a:effectLst/>
          </c:spPr>
          <c:invertIfNegative val="0"/>
          <c:dLbls>
            <c:numFmt formatCode="0.0#" sourceLinked="0"/>
            <c:txPr>
              <a:bodyPr/>
              <a:lstStyle/>
              <a:p>
                <a:pPr>
                  <a:defRPr b="0" i="0" strike="noStrike" sz="1200" u="none">
                    <a:solidFill>
                      <a:srgbClr val="16212E"/>
                    </a:solidFill>
                    <a:latin typeface="+mn-lt"/>
                  </a:defRPr>
                </a:pPr>
              </a:p>
            </c:txPr>
            <c:showLegendKey val="0"/>
            <c:showVal val="1"/>
            <c:showCatName val="0"/>
            <c:showSerName val="0"/>
            <c:showPercent val="0"/>
            <c:showBubbleSize val="0"/>
            <c:showLeaderLines val="0"/>
          </c:dLbls>
          <c:dPt>
            <c:idx val="0"/>
            <c:invertIfNegative val="0"/>
            <c:bubble3D val="0"/>
            <c:spPr>
              <a:solidFill>
                <a:srgbClr val="C77F12"/>
              </a:solidFill>
              <a:effectLst/>
            </c:spPr>
          </c:dPt>
          <c:dPt>
            <c:idx val="1"/>
            <c:invertIfNegative val="0"/>
            <c:bubble3D val="0"/>
            <c:spPr>
              <a:solidFill>
                <a:srgbClr val="6AA585"/>
              </a:solidFill>
              <a:effectLst/>
            </c:spPr>
          </c:dPt>
          <c:dPt>
            <c:idx val="2"/>
            <c:invertIfNegative val="0"/>
            <c:bubble3D val="0"/>
            <c:spPr>
              <a:solidFill>
                <a:srgbClr val="6AA585"/>
              </a:solidFill>
              <a:effectLst/>
            </c:spPr>
          </c:dPt>
          <c:dPt>
            <c:idx val="3"/>
            <c:invertIfNegative val="0"/>
            <c:bubble3D val="0"/>
            <c:spPr>
              <a:solidFill>
                <a:srgbClr val="C77F12"/>
              </a:solidFill>
              <a:effectLst/>
            </c:spPr>
          </c:dPt>
          <c:dPt>
            <c:idx val="4"/>
            <c:invertIfNegative val="0"/>
            <c:bubble3D val="0"/>
            <c:spPr>
              <a:solidFill>
                <a:srgbClr val="1F7A4A"/>
              </a:solidFill>
              <a:effectLst/>
            </c:spPr>
          </c:dPt>
          <c:cat>
            <c:multiLvlStrRef>
              <c:f>Sheet1!$A$2:$A$6</c:f>
              <c:multiLvlStrCache>
                <c:ptCount val="5"/>
                <c:lvl>
                  <c:pt idx="0">
                    <c:v>Oshkormas + Zeydel</c:v>
                  </c:pt>
                  <c:pt idx="1">
                    <c:v>Krank–Nikolson + Zeydel</c:v>
                  </c:pt>
                  <c:pt idx="2">
                    <c:v>Oshkor (τ = 0.125 s)</c:v>
                  </c:pt>
                  <c:pt idx="3">
                    <c:v>Oshkormas + haydash</c:v>
                  </c:pt>
                  <c:pt idx="4">
                    <c:v>Krank–Nikolson + haydash</c:v>
                  </c:pt>
                </c:lvl>
              </c:multiLvlStrCache>
            </c:multiLvlStrRef>
          </c:cat>
          <c:val>
            <c:numRef>
              <c:f>Sheet1!$B$2:$B$6</c:f>
              <c:numCache>
                <c:formatCode>General</c:formatCode>
                <c:ptCount val="5"/>
                <c:pt idx="0">
                  <c:v>35.9</c:v>
                </c:pt>
                <c:pt idx="1">
                  <c:v>21.6</c:v>
                </c:pt>
                <c:pt idx="2">
                  <c:v>14.8</c:v>
                </c:pt>
                <c:pt idx="3">
                  <c:v>2</c:v>
                </c:pt>
                <c:pt idx="4">
                  <c:v>0.31</c:v>
                </c:pt>
              </c:numCache>
            </c:numRef>
          </c:val>
        </c:ser>
        <c:dLbls>
          <c:numFmt formatCode="0.0#" sourceLinked="0"/>
          <c:txPr>
            <a:bodyPr/>
            <a:lstStyle/>
            <a:p>
              <a:pPr>
                <a:defRPr b="0" i="0" strike="noStrike" sz="1200" u="none">
                  <a:solidFill>
                    <a:srgbClr val="1621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D4B5C"/>
                </a:solidFill>
                <a:latin typeface="+mn-lt"/>
              </a:defRPr>
            </a:pPr>
            <a:endParaRPr lang="en-US"/>
          </a:p>
        </c:txPr>
        <c:crossAx val="2094734552"/>
        <c:crosses val="autoZero"/>
        <c:auto val="1"/>
        <c:lblAlgn val="ctr"/>
        <c:noMultiLvlLbl val="1"/>
      </c:catAx>
      <c:valAx>
        <c:axId val="2094734552"/>
        <c:scaling>
          <c:logBase val="10"/>
          <c:orientation val="minMax"/>
          <c:min val="0.1"/>
        </c:scaling>
        <c:delete val="0"/>
        <c:axPos val="b"/>
        <c:majorGridlines>
          <c:spPr>
            <a:ln w="9525" cap="flat">
              <a:solidFill>
                <a:srgbClr val="E3E8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665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BOSHLANISH (taxminan 30 soniya):
“Assalomu alaykum, hurmatli hakamlar va mehmonlar! Mening ismim Ulug’bek Kamalov, Axborot tizimlari va texnologiyalari yo’nalishi 3-kurs talabasiman.
Bugun sizga oddiy ko’ringan, lekin muhandislikda juda ko’p uchraydigan masala haqida gapirib beraman – sterjenda issiqlik qanday tarqaladi. Men bu masalani kompyuterda qanday yechish mumkinligini, qaysi usul eng maqbul ekanini aniqladim va natijani hamma foydalana oladigan veb-dastur – TermoLab sifatida yaratdim.
Dastur havolasi shu slaydda – xohlasangiz hozir telefoningizdan ochib ko’rishingiz mumkin.”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“Nega bu masala kerak? Sterjen – eng oddiy va eng ko’p uchraydigan jism. Metallni toblashda qayerda necha daqiqada qanday harorat bo’lishi detal mustahkamligini belgilaydi. Payvandlashda chokdan issiqlik sterjen bo’ylab tarqaladi; sovish noto’g’ri bo’lsa metall mo’rt bo’ladi. Elektr simlarda eng issiq nuqtani bilish yong’inning oldini oladi. Radiator qovurg’asi issiqlikni olib ketadi, yong’inda esa beton ichidagi armatura sterjeni qanchalik tez qizishi bino chidamliligini belgilaydi.
Muammo shundaki, aniq formula faqat ideal hollarda mavjud. Real sterjenda material xossalari, sirtdan sovish, uchlaridagi sharoit murakkab, shuning uchun formulani yozib bo’lmaydi. Yechim – sonli usullar: kompyuter sterjenni mayda bo’lakchalarga bo’lib, har birining haroratini hisoblaydi. Lekin sonli usullar ko’p. Qaysi biri eng aniq, eng tez va ishonchli? Mening ishim aynan shu savolga javob beradi.”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“Masalaning o’zi shunday. 20 santimetrli po’lat sterjen. Uning ikkala uchi doim nol gradusda ushlab turiladi. Boshida o’rtasi 100 gradus. Issiqlik uchlari orqali chiqib ketadi va sterjen soviydi. Savol: 10 daqiqadan keyin har bir nuqtada harorat qancha?
Buni issiqlik o’tkazuvchanlik tenglamasi tasvirlaydi: haroratning vaqt bo’yicha o’zgarish tezligi shu nuqtadagi egrilikka, ya’ni ikkinchi hosilaga proporsional. Koeffitsient a kvadrat – materialning issiqlikni qanchalik tez tarqatishi. Tenglamaga ikki shart qo’shiladi: uchlaridagi harorat – chegaraviy shart, va boshidagi harorat – boshlang’ich shart.”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masalaning aniq yechimi bor – Furye qatori. Lekin u faqat ideal sterjen uchun yoziladi: material bir jinsli, uchlarida harorat berilgan, yon sirtdan sovish yo’q. Real sterjenda esa havo bilan issiqlik almashinuvi bor, xossalar harorat bilan o’zgaradi, ichki manba bo’lishi mumkin. Shu paytda aniq formula yo’q va faqat sonli usul qoladi.
Aniq yechimdan men boshqa maqsadda foydalandim: u – javobi oldindan ma’lum sinov masalasi. Har bir sonli usulni shu masalada sinab, xatosini o’lchayman. Qaysi usul xatosi kichik va tez bo’lsa – o’shanga real masalalarda ham ishonish mumkin.”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“Kompyuter hosilani tushunmaydi, shuning uchun sterjenni mayda bo’lakchalarga bo’lamiz – bu to’r. Sterjen bo’ylab h qadam, vaqt bo’yicha tau qadam. Ikkinchi hosila qo’shni nuqtalar farqi bilan almashtiriladi. Keyin boshlang’ich haroratdan boshlab, qatlamma-qatlam keyingi vaqtdagi haroratni topamiz.
Hamma sxemalarni bitta formula bilan yozish mumkin – theta sxema. Theta nolga teng bo’lsa – oshkor sxema, birga teng bo’lsa – oshkormas, yarimga teng bo’lsa – Krank–Nikolson. Pastda Furye soni: vaqt va makon qadamlarining nisbati. Aynan u sxema turg’un bo’lishini belgilaydi.”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“Uch sxema bir-biridan yangi qatlamni qanday topishi bilan farq qiladi. Rasmda qora nuqtalar – eski qatlam, haroratlari ma’lum; rangli – yangi qatlam.
Oshkor sxemada yangi harorat eski qatlamdagi uch qo’shni nuqtadan to’g’ridan-to’g’ri hisoblanadi – juda tez va oddiy. Lekin vaqt qadami katta bo’lsa, xatolar o’sib, yechim portlaydi.
Oshkormasda yangi qatlamning uch nuqtasi bir-biriga bog’liq, shuning uchun tenglamalar sistemasi yechiladi. Bu har doim turg’un, lekin aniqligi pastroq.
Krank–Nikolson ikkalasining o’rtachasi: ham turg’un, ham aniq. Lekin bundan keyin sistemani qanday yechamiz?”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“Oshkormas va Krank–Nikolson sxemalarida har vaqt qadamida uch diagonalli tenglamalar sistemasi chiqadi. Uni uch usulda yechish mumkin.
Zeydel iteratsiyasi taxminiy javobdan boshlab, uni qayta-qayta yaxshilaydi – oddiy, lekin yuzlab iteratsiya kerak. SOR – Zeydelning tezlashtirilgan varianti. Haydash usuli esa sistemani to’g’ridan-to’g’ri, oldinga va orqaga bir marta o’tib yechadi – iteratsiya yo’q.
Demak, uch sxema va ikki yechish usuli – hammasi bo’lib oltita usul. Endi ularni bitta masalada solishtiramiz.”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“Sterjen – bir o’lchovli masala. Lekin real jismlar ko’pincha ikki o’lchovli: plastinka, radiator. Ularda o’zgaruvchan yo’nalishlar usuli – ADI ishlatiladi: har qadam ikki yarim qadamga bo’linadi, shunda katta sistema o’rniga kichik uch diagonalli sistemalar yechiladi. Bu yerda muhim narsa topdim: chegaradagi issiqlik oqimini noto’g’ri bo’lsak, aniqlik ikkinchi tartibdan birinchiga tushadi. Uni tuzatdim va testda isbotladim.
Qatlamli devor va quvur uchun chekli hajmlar usuli, yong’indagi beton uchun Yevrokod 2 bo’yicha nochiziqli model, konserva banka uchun Nyuman ko’paytmasi ishlatildi. Bularning barchasi bitta dasturda.”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“Endi eng qiziq qism – tajriba. Videoni ishga tushiraman (51 soniya).
Masala: yuqoridagi sterjen. Uning aniq javobi ma’lum, shuning uchun har bir usulning xatosini o’lchash mumkin. Avval oltita usul qisqa tushuntiriladi, keyin hammasi bir vaqtda ishlaydi: ko’k chiziq – usul natijasi, punktir – aniq javob. Ustma-ust tushsa – usul to’g’ri. Qizil chiziqqa e’tibor bering – bu oshkor sxema katta qadamda ‘portladi’. Keyin xato va tezlik o’lchanadi: talab – xato 0,05 gradusdan oshmasin. Shu talabni eng tez bajargan usul – eng maqbul. Oxirida g’olib e’lon qilinadi.
(Agar video ishlamasa: shu slayddagi xulosani ayting va keyingi slaydga o’ting – natijalar o’sha yerda.)”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Natija jadvalda. Bir o’lchovli masalada Krank–Nikolson va haydash usuli 0.3 millisekundda talab qilingan aniqlikni beradi – oshkor sxemadan 48 marta, Zeydel iteratsiyasidan 69 marta tez. Ikki o’lchovli masalada g’olib – o’zgaruvchan yo’nalishlar usuli: 37 millisekund, Krank–Nikolson bilan SOR esa 239 millisekund. Sabab uchta: turg’unlik, ikkinchi tartibli aniqlik va iteratsiyasiz yechish. Shuning uchun dasturim amaliy masalalarda aynan shu usullardan foydalanadi. Bu taqqoslashni saytning “Usullarni taqqoslash” bo’limida har kim o’zi takrorlashi mumkin.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“Endi dasturiy ta’minot haqida. Men yuqoridagi barcha usullarni TermoLab nomli veb-dasturga joyladim. U brauzerda ishlaydi, hech narsa o’rnatish shart emas.
Dastur to’rt qadamda ishlaydi: foydalanuvchi sohasini tanlab qiymatlarni kiritadi; dastur masalani tenglamaga aylantiradi; eng maqbul usul – Krank–Nikolson yoki ADI va haydash bilan yechadi; natijani raqam, 3D rasm va ‘nima qilish kerak’ tavsiyasi ko’rinishida beradi.
Saytda uch qism: ilmiy laboratoriya – sterjen va plastinkani o’zingiz sozlaysiz; usullarni taqqoslash – hozir ko’rgan tajriba; va sakkizta amaliy soha. Rasmni bossangiz, sayt ochiladi.”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“Mana sterjen masalasi dasturda. Misol: mis sterjen, bir uchi 100 gradusda ushlab turiladi, ikkinchi uchi havo bilan almashadi. Siz materialni, uzunlikni, uchlaridagi shartni, hatto sxema va yechish usulini o’zingiz tanlaysiz. Boshlash tugmasini bossangiz sterjenning rangi vaqt o’tishi bilan o’zgaradi: qizil – issiq, ko’k – sovuq. Pastda dastur matn bilan javob beradi: eng issiq va eng sovuq joy, issiqlik oqimi, taxminan 38 daqiqadan keyin barqaror holat qaror topishi. Bu – ilmiy qism.
Lekin oddiy odam uchun ham bo’lishi kerak edi. Shuning uchun amaliy sohalar qo’shdim.”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Endi amaliy qism. Saytda sakkizta real masala bor va har birida qiymatlar sohaning o’z tilida kiritiladi: quruvchi devor materiali va qalinligini, elektronik protsessor quvvatini, uy bekasi tuxum o’lchamini tanlaydi. Dastur har birida nega masala bir yoki ikki o’lchovli ekanini ham tushuntiradi: devor juda keng, issiqlik faqat qalinlik bo’ylab oqadi – bu 1D; radiatorda issiqlik nuqtadan har tomonga tarqaladi – bu 2D. Yangi qo’shilgan uchta soha: beton qotishi, yong’indagi plita va konserva sterilizatsiyasi.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Oddiy dasturlar “harorat qancha?” degan savolga javob beradi. Odamga esa “nima qilishim kerak?” degan javob kerak. Shuning uchun TermoLab teskari masalani ham yechadi. Masalan, yong’in masalasida dastur aytadi: 90 daqiqa chidashi uchun armaturagacha kamida 30 millimetr beton bo’lishi kerak. Jadvalda modelim natijasi Yevropa me’yori – Yevrokod 2 bilan yonma-yon: deyarli bir xil. Natijani matnli hisobot sifatida nusxalab, Telegram yoki Word’ga qo’yish mumkin. Bir nechta variantni saqlab, yonma-yon solishtirish ham mumkin.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Natija real jism shaklida 3D ko’rinadi. 3D rasm uchun hech qanday tashqi kutubxona ishlatmadim – perspektiv proyeksiya, chuqurlik bo’yicha saralash va yoritishni o’zim yozdim, shuning uchun sayt internetsiz ham ishlaydi. Modelni aylantirish, yaqinlashtirish, harorat zonalarini yoqish mumkin, kursorni olib borsangiz o’sha nuqtaning aniq harorati chiqadi. Vaqt bo’yicha animatsiya isish va sovish jarayonini ko’rsatadi.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Hisoblash dasturiga ishonish uchun u tekshirilishi kerak. Men uch xil tekshiruv qildim. Birinchisi – javobi oldindan ma’lum masala: to’rni ikki marta maydalaganda xato to’rt marta kamayadi, ya’ni ikkinchi tartibli aniqlik. Ikkinchisi – darslikdagi aniq formulalar: devor, qatlamli devor va quvur uchun natija to’rt-besh raqamgacha mos. Uchinchisi – Yevropa yong’in me’yori: modelim REI 90 uchun 30 millimetr va 100 millimetr beradi, me’yorda ham aynan shunday.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Saytdan foydalanish juda oddiy. Saytni oching, o’z sohangizni tanlang, qiymatlarni kiriting – natija darhol chiqadi, hech qanday tugma bosish shart emas. Yashil kartochka – me’yorda, qizil – xavfli. Pastda dastur nima qilish kerakligini aytadi, eng oxirida esa matnli hisobot – uni nusxalab yuborish mumkin. O’ngda hisobot namunasi. Sayt telefonda ham ishlaydi, internet bo’lmasa ham faylni ochib ishlatish mumkin.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YAKUNLASH (taxminan 40 soniya):
“Xulosa qilib aytganda. Men sterjenda issiqlik tarqalishi masalasini oltita sonli usulda yechdim va aniq yechim bilan solishtirdim. Aniqlandiki, bir o’lchovli masalada eng maqbul usul – Krank–Nikolson sxemasi va haydash usuli, ikki o’lchovli masalada – ADI va haydash. Ular turg’un, aniq va iteratsiyasiz, shuning uchun eng tez.
Bu bilimni hamma uchun foydali qilish maqsadida TermoLab veb-dasturiga joyladim: bepul, o’zbek tilida, internetsiz ham ishlaydi, kodi ochiq. Natijalarim uch xil usulda, jumladan Yevropa me’yori bilan tekshirilgan.
Keyingi bosqichda muzlash kabi faza o’zgarishlarini, murakkab 3D shakllarni va O’zbekiston qurilish me’yorlari bilan solishtirishni qo’shmoqchiman.
E’tiboringiz uchun rahmat! Dasturga havola slaydda – bosing yoki telefoningizdan oching. Savollaringiz bo’lsa, mamnuniyat bilan javob beraman.”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400800" cy="1188720"/>
          </a:xfrm>
          <a:prstGeom prst="rect">
            <a:avLst/>
          </a:prstGeom>
          <a:noFill/>
          <a:ln/>
        </p:spPr>
        <p:txBody>
          <a:bodyPr wrap="square" rtlCol="0"/>
          <a:lstStyle>
            <a:lvl1pPr indent="0" marL="0">
              <a:buNone/>
              <a:defRPr lang="en-US" sz="6000" b="1" dirty="0">
                <a:solidFill>
                  <a:schemeClr val="tx1"/>
                </a:solidFill>
              </a:defRPr>
            </a:lvl1pPr>
          </a:lstStyle>
          <a:p>
            <a:pPr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rtlCol="0"/>
          <a:lstStyle>
            <a:lvl1pPr indent="0" marL="0">
              <a:buNone/>
              <a:defRPr lang="en-US" sz="3200" b="1" dirty="0">
                <a:solidFill>
                  <a:schemeClr val="tx1"/>
                </a:solidFill>
              </a:defRPr>
            </a:lvl1pPr>
          </a:lstStyle>
          <a:p>
            <a:pPr indent="0" marL="0">
              <a:buNone/>
            </a:pPr>
            <a:endParaRPr lang="en-US" sz="3200" dirty="0"/>
          </a:p>
        </p:txBody>
      </p:sp>
      <p:sp>
        <p:nvSpPr>
          <p:cNvPr id="3" name="Text 0"/>
          <p:cNvSpPr/>
          <p:nvPr/>
        </p:nvSpPr>
        <p:spPr>
          <a:xfrm>
            <a:off x="5669280" y="6419088"/>
            <a:ext cx="5394960" cy="274320"/>
          </a:xfrm>
          <a:prstGeom prst="rect">
            <a:avLst/>
          </a:prstGeom>
          <a:noFill/>
          <a:ln/>
        </p:spPr>
        <p:txBody>
          <a:bodyPr wrap="square" lIns="0" tIns="0" rIns="0" bIns="0" rtlCol="0" anchor="ctr"/>
          <a:lstStyle/>
          <a:p>
            <a:pPr algn="r" indent="0" marL="0">
              <a:buNone/>
            </a:pPr>
            <a:r>
              <a:rPr lang="en-US" sz="1100" dirty="0">
                <a:solidFill>
                  <a:schemeClr val="accent6"/>
                </a:solidFill>
                <a:latin typeface="Calibri" pitchFamily="34" charset="0"/>
                <a:ea typeface="Calibri" pitchFamily="34" charset="-122"/>
                <a:cs typeface="Calibri" pitchFamily="34" charset="-120"/>
              </a:rPr>
              <a:t>TermoLab · StudEXPO-2026</a:t>
            </a:r>
            <a:endParaRPr lang="en-US" sz="11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ulugbekkamalov0829-web.github.io/termolab/" TargetMode="External"/><Relationship Id="rId2" Type="http://schemas.openxmlformats.org/officeDocument/2006/relationships/hyperlink" Target="https://ulugbekkamalov0829-web.github.io/termolab/" TargetMode="External"/><Relationship Id="rId3" Type="http://schemas.openxmlformats.org/officeDocument/2006/relationships/image" Target="../media/image-1-1.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ulugbekkamalov0829-web.github.io/termolab/" TargetMode="Externa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ulugbekkamalov0829-web.github.io/termolab/" TargetMode="Externa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ulugbekkamalov0829-web.github.io/termolab/" TargetMode="External"/><Relationship Id="rId2" Type="http://schemas.openxmlformats.org/officeDocument/2006/relationships/image" Target="../media/image-4-1.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ulugbekkamalov0829-web.github.io/termolab/" TargetMode="Externa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ulugbekkamalov0829-web.github.io/termolab/" TargetMode="Externa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ulugbekkamalov0829-web.github.io/termolab/" TargetMode="External"/><Relationship Id="rId2" Type="http://schemas.openxmlformats.org/officeDocument/2006/relationships/image" Target="../media/image-7-1.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ulugbekkamalov0829-web.github.io/termolab/" TargetMode="Externa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ulugbekkamalov0829-web.github.io/termolab/" TargetMode="External"/><Relationship Id="rId2" Type="http://schemas.openxmlformats.org/officeDocument/2006/relationships/video" Target="../media/media-9-1.mp4"/><Relationship Id="rId3" Type="http://schemas.microsoft.com/office/2007/relationships/media" Target="../media/media-9-1.mp4"/><Relationship Id="rId4" Type="http://schemas.openxmlformats.org/officeDocument/2006/relationships/image" Target="../media/image-9-3.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ulugbekkamalov0829-web.github.io/termolab/" TargetMode="External"/><Relationship Id="rId2" Type="http://schemas.openxmlformats.org/officeDocument/2006/relationships/chart" Target="/ppt/charts/chart1.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ulugbekkamalov0829-web.github.io/termolab/" TargetMode="External"/><Relationship Id="rId3" Type="http://schemas.openxmlformats.org/officeDocument/2006/relationships/hyperlink" Target="https://ulugbekkamalov0829-web.github.io/termolab/" TargetMode="External"/><Relationship Id="rId2" Type="http://schemas.openxmlformats.org/officeDocument/2006/relationships/image" Target="../media/image-11-1.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ulugbekkamalov0829-web.github.io/termolab/" TargetMode="External"/><Relationship Id="rId3" Type="http://schemas.openxmlformats.org/officeDocument/2006/relationships/hyperlink" Target="https://ulugbekkamalov0829-web.github.io/termolab/" TargetMode="External"/><Relationship Id="rId2" Type="http://schemas.openxmlformats.org/officeDocument/2006/relationships/image" Target="../media/image-12-1.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ulugbekkamalov0829-web.github.io/termolab/" TargetMode="Externa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ulugbekkamalov0829-web.github.io/termolab/" TargetMode="External"/><Relationship Id="rId2" Type="http://schemas.openxmlformats.org/officeDocument/2006/relationships/image" Target="../media/image-14-1.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ulugbekkamalov0829-web.github.io/termolab/" TargetMode="External"/><Relationship Id="rId2" Type="http://schemas.openxmlformats.org/officeDocument/2006/relationships/image" Target="../media/image-15-1.png"/><Relationship Id="rId3"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ulugbekkamalov0829-web.github.io/termolab/" TargetMode="Externa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ulugbekkamalov0829-web.github.io/termolab/" TargetMode="External"/><Relationship Id="rId2" Type="http://schemas.openxmlformats.org/officeDocument/2006/relationships/hyperlink" Target="https://ulugbekkamalov0829-web.github.io/termolab/" TargetMode="External"/><Relationship Id="rId3" Type="http://schemas.openxmlformats.org/officeDocument/2006/relationships/hyperlink" Target="https://ulugbekkamalov0829-web.github.io/termolab/" TargetMode="External"/><Relationship Id="rId4" Type="http://schemas.openxmlformats.org/officeDocument/2006/relationships/hyperlink" Target="https://github.com/ulugbekkamalov0829-web/termolab" TargetMode="External"/><Relationship Id="rId5" Type="http://schemas.openxmlformats.org/officeDocument/2006/relationships/image" Target="../media/image-17-1.png"/><Relationship Id="rId6" Type="http://schemas.openxmlformats.org/officeDocument/2006/relationships/slideLayout" Target="../slideLayouts/slideLayout3.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ulugbekkamalov0829-web.github.io/termolab/" TargetMode="External"/><Relationship Id="rId2" Type="http://schemas.openxmlformats.org/officeDocument/2006/relationships/hyperlink" Target="https://ulugbekkamalov0829-web.github.io/termolab/" TargetMode="External"/><Relationship Id="rId3" Type="http://schemas.openxmlformats.org/officeDocument/2006/relationships/hyperlink" Target="https://ulugbekkamalov0829-web.github.io/termolab/" TargetMode="External"/><Relationship Id="rId4" Type="http://schemas.openxmlformats.org/officeDocument/2006/relationships/slideLayout" Target="../slideLayouts/slideLayout3.xml"/><Relationship Id="rId5"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48640"/>
            <a:ext cx="6949440" cy="365760"/>
          </a:xfrm>
          <a:prstGeom prst="rect">
            <a:avLst/>
          </a:prstGeom>
          <a:noFill/>
          <a:ln/>
        </p:spPr>
        <p:txBody>
          <a:bodyPr wrap="square" lIns="0" tIns="0" rIns="0" bIns="0" rtlCol="0" anchor="t"/>
          <a:lstStyle/>
          <a:p>
            <a:pPr indent="0" marL="0">
              <a:buNone/>
            </a:pPr>
            <a:r>
              <a:rPr lang="en-US" sz="1300" b="1" spc="100" kern="0" dirty="0">
                <a:solidFill>
                  <a:srgbClr val="C4401F"/>
                </a:solidFill>
                <a:latin typeface="Calibri" pitchFamily="34" charset="0"/>
                <a:ea typeface="Calibri" pitchFamily="34" charset="-122"/>
                <a:cs typeface="Calibri" pitchFamily="34" charset="-120"/>
              </a:rPr>
              <a:t>STUDEXPO-2026 · UBS, NAMANGAN · 1-SEKSIYA: DASTURLASH VA VEB-ILOVALAR</a:t>
            </a:r>
            <a:endParaRPr lang="en-US" sz="1300" dirty="0"/>
          </a:p>
        </p:txBody>
      </p:sp>
      <p:sp>
        <p:nvSpPr>
          <p:cNvPr id="3" name="Text 0"/>
          <p:cNvSpPr/>
          <p:nvPr>
            <p:ph idx="100" type="title" hasCustomPrompt="1"/>
          </p:nvPr>
        </p:nvSpPr>
        <p:spPr>
          <a:xfrm>
            <a:off x="548640" y="1417320"/>
            <a:ext cx="6400800" cy="1188720"/>
          </a:xfrm>
          <a:prstGeom prst="rect">
            <a:avLst/>
          </a:prstGeom>
          <a:noFill/>
          <a:ln/>
        </p:spPr>
        <p:txBody>
          <a:bodyPr wrap="square" lIns="0" tIns="0" rIns="0" bIns="0" rtlCol="0" anchor="b"/>
          <a:lstStyle/>
          <a:p>
            <a:pPr indent="0" marL="0">
              <a:buNone/>
            </a:pPr>
            <a:r>
              <a:rPr lang="en-US" sz="6000" b="1" dirty="0">
                <a:solidFill>
                  <a:schemeClr val="tx1"/>
                </a:solidFill>
              </a:rPr>
              <a:t>Sterjenda issiqlik tarqalishi</a:t>
            </a:r>
            <a:endParaRPr lang="en-US" sz="6000" dirty="0"/>
          </a:p>
        </p:txBody>
      </p:sp>
      <p:sp>
        <p:nvSpPr>
          <p:cNvPr id="4" name="Text 2"/>
          <p:cNvSpPr txBox="1"/>
          <p:nvPr/>
        </p:nvSpPr>
        <p:spPr>
          <a:xfrm>
            <a:off x="548640" y="2788920"/>
            <a:ext cx="6217920" cy="822960"/>
          </a:xfrm>
          <a:prstGeom prst="rect">
            <a:avLst/>
          </a:prstGeom>
          <a:noFill/>
          <a:ln/>
        </p:spPr>
        <p:txBody>
          <a:bodyPr wrap="square" lIns="0" tIns="0" rIns="0" bIns="0" rtlCol="0" anchor="t"/>
          <a:lstStyle/>
          <a:p>
            <a:pPr indent="0" marL="0">
              <a:buNone/>
            </a:pPr>
            <a:r>
              <a:rPr lang="en-US" sz="2200" dirty="0">
                <a:solidFill>
                  <a:srgbClr val="56657A"/>
                </a:solidFill>
                <a:latin typeface="Calibri" pitchFamily="34" charset="0"/>
                <a:ea typeface="Calibri" pitchFamily="34" charset="-122"/>
                <a:cs typeface="Calibri" pitchFamily="34" charset="-120"/>
              </a:rPr>
              <a:t>Sonli usullar, ularning taqqoslanishi va TermoLab dasturiy ta’minoti</a:t>
            </a:r>
            <a:endParaRPr lang="en-US" sz="2200" dirty="0"/>
          </a:p>
        </p:txBody>
      </p:sp>
      <p:sp>
        <p:nvSpPr>
          <p:cNvPr id="5" name="Text 3"/>
          <p:cNvSpPr txBox="1"/>
          <p:nvPr/>
        </p:nvSpPr>
        <p:spPr>
          <a:xfrm>
            <a:off x="548640" y="3840480"/>
            <a:ext cx="6217920" cy="685800"/>
          </a:xfrm>
          <a:prstGeom prst="rect">
            <a:avLst/>
          </a:prstGeom>
          <a:noFill/>
          <a:ln/>
        </p:spPr>
        <p:txBody>
          <a:bodyPr wrap="square" lIns="0" tIns="0" rIns="0" bIns="0" rtlCol="0" anchor="t"/>
          <a:lstStyle/>
          <a:p>
            <a:pPr indent="0" marL="0">
              <a:buNone/>
            </a:pPr>
            <a:r>
              <a:rPr lang="en-US" sz="1600" b="1" dirty="0">
                <a:solidFill>
                  <a:srgbClr val="16212E"/>
                </a:solidFill>
                <a:latin typeface="Calibri" pitchFamily="34" charset="0"/>
                <a:ea typeface="Calibri" pitchFamily="34" charset="-122"/>
                <a:cs typeface="Calibri" pitchFamily="34" charset="-120"/>
              </a:rPr>
              <a:t>Kamalov Ulug’bek</a:t>
            </a:r>
            <a:endParaRPr lang="en-US" sz="1600" dirty="0"/>
          </a:p>
          <a:p>
            <a:pPr indent="0" marL="0">
              <a:buNone/>
            </a:pPr>
            <a:r>
              <a:rPr lang="en-US" sz="1600" dirty="0">
                <a:solidFill>
                  <a:srgbClr val="16212E"/>
                </a:solidFill>
                <a:latin typeface="Calibri" pitchFamily="34" charset="0"/>
                <a:ea typeface="Calibri" pitchFamily="34" charset="-122"/>
                <a:cs typeface="Calibri" pitchFamily="34" charset="-120"/>
              </a:rPr>
              <a:t>Axborot tizimlari va texnologiyalari, 3-kurs</a:t>
            </a:r>
            <a:endParaRPr lang="en-US" sz="1600" dirty="0"/>
          </a:p>
        </p:txBody>
      </p:sp>
      <p:sp>
        <p:nvSpPr>
          <p:cNvPr id="6" name="Sayt havolasi"/>
          <p:cNvSpPr/>
          <p:nvPr/>
        </p:nvSpPr>
        <p:spPr>
          <a:xfrm>
            <a:off x="548640" y="4846320"/>
            <a:ext cx="6309360" cy="1188720"/>
          </a:xfrm>
          <a:prstGeom prst="roundRect">
            <a:avLst>
              <a:gd name="adj" fmla="val 9231"/>
            </a:avLst>
          </a:prstGeom>
          <a:solidFill>
            <a:srgbClr val="E8F0FA"/>
          </a:solidFill>
          <a:ln w="12700">
            <a:solidFill>
              <a:srgbClr val="E8F0FA"/>
            </a:solidFill>
            <a:prstDash val="solid"/>
          </a:ln>
        </p:spPr>
      </p:sp>
      <p:sp>
        <p:nvSpPr>
          <p:cNvPr id="7" name="Text 5"/>
          <p:cNvSpPr txBox="1"/>
          <p:nvPr/>
        </p:nvSpPr>
        <p:spPr>
          <a:xfrm>
            <a:off x="777240" y="4983480"/>
            <a:ext cx="5852160" cy="32004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Dasturni oching (bosing) – telefon yoki kompyuterda:</a:t>
            </a:r>
            <a:endParaRPr lang="en-US" sz="1400" dirty="0"/>
          </a:p>
        </p:txBody>
      </p:sp>
      <p:sp>
        <p:nvSpPr>
          <p:cNvPr id="8" name="Text 6">
            <a:hlinkClick r:id="rId1" tooltip="TermoLab saytini ochish"/>
          </p:cNvPr>
          <p:cNvSpPr txBox="1"/>
          <p:nvPr/>
        </p:nvSpPr>
        <p:spPr>
          <a:xfrm>
            <a:off x="777240" y="5349240"/>
            <a:ext cx="5852160" cy="457200"/>
          </a:xfrm>
          <a:prstGeom prst="rect">
            <a:avLst/>
          </a:prstGeom>
          <a:noFill/>
          <a:ln/>
        </p:spPr>
        <p:txBody>
          <a:bodyPr wrap="square" lIns="0" tIns="0" rIns="0" bIns="0" rtlCol="0" anchor="t"/>
          <a:lstStyle/>
          <a:p>
            <a:pPr indent="0" marL="0">
              <a:buNone/>
            </a:pPr>
            <a:r>
              <a:rPr lang="en-US" sz="1900" b="1" u="sng" dirty="0">
                <a:solidFill>
                  <a:srgbClr val="1F5FA8"/>
                </a:solidFill>
                <a:latin typeface="Calibri" pitchFamily="34" charset="0"/>
                <a:ea typeface="Calibri" pitchFamily="34" charset="-122"/>
                <a:cs typeface="Calibri" pitchFamily="34" charset="-120"/>
                <a:hlinkClick r:id="rId1" invalidUrl="" action="" tgtFrame="" tooltip="TermoLab saytini ochish" history="1" highlightClick="0" endSnd="0">
                  <a:extLst>
                    <a:ext uri="{A12FA001-AC4F-418D-AE19-62706E023703}">
                      <ahyp:hlinkClr xmlns:ahyp="http://schemas.microsoft.com/office/drawing/2018/hyperlinkcolor" val="tx"/>
                    </a:ext>
                  </a:extLst>
                </a:hlinkClick>
              </a:rPr>
              <a:t>https://ulugbekkamalov0829-web.github.io/termolab/</a:t>
            </a:r>
            <a:endParaRPr lang="en-US" sz="1900" dirty="0"/>
          </a:p>
        </p:txBody>
      </p:sp>
      <p:sp>
        <p:nvSpPr>
          <p:cNvPr id="9" name="Shape 7">
            <a:hlinkClick r:id="rId2" tooltip="TermoLab saytini ochish"/>
          </p:cNvPr>
          <p:cNvSpPr/>
          <p:nvPr/>
        </p:nvSpPr>
        <p:spPr>
          <a:xfrm>
            <a:off x="548640" y="4846320"/>
            <a:ext cx="6309360" cy="1188720"/>
          </a:xfrm>
          <a:prstGeom prst="rect">
            <a:avLst/>
          </a:prstGeom>
          <a:solidFill>
            <a:srgbClr val="FFFFFF">
              <a:alpha val="0"/>
            </a:srgbClr>
          </a:solidFill>
          <a:ln w="12700">
            <a:solidFill>
              <a:srgbClr val="FFFFFF">
                <a:alpha val="0"/>
              </a:srgbClr>
            </a:solidFill>
            <a:prstDash val="solid"/>
          </a:ln>
        </p:spPr>
      </p:sp>
      <p:pic>
        <p:nvPicPr>
          <p:cNvPr id="10" name="Sterjen va uning sovishi" descr="Sterjen va uning sovishi">    </p:cNvPr>
          <p:cNvPicPr>
            <a:picLocks noChangeAspect="1"/>
          </p:cNvPicPr>
          <p:nvPr/>
        </p:nvPicPr>
        <p:blipFill>
          <a:blip r:embed="rId3"/>
          <a:stretch>
            <a:fillRect/>
          </a:stretch>
        </p:blipFill>
        <p:spPr>
          <a:xfrm>
            <a:off x="7086600" y="914400"/>
            <a:ext cx="4846320" cy="2786634"/>
          </a:xfrm>
          <a:prstGeom prst="rect">
            <a:avLst/>
          </a:prstGeom>
        </p:spPr>
      </p:pic>
      <p:sp>
        <p:nvSpPr>
          <p:cNvPr id="11" name="Text 8"/>
          <p:cNvSpPr txBox="1"/>
          <p:nvPr/>
        </p:nvSpPr>
        <p:spPr>
          <a:xfrm>
            <a:off x="7086600" y="3792474"/>
            <a:ext cx="4754880" cy="548640"/>
          </a:xfrm>
          <a:prstGeom prst="rect">
            <a:avLst/>
          </a:prstGeom>
          <a:noFill/>
          <a:ln/>
        </p:spPr>
        <p:txBody>
          <a:bodyPr wrap="square" lIns="0" tIns="0" rIns="0" bIns="0" rtlCol="0" anchor="t"/>
          <a:lstStyle/>
          <a:p>
            <a:pPr indent="0" marL="0">
              <a:buNone/>
            </a:pPr>
            <a:r>
              <a:rPr lang="en-US" sz="1200" i="1" dirty="0">
                <a:solidFill>
                  <a:srgbClr val="56657A"/>
                </a:solidFill>
                <a:latin typeface="Calibri" pitchFamily="34" charset="0"/>
                <a:ea typeface="Calibri" pitchFamily="34" charset="-122"/>
                <a:cs typeface="Calibri" pitchFamily="34" charset="-120"/>
              </a:rPr>
              <a:t>Sterjen o’rtasidan uchlariga qarab soviydi: egri chiziqlar – turli vaqtlardagi harorat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Nima uchun sterjendagi issiqlik tarqalishi muhim?</a:t>
            </a:r>
            <a:endParaRPr lang="en-US" sz="3200" dirty="0"/>
          </a:p>
        </p:txBody>
      </p:sp>
      <p:sp>
        <p:nvSpPr>
          <p:cNvPr id="3" name="Text 1">
            <a:hlinkClick r:id="rId1" tooltip=""/>
          </p:cNvPr>
          <p:cNvSpPr txBox="1"/>
          <p:nvPr/>
        </p:nvSpPr>
        <p:spPr>
          <a:xfrm>
            <a:off x="548640" y="6419088"/>
            <a:ext cx="5486400" cy="274320"/>
          </a:xfrm>
          <a:prstGeom prst="rect">
            <a:avLst/>
          </a:prstGeom>
          <a:noFill/>
          <a:ln/>
        </p:spPr>
        <p:txBody>
          <a:bodyPr wrap="square" lIns="0" tIns="0" rIns="0" bIns="0" rtlCol="0" anchor="t"/>
          <a:lstStyle/>
          <a:p>
            <a:pPr indent="0" marL="0">
              <a:buNone/>
            </a:pPr>
            <a:r>
              <a:rPr lang="en-US" sz="1100" u="sng" dirty="0">
                <a:solidFill>
                  <a:srgbClr val="1F5FA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ulugbekkamalov0829-web.github.io/termolab</a:t>
            </a:r>
            <a:endParaRPr lang="en-US" sz="1100" dirty="0"/>
          </a:p>
        </p:txBody>
      </p:sp>
      <p:sp>
        <p:nvSpPr>
          <p:cNvPr id="4" name="Text 2"/>
          <p:cNvSpPr txBox="1"/>
          <p:nvPr/>
        </p:nvSpPr>
        <p:spPr>
          <a:xfrm>
            <a:off x="548640" y="1188720"/>
            <a:ext cx="11064240" cy="457200"/>
          </a:xfrm>
          <a:prstGeom prst="rect">
            <a:avLst/>
          </a:prstGeom>
          <a:noFill/>
          <a:ln/>
        </p:spPr>
        <p:txBody>
          <a:bodyPr wrap="square" lIns="0" tIns="0" rIns="0" bIns="0" rtlCol="0" anchor="t"/>
          <a:lstStyle/>
          <a:p>
            <a:pPr indent="0" marL="0">
              <a:buNone/>
            </a:pPr>
            <a:r>
              <a:rPr lang="en-US" sz="1600" dirty="0">
                <a:solidFill>
                  <a:srgbClr val="56657A"/>
                </a:solidFill>
                <a:latin typeface="Calibri" pitchFamily="34" charset="0"/>
                <a:ea typeface="Calibri" pitchFamily="34" charset="-122"/>
                <a:cs typeface="Calibri" pitchFamily="34" charset="-120"/>
              </a:rPr>
              <a:t>Sterjen – eng sodda va eng ko’p uchraydigan jism: bir yo’nalishda uzun, issiqlik asosan shu yo’nalishda oqadi.</a:t>
            </a:r>
            <a:endParaRPr lang="en-US" sz="1600" dirty="0"/>
          </a:p>
        </p:txBody>
      </p:sp>
      <p:sp>
        <p:nvSpPr>
          <p:cNvPr id="5" name="Metallni qizdirish va sovitish"/>
          <p:cNvSpPr/>
          <p:nvPr/>
        </p:nvSpPr>
        <p:spPr>
          <a:xfrm>
            <a:off x="548640" y="1783080"/>
            <a:ext cx="2606040" cy="2743200"/>
          </a:xfrm>
          <a:prstGeom prst="roundRect">
            <a:avLst>
              <a:gd name="adj" fmla="val 4211"/>
            </a:avLst>
          </a:prstGeom>
          <a:solidFill>
            <a:srgbClr val="F2F5F8"/>
          </a:solidFill>
          <a:ln w="12700">
            <a:solidFill>
              <a:srgbClr val="F2F5F8"/>
            </a:solidFill>
            <a:prstDash val="solid"/>
          </a:ln>
        </p:spPr>
      </p:sp>
      <p:sp>
        <p:nvSpPr>
          <p:cNvPr id="6" name="Text 4"/>
          <p:cNvSpPr txBox="1"/>
          <p:nvPr/>
        </p:nvSpPr>
        <p:spPr>
          <a:xfrm>
            <a:off x="749808" y="1920240"/>
            <a:ext cx="2240280" cy="685800"/>
          </a:xfrm>
          <a:prstGeom prst="rect">
            <a:avLst/>
          </a:prstGeom>
          <a:noFill/>
          <a:ln/>
        </p:spPr>
        <p:txBody>
          <a:bodyPr wrap="square" lIns="0" tIns="0" rIns="0" bIns="0" rtlCol="0" anchor="t"/>
          <a:lstStyle/>
          <a:p>
            <a:pPr indent="0" marL="0">
              <a:buNone/>
            </a:pPr>
            <a:r>
              <a:rPr lang="en-US" sz="1700" b="1" dirty="0">
                <a:solidFill>
                  <a:srgbClr val="C4401F"/>
                </a:solidFill>
                <a:latin typeface="Calibri" pitchFamily="34" charset="0"/>
                <a:ea typeface="Calibri" pitchFamily="34" charset="-122"/>
                <a:cs typeface="Calibri" pitchFamily="34" charset="-120"/>
              </a:rPr>
              <a:t>Metallni qizdirish va sovitish</a:t>
            </a:r>
            <a:endParaRPr lang="en-US" sz="1700" dirty="0"/>
          </a:p>
        </p:txBody>
      </p:sp>
      <p:sp>
        <p:nvSpPr>
          <p:cNvPr id="7" name="Text 5"/>
          <p:cNvSpPr txBox="1"/>
          <p:nvPr/>
        </p:nvSpPr>
        <p:spPr>
          <a:xfrm>
            <a:off x="749808" y="2651760"/>
            <a:ext cx="2240280" cy="182880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Toblash, bolg’alash, quyma qolipda sovitish: qayerda necha daqiqada qanday harorat bo’lishi detal mustahkamligini belgilaydi.</a:t>
            </a:r>
            <a:endParaRPr lang="en-US" sz="1400" dirty="0"/>
          </a:p>
        </p:txBody>
      </p:sp>
      <p:sp>
        <p:nvSpPr>
          <p:cNvPr id="8" name="Payvandlash"/>
          <p:cNvSpPr/>
          <p:nvPr/>
        </p:nvSpPr>
        <p:spPr>
          <a:xfrm>
            <a:off x="3364992" y="1783080"/>
            <a:ext cx="2606040" cy="2743200"/>
          </a:xfrm>
          <a:prstGeom prst="roundRect">
            <a:avLst>
              <a:gd name="adj" fmla="val 4211"/>
            </a:avLst>
          </a:prstGeom>
          <a:solidFill>
            <a:srgbClr val="F2F5F8"/>
          </a:solidFill>
          <a:ln w="12700">
            <a:solidFill>
              <a:srgbClr val="F2F5F8"/>
            </a:solidFill>
            <a:prstDash val="solid"/>
          </a:ln>
        </p:spPr>
      </p:sp>
      <p:sp>
        <p:nvSpPr>
          <p:cNvPr id="9" name="Text 7"/>
          <p:cNvSpPr txBox="1"/>
          <p:nvPr/>
        </p:nvSpPr>
        <p:spPr>
          <a:xfrm>
            <a:off x="3566160" y="1920240"/>
            <a:ext cx="2240280" cy="685800"/>
          </a:xfrm>
          <a:prstGeom prst="rect">
            <a:avLst/>
          </a:prstGeom>
          <a:noFill/>
          <a:ln/>
        </p:spPr>
        <p:txBody>
          <a:bodyPr wrap="square" lIns="0" tIns="0" rIns="0" bIns="0" rtlCol="0" anchor="t"/>
          <a:lstStyle/>
          <a:p>
            <a:pPr indent="0" marL="0">
              <a:buNone/>
            </a:pPr>
            <a:r>
              <a:rPr lang="en-US" sz="1700" b="1" dirty="0">
                <a:solidFill>
                  <a:srgbClr val="B3261E"/>
                </a:solidFill>
                <a:latin typeface="Calibri" pitchFamily="34" charset="0"/>
                <a:ea typeface="Calibri" pitchFamily="34" charset="-122"/>
                <a:cs typeface="Calibri" pitchFamily="34" charset="-120"/>
              </a:rPr>
              <a:t>Payvandlash</a:t>
            </a:r>
            <a:endParaRPr lang="en-US" sz="1700" dirty="0"/>
          </a:p>
        </p:txBody>
      </p:sp>
      <p:sp>
        <p:nvSpPr>
          <p:cNvPr id="10" name="Text 8"/>
          <p:cNvSpPr txBox="1"/>
          <p:nvPr/>
        </p:nvSpPr>
        <p:spPr>
          <a:xfrm>
            <a:off x="3566160" y="2651760"/>
            <a:ext cx="2240280" cy="182880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Payvand chokidan sterjen bo’ylab issiqlik tarqaladi. Sovish juda tez yoki sekin bo’lsa, metall mo’rt bo’lib qoladi.</a:t>
            </a:r>
            <a:endParaRPr lang="en-US" sz="1400" dirty="0"/>
          </a:p>
        </p:txBody>
      </p:sp>
      <p:sp>
        <p:nvSpPr>
          <p:cNvPr id="11" name="Elektr sim va shinalar"/>
          <p:cNvSpPr/>
          <p:nvPr/>
        </p:nvSpPr>
        <p:spPr>
          <a:xfrm>
            <a:off x="6181344" y="1783080"/>
            <a:ext cx="2606040" cy="2743200"/>
          </a:xfrm>
          <a:prstGeom prst="roundRect">
            <a:avLst>
              <a:gd name="adj" fmla="val 4211"/>
            </a:avLst>
          </a:prstGeom>
          <a:solidFill>
            <a:srgbClr val="F2F5F8"/>
          </a:solidFill>
          <a:ln w="12700">
            <a:solidFill>
              <a:srgbClr val="F2F5F8"/>
            </a:solidFill>
            <a:prstDash val="solid"/>
          </a:ln>
        </p:spPr>
      </p:sp>
      <p:sp>
        <p:nvSpPr>
          <p:cNvPr id="12" name="Text 10"/>
          <p:cNvSpPr txBox="1"/>
          <p:nvPr/>
        </p:nvSpPr>
        <p:spPr>
          <a:xfrm>
            <a:off x="6382512" y="1920240"/>
            <a:ext cx="2240280" cy="685800"/>
          </a:xfrm>
          <a:prstGeom prst="rect">
            <a:avLst/>
          </a:prstGeom>
          <a:noFill/>
          <a:ln/>
        </p:spPr>
        <p:txBody>
          <a:bodyPr wrap="square" lIns="0" tIns="0" rIns="0" bIns="0" rtlCol="0" anchor="t"/>
          <a:lstStyle/>
          <a:p>
            <a:pPr indent="0" marL="0">
              <a:buNone/>
            </a:pPr>
            <a:r>
              <a:rPr lang="en-US" sz="1700" b="1" dirty="0">
                <a:solidFill>
                  <a:srgbClr val="C77F12"/>
                </a:solidFill>
                <a:latin typeface="Calibri" pitchFamily="34" charset="0"/>
                <a:ea typeface="Calibri" pitchFamily="34" charset="-122"/>
                <a:cs typeface="Calibri" pitchFamily="34" charset="-120"/>
              </a:rPr>
              <a:t>Elektr sim va shinalar</a:t>
            </a:r>
            <a:endParaRPr lang="en-US" sz="1700" dirty="0"/>
          </a:p>
        </p:txBody>
      </p:sp>
      <p:sp>
        <p:nvSpPr>
          <p:cNvPr id="13" name="Text 11"/>
          <p:cNvSpPr txBox="1"/>
          <p:nvPr/>
        </p:nvSpPr>
        <p:spPr>
          <a:xfrm>
            <a:off x="6382512" y="2651760"/>
            <a:ext cx="2240280" cy="182880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Tok o’tganda sim qiziydi. Qayerda eng issiq nuqta ekanini bilish kuyish va yong’inning oldini oladi.</a:t>
            </a:r>
            <a:endParaRPr lang="en-US" sz="1400" dirty="0"/>
          </a:p>
        </p:txBody>
      </p:sp>
      <p:sp>
        <p:nvSpPr>
          <p:cNvPr id="14" name="Radiator qovurg’asi, armatura"/>
          <p:cNvSpPr/>
          <p:nvPr/>
        </p:nvSpPr>
        <p:spPr>
          <a:xfrm>
            <a:off x="8997696" y="1783080"/>
            <a:ext cx="2606040" cy="2743200"/>
          </a:xfrm>
          <a:prstGeom prst="roundRect">
            <a:avLst>
              <a:gd name="adj" fmla="val 4211"/>
            </a:avLst>
          </a:prstGeom>
          <a:solidFill>
            <a:srgbClr val="F2F5F8"/>
          </a:solidFill>
          <a:ln w="12700">
            <a:solidFill>
              <a:srgbClr val="F2F5F8"/>
            </a:solidFill>
            <a:prstDash val="solid"/>
          </a:ln>
        </p:spPr>
      </p:sp>
      <p:sp>
        <p:nvSpPr>
          <p:cNvPr id="15" name="Text 13"/>
          <p:cNvSpPr txBox="1"/>
          <p:nvPr/>
        </p:nvSpPr>
        <p:spPr>
          <a:xfrm>
            <a:off x="9198864" y="1920240"/>
            <a:ext cx="2240280" cy="685800"/>
          </a:xfrm>
          <a:prstGeom prst="rect">
            <a:avLst/>
          </a:prstGeom>
          <a:noFill/>
          <a:ln/>
        </p:spPr>
        <p:txBody>
          <a:bodyPr wrap="square" lIns="0" tIns="0" rIns="0" bIns="0" rtlCol="0" anchor="t"/>
          <a:lstStyle/>
          <a:p>
            <a:pPr indent="0" marL="0">
              <a:buNone/>
            </a:pPr>
            <a:r>
              <a:rPr lang="en-US" sz="1700" b="1" dirty="0">
                <a:solidFill>
                  <a:srgbClr val="1F5FA8"/>
                </a:solidFill>
                <a:latin typeface="Calibri" pitchFamily="34" charset="0"/>
                <a:ea typeface="Calibri" pitchFamily="34" charset="-122"/>
                <a:cs typeface="Calibri" pitchFamily="34" charset="-120"/>
              </a:rPr>
              <a:t>Radiator qovurg’asi, armatura</a:t>
            </a:r>
            <a:endParaRPr lang="en-US" sz="1700" dirty="0"/>
          </a:p>
        </p:txBody>
      </p:sp>
      <p:sp>
        <p:nvSpPr>
          <p:cNvPr id="16" name="Text 14"/>
          <p:cNvSpPr txBox="1"/>
          <p:nvPr/>
        </p:nvSpPr>
        <p:spPr>
          <a:xfrm>
            <a:off x="9198864" y="2651760"/>
            <a:ext cx="2240280" cy="182880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Qovurg’a issiqlikni uzoqqa olib ketadi; yong’inda armatura sterjeni qizishi binoning chidamliligini belgilaydi.</a:t>
            </a:r>
            <a:endParaRPr lang="en-US" sz="1400" dirty="0"/>
          </a:p>
        </p:txBody>
      </p:sp>
      <p:sp>
        <p:nvSpPr>
          <p:cNvPr id="17" name="Muammo"/>
          <p:cNvSpPr/>
          <p:nvPr/>
        </p:nvSpPr>
        <p:spPr>
          <a:xfrm>
            <a:off x="548640" y="4754880"/>
            <a:ext cx="5440680" cy="1417320"/>
          </a:xfrm>
          <a:prstGeom prst="roundRect">
            <a:avLst>
              <a:gd name="adj" fmla="val 7742"/>
            </a:avLst>
          </a:prstGeom>
          <a:solidFill>
            <a:srgbClr val="FBEAE7"/>
          </a:solidFill>
          <a:ln w="12700">
            <a:solidFill>
              <a:srgbClr val="FBEAE7"/>
            </a:solidFill>
            <a:prstDash val="solid"/>
          </a:ln>
        </p:spPr>
      </p:sp>
      <p:sp>
        <p:nvSpPr>
          <p:cNvPr id="18" name="Text 16"/>
          <p:cNvSpPr txBox="1"/>
          <p:nvPr/>
        </p:nvSpPr>
        <p:spPr>
          <a:xfrm>
            <a:off x="777240" y="4864608"/>
            <a:ext cx="5029200" cy="1234440"/>
          </a:xfrm>
          <a:prstGeom prst="rect">
            <a:avLst/>
          </a:prstGeom>
          <a:noFill/>
          <a:ln/>
        </p:spPr>
        <p:txBody>
          <a:bodyPr wrap="square" lIns="0" tIns="0" rIns="0" bIns="0" rtlCol="0" anchor="ctr"/>
          <a:lstStyle/>
          <a:p>
            <a:pPr indent="0" marL="0">
              <a:buNone/>
            </a:pPr>
            <a:r>
              <a:rPr lang="en-US" sz="1500" b="1" dirty="0">
                <a:solidFill>
                  <a:srgbClr val="B3261E"/>
                </a:solidFill>
                <a:latin typeface="Calibri" pitchFamily="34" charset="0"/>
                <a:ea typeface="Calibri" pitchFamily="34" charset="-122"/>
                <a:cs typeface="Calibri" pitchFamily="34" charset="-120"/>
              </a:rPr>
              <a:t>Muammo. </a:t>
            </a:r>
            <a:pPr indent="0" marL="0">
              <a:buNone/>
            </a:pPr>
            <a:r>
              <a:rPr lang="en-US" sz="1500" dirty="0">
                <a:solidFill>
                  <a:srgbClr val="16212E"/>
                </a:solidFill>
                <a:latin typeface="Calibri" pitchFamily="34" charset="0"/>
                <a:ea typeface="Calibri" pitchFamily="34" charset="-122"/>
                <a:cs typeface="Calibri" pitchFamily="34" charset="-120"/>
              </a:rPr>
              <a:t>Aniq formula faqat ideal hollar uchun bor. Real sterjenda material xossalari, sirtdan sovish va chegaraviy shartlar murakkab – formulani yozib bo’lmaydi.</a:t>
            </a:r>
            <a:endParaRPr lang="en-US" sz="1500" dirty="0"/>
          </a:p>
        </p:txBody>
      </p:sp>
      <p:sp>
        <p:nvSpPr>
          <p:cNvPr id="19" name="Yechim"/>
          <p:cNvSpPr/>
          <p:nvPr/>
        </p:nvSpPr>
        <p:spPr>
          <a:xfrm>
            <a:off x="6199632" y="4754880"/>
            <a:ext cx="5440680" cy="1417320"/>
          </a:xfrm>
          <a:prstGeom prst="roundRect">
            <a:avLst>
              <a:gd name="adj" fmla="val 7742"/>
            </a:avLst>
          </a:prstGeom>
          <a:solidFill>
            <a:srgbClr val="E7F4EC"/>
          </a:solidFill>
          <a:ln w="12700">
            <a:solidFill>
              <a:srgbClr val="E7F4EC"/>
            </a:solidFill>
            <a:prstDash val="solid"/>
          </a:ln>
        </p:spPr>
      </p:sp>
      <p:sp>
        <p:nvSpPr>
          <p:cNvPr id="20" name="Text 18"/>
          <p:cNvSpPr txBox="1"/>
          <p:nvPr/>
        </p:nvSpPr>
        <p:spPr>
          <a:xfrm>
            <a:off x="6428232" y="4864608"/>
            <a:ext cx="5029200" cy="1234440"/>
          </a:xfrm>
          <a:prstGeom prst="rect">
            <a:avLst/>
          </a:prstGeom>
          <a:noFill/>
          <a:ln/>
        </p:spPr>
        <p:txBody>
          <a:bodyPr wrap="square" lIns="0" tIns="0" rIns="0" bIns="0" rtlCol="0" anchor="ctr"/>
          <a:lstStyle/>
          <a:p>
            <a:pPr indent="0" marL="0">
              <a:buNone/>
            </a:pPr>
            <a:r>
              <a:rPr lang="en-US" sz="1500" b="1" dirty="0">
                <a:solidFill>
                  <a:srgbClr val="1F7A4A"/>
                </a:solidFill>
                <a:latin typeface="Calibri" pitchFamily="34" charset="0"/>
                <a:ea typeface="Calibri" pitchFamily="34" charset="-122"/>
                <a:cs typeface="Calibri" pitchFamily="34" charset="-120"/>
              </a:rPr>
              <a:t>Yechim. </a:t>
            </a:r>
            <a:pPr indent="0" marL="0">
              <a:buNone/>
            </a:pPr>
            <a:r>
              <a:rPr lang="en-US" sz="1500" dirty="0">
                <a:solidFill>
                  <a:srgbClr val="16212E"/>
                </a:solidFill>
                <a:latin typeface="Calibri" pitchFamily="34" charset="0"/>
                <a:ea typeface="Calibri" pitchFamily="34" charset="-122"/>
                <a:cs typeface="Calibri" pitchFamily="34" charset="-120"/>
              </a:rPr>
              <a:t>Sonli usullar: kompyuter jismni bo’lakchalarga bo’lib, haroratni hisoblaydi. Lekin ko’p usul bor – qaysi biri eng yaxshi? Shuni aniqladik.</a:t>
            </a:r>
            <a:endParaRPr lang="en-US" sz="15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Masala qo’yilishi: sterjen soviydi</a:t>
            </a:r>
            <a:endParaRPr lang="en-US" sz="3200" dirty="0"/>
          </a:p>
        </p:txBody>
      </p:sp>
      <p:sp>
        <p:nvSpPr>
          <p:cNvPr id="3" name="Text 1">
            <a:hlinkClick r:id="rId1" tooltip=""/>
          </p:cNvPr>
          <p:cNvSpPr txBox="1"/>
          <p:nvPr/>
        </p:nvSpPr>
        <p:spPr>
          <a:xfrm>
            <a:off x="548640" y="6419088"/>
            <a:ext cx="5486400" cy="274320"/>
          </a:xfrm>
          <a:prstGeom prst="rect">
            <a:avLst/>
          </a:prstGeom>
          <a:noFill/>
          <a:ln/>
        </p:spPr>
        <p:txBody>
          <a:bodyPr wrap="square" lIns="0" tIns="0" rIns="0" bIns="0" rtlCol="0" anchor="t"/>
          <a:lstStyle/>
          <a:p>
            <a:pPr indent="0" marL="0">
              <a:buNone/>
            </a:pPr>
            <a:r>
              <a:rPr lang="en-US" sz="1100" u="sng" dirty="0">
                <a:solidFill>
                  <a:srgbClr val="1F5FA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ulugbekkamalov0829-web.github.io/termolab</a:t>
            </a:r>
            <a:endParaRPr lang="en-US" sz="1100" dirty="0"/>
          </a:p>
        </p:txBody>
      </p:sp>
      <p:pic>
        <p:nvPicPr>
          <p:cNvPr id="4" name="Sterjen masalasi sxemasi" descr="Sterjen masalasi sxemasi">    </p:cNvPr>
          <p:cNvPicPr>
            <a:picLocks noChangeAspect="1"/>
          </p:cNvPicPr>
          <p:nvPr/>
        </p:nvPicPr>
        <p:blipFill>
          <a:blip r:embed="rId2"/>
          <a:stretch>
            <a:fillRect/>
          </a:stretch>
        </p:blipFill>
        <p:spPr>
          <a:xfrm>
            <a:off x="548640" y="1280160"/>
            <a:ext cx="6686550" cy="2377440"/>
          </a:xfrm>
          <a:prstGeom prst="rect">
            <a:avLst/>
          </a:prstGeom>
        </p:spPr>
      </p:pic>
      <p:sp>
        <p:nvSpPr>
          <p:cNvPr id="5" name="Berilgan"/>
          <p:cNvSpPr/>
          <p:nvPr/>
        </p:nvSpPr>
        <p:spPr>
          <a:xfrm>
            <a:off x="7589520" y="1280160"/>
            <a:ext cx="4050792" cy="2377440"/>
          </a:xfrm>
          <a:prstGeom prst="roundRect">
            <a:avLst>
              <a:gd name="adj" fmla="val 4615"/>
            </a:avLst>
          </a:prstGeom>
          <a:solidFill>
            <a:srgbClr val="F2F5F8"/>
          </a:solidFill>
          <a:ln w="12700">
            <a:solidFill>
              <a:srgbClr val="F2F5F8"/>
            </a:solidFill>
            <a:prstDash val="solid"/>
          </a:ln>
        </p:spPr>
      </p:sp>
      <p:sp>
        <p:nvSpPr>
          <p:cNvPr id="6" name="Text 3"/>
          <p:cNvSpPr txBox="1"/>
          <p:nvPr/>
        </p:nvSpPr>
        <p:spPr>
          <a:xfrm>
            <a:off x="7790688" y="1389888"/>
            <a:ext cx="3657600" cy="365760"/>
          </a:xfrm>
          <a:prstGeom prst="rect">
            <a:avLst/>
          </a:prstGeom>
          <a:noFill/>
          <a:ln/>
        </p:spPr>
        <p:txBody>
          <a:bodyPr wrap="square" lIns="0" tIns="0" rIns="0" bIns="0" rtlCol="0" anchor="t"/>
          <a:lstStyle/>
          <a:p>
            <a:pPr indent="0" marL="0">
              <a:buNone/>
            </a:pPr>
            <a:r>
              <a:rPr lang="en-US" sz="1700" b="1" dirty="0">
                <a:solidFill>
                  <a:srgbClr val="C4401F"/>
                </a:solidFill>
                <a:latin typeface="Calibri" pitchFamily="34" charset="0"/>
                <a:ea typeface="Calibri" pitchFamily="34" charset="-122"/>
                <a:cs typeface="Calibri" pitchFamily="34" charset="-120"/>
              </a:rPr>
              <a:t>Berilgan</a:t>
            </a:r>
            <a:endParaRPr lang="en-US" sz="1700" dirty="0"/>
          </a:p>
        </p:txBody>
      </p:sp>
      <p:sp>
        <p:nvSpPr>
          <p:cNvPr id="7" name="Text 4"/>
          <p:cNvSpPr txBox="1"/>
          <p:nvPr/>
        </p:nvSpPr>
        <p:spPr>
          <a:xfrm>
            <a:off x="7790688" y="1828800"/>
            <a:ext cx="3749040" cy="173736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rgbClr val="16212E"/>
                </a:solidFill>
                <a:latin typeface="Calibri" pitchFamily="34" charset="0"/>
                <a:ea typeface="Calibri" pitchFamily="34" charset="-122"/>
                <a:cs typeface="Calibri" pitchFamily="34" charset="-120"/>
              </a:rPr>
              <a:t>Po’lat sterjen, L = 20 sm</a:t>
            </a:r>
            <a:endParaRPr lang="en-US" sz="1500" dirty="0"/>
          </a:p>
          <a:p>
            <a:pPr marL="342900" indent="-342900">
              <a:spcAft>
                <a:spcPts val="500"/>
              </a:spcAft>
              <a:buSzPct val="100000"/>
              <a:buChar char="•"/>
            </a:pPr>
            <a:r>
              <a:rPr lang="en-US" sz="1500" dirty="0">
                <a:solidFill>
                  <a:srgbClr val="16212E"/>
                </a:solidFill>
                <a:latin typeface="Calibri" pitchFamily="34" charset="0"/>
                <a:ea typeface="Calibri" pitchFamily="34" charset="-122"/>
                <a:cs typeface="Calibri" pitchFamily="34" charset="-120"/>
              </a:rPr>
              <a:t>Uchlari 0 °C da ushlanadi</a:t>
            </a:r>
            <a:endParaRPr lang="en-US" sz="1500" dirty="0"/>
          </a:p>
          <a:p>
            <a:pPr marL="342900" indent="-342900">
              <a:spcAft>
                <a:spcPts val="500"/>
              </a:spcAft>
              <a:buSzPct val="100000"/>
              <a:buChar char="•"/>
            </a:pPr>
            <a:r>
              <a:rPr lang="en-US" sz="1500" dirty="0">
                <a:solidFill>
                  <a:srgbClr val="16212E"/>
                </a:solidFill>
                <a:latin typeface="Calibri" pitchFamily="34" charset="0"/>
                <a:ea typeface="Calibri" pitchFamily="34" charset="-122"/>
                <a:cs typeface="Calibri" pitchFamily="34" charset="-120"/>
              </a:rPr>
              <a:t>Boshida o’rtasi 100 °C</a:t>
            </a:r>
            <a:endParaRPr lang="en-US" sz="1500" dirty="0"/>
          </a:p>
          <a:p>
            <a:pPr marL="342900" indent="-342900">
              <a:spcAft>
                <a:spcPts val="500"/>
              </a:spcAft>
              <a:buSzPct val="100000"/>
              <a:buChar char="•"/>
            </a:pPr>
            <a:r>
              <a:rPr lang="en-US" sz="1500" dirty="0">
                <a:solidFill>
                  <a:srgbClr val="16212E"/>
                </a:solidFill>
                <a:latin typeface="Calibri" pitchFamily="34" charset="0"/>
                <a:ea typeface="Calibri" pitchFamily="34" charset="-122"/>
                <a:cs typeface="Calibri" pitchFamily="34" charset="-120"/>
              </a:rPr>
              <a:t>Topish kerak: 10 daqiqadan keyingi harorat</a:t>
            </a:r>
            <a:endParaRPr lang="en-US" sz="1500" dirty="0"/>
          </a:p>
        </p:txBody>
      </p:sp>
      <p:sp>
        <p:nvSpPr>
          <p:cNvPr id="8" name="Tenglama"/>
          <p:cNvSpPr/>
          <p:nvPr/>
        </p:nvSpPr>
        <p:spPr>
          <a:xfrm>
            <a:off x="548640" y="3840480"/>
            <a:ext cx="11091672" cy="2286000"/>
          </a:xfrm>
          <a:prstGeom prst="roundRect">
            <a:avLst>
              <a:gd name="adj" fmla="val 4800"/>
            </a:avLst>
          </a:prstGeom>
          <a:solidFill>
            <a:srgbClr val="F2F5F8"/>
          </a:solidFill>
          <a:ln w="12700">
            <a:solidFill>
              <a:srgbClr val="F2F5F8"/>
            </a:solidFill>
            <a:prstDash val="solid"/>
          </a:ln>
        </p:spPr>
      </p:sp>
      <p:sp>
        <p:nvSpPr>
          <p:cNvPr id="9" name="Text 6"/>
          <p:cNvSpPr txBox="1"/>
          <p:nvPr/>
        </p:nvSpPr>
        <p:spPr>
          <a:xfrm>
            <a:off x="777240" y="3950208"/>
            <a:ext cx="7315200" cy="274320"/>
          </a:xfrm>
          <a:prstGeom prst="rect">
            <a:avLst/>
          </a:prstGeom>
          <a:noFill/>
          <a:ln/>
        </p:spPr>
        <p:txBody>
          <a:bodyPr wrap="square" lIns="0" tIns="0" rIns="0" bIns="0" rtlCol="0" anchor="t"/>
          <a:lstStyle/>
          <a:p>
            <a:pPr indent="0" marL="0">
              <a:buNone/>
            </a:pPr>
            <a:r>
              <a:rPr lang="en-US" sz="1200" b="1" spc="100" kern="0" dirty="0">
                <a:solidFill>
                  <a:srgbClr val="C4401F"/>
                </a:solidFill>
                <a:latin typeface="Calibri" pitchFamily="34" charset="0"/>
                <a:ea typeface="Calibri" pitchFamily="34" charset="-122"/>
                <a:cs typeface="Calibri" pitchFamily="34" charset="-120"/>
              </a:rPr>
              <a:t>ISSIQLIK O’TKAZUVCHANLIK TENGLAMASI VA SHARTLAR</a:t>
            </a:r>
            <a:endParaRPr lang="en-US" sz="1200" dirty="0"/>
          </a:p>
        </p:txBody>
      </p:sp>
      <p:pic>
        <p:nvPicPr>
          <p:cNvPr id="10" name="Issiqlik tenglamasi" descr="Issiqlik tenglamasi">    </p:cNvPr>
          <p:cNvPicPr>
            <a:picLocks noChangeAspect="1"/>
          </p:cNvPicPr>
          <p:nvPr/>
        </p:nvPicPr>
        <p:blipFill>
          <a:blip r:embed="rId3"/>
          <a:stretch>
            <a:fillRect/>
          </a:stretch>
        </p:blipFill>
        <p:spPr>
          <a:xfrm>
            <a:off x="777240" y="4343400"/>
            <a:ext cx="3609250" cy="868680"/>
          </a:xfrm>
          <a:prstGeom prst="rect">
            <a:avLst/>
          </a:prstGeom>
        </p:spPr>
      </p:pic>
      <p:pic>
        <p:nvPicPr>
          <p:cNvPr id="11" name="Chegaraviy va boshlang’ich shart" descr="Chegaraviy va boshlang’ich shart">    </p:cNvPr>
          <p:cNvPicPr>
            <a:picLocks noChangeAspect="1"/>
          </p:cNvPicPr>
          <p:nvPr/>
        </p:nvPicPr>
        <p:blipFill>
          <a:blip r:embed="rId4"/>
          <a:stretch>
            <a:fillRect/>
          </a:stretch>
        </p:blipFill>
        <p:spPr>
          <a:xfrm>
            <a:off x="777240" y="5440680"/>
            <a:ext cx="4754880" cy="401494"/>
          </a:xfrm>
          <a:prstGeom prst="rect">
            <a:avLst/>
          </a:prstGeom>
        </p:spPr>
      </p:pic>
      <p:sp>
        <p:nvSpPr>
          <p:cNvPr id="12" name="Text 7"/>
          <p:cNvSpPr txBox="1"/>
          <p:nvPr/>
        </p:nvSpPr>
        <p:spPr>
          <a:xfrm>
            <a:off x="6492240" y="4343400"/>
            <a:ext cx="4983480" cy="1691640"/>
          </a:xfrm>
          <a:prstGeom prst="rect">
            <a:avLst/>
          </a:prstGeom>
          <a:noFill/>
          <a:ln/>
        </p:spPr>
        <p:txBody>
          <a:bodyPr wrap="square" lIns="0" tIns="0" rIns="0" bIns="0" rtlCol="0" anchor="t"/>
          <a:lstStyle/>
          <a:p>
            <a:pPr indent="0" marL="0">
              <a:spcAft>
                <a:spcPts val="600"/>
              </a:spcAft>
              <a:buNone/>
            </a:pPr>
            <a:r>
              <a:rPr lang="en-US" sz="1400" dirty="0">
                <a:solidFill>
                  <a:srgbClr val="16212E"/>
                </a:solidFill>
                <a:latin typeface="Calibri" pitchFamily="34" charset="0"/>
                <a:ea typeface="Calibri" pitchFamily="34" charset="-122"/>
                <a:cs typeface="Calibri" pitchFamily="34" charset="-120"/>
              </a:rPr>
              <a:t>u – harorat, t – vaqt, x – sterjen bo’ylab joy.</a:t>
            </a:r>
            <a:endParaRPr lang="en-US" sz="1400" dirty="0"/>
          </a:p>
          <a:p>
            <a:pPr indent="0" marL="0">
              <a:spcAft>
                <a:spcPts val="600"/>
              </a:spcAft>
              <a:buNone/>
            </a:pPr>
            <a:r>
              <a:rPr lang="en-US" sz="1400" dirty="0">
                <a:solidFill>
                  <a:srgbClr val="16212E"/>
                </a:solidFill>
                <a:latin typeface="Calibri" pitchFamily="34" charset="0"/>
                <a:ea typeface="Calibri" pitchFamily="34" charset="-122"/>
                <a:cs typeface="Calibri" pitchFamily="34" charset="-120"/>
              </a:rPr>
              <a:t>a² = λ/(ρc) – haroratdan tenglanish tezligi: material issiqlikni qanchalik tez “tarqatishi”.</a:t>
            </a:r>
            <a:endParaRPr lang="en-US" sz="1400" dirty="0"/>
          </a:p>
          <a:p>
            <a:pPr indent="0" marL="0">
              <a:spcAft>
                <a:spcPts val="600"/>
              </a:spcAft>
              <a:buNone/>
            </a:pPr>
            <a:r>
              <a:rPr lang="en-US" sz="1400" dirty="0">
                <a:solidFill>
                  <a:srgbClr val="16212E"/>
                </a:solidFill>
                <a:latin typeface="Calibri" pitchFamily="34" charset="0"/>
                <a:ea typeface="Calibri" pitchFamily="34" charset="-122"/>
                <a:cs typeface="Calibri" pitchFamily="34" charset="-120"/>
              </a:rPr>
              <a:t>Chegaraviy shart – uchlarida nima bo’layapti; boshlang’ich shart – boshida harorat qanday.</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Aniq yechim bor – lekin faqat ideal holda</a:t>
            </a:r>
            <a:endParaRPr lang="en-US" sz="3200" dirty="0"/>
          </a:p>
        </p:txBody>
      </p:sp>
      <p:sp>
        <p:nvSpPr>
          <p:cNvPr id="3" name="Text 1">
            <a:hlinkClick r:id="rId1" tooltip=""/>
          </p:cNvPr>
          <p:cNvSpPr txBox="1"/>
          <p:nvPr/>
        </p:nvSpPr>
        <p:spPr>
          <a:xfrm>
            <a:off x="548640" y="6419088"/>
            <a:ext cx="5486400" cy="274320"/>
          </a:xfrm>
          <a:prstGeom prst="rect">
            <a:avLst/>
          </a:prstGeom>
          <a:noFill/>
          <a:ln/>
        </p:spPr>
        <p:txBody>
          <a:bodyPr wrap="square" lIns="0" tIns="0" rIns="0" bIns="0" rtlCol="0" anchor="t"/>
          <a:lstStyle/>
          <a:p>
            <a:pPr indent="0" marL="0">
              <a:buNone/>
            </a:pPr>
            <a:r>
              <a:rPr lang="en-US" sz="1100" u="sng" dirty="0">
                <a:solidFill>
                  <a:srgbClr val="1F5FA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ulugbekkamalov0829-web.github.io/termolab</a:t>
            </a:r>
            <a:endParaRPr lang="en-US" sz="1100" dirty="0"/>
          </a:p>
        </p:txBody>
      </p:sp>
      <p:sp>
        <p:nvSpPr>
          <p:cNvPr id="4" name="Aniq yechim"/>
          <p:cNvSpPr/>
          <p:nvPr/>
        </p:nvSpPr>
        <p:spPr>
          <a:xfrm>
            <a:off x="548640" y="1325880"/>
            <a:ext cx="6766560" cy="1463040"/>
          </a:xfrm>
          <a:prstGeom prst="roundRect">
            <a:avLst>
              <a:gd name="adj" fmla="val 7500"/>
            </a:avLst>
          </a:prstGeom>
          <a:solidFill>
            <a:srgbClr val="F2F5F8"/>
          </a:solidFill>
          <a:ln w="12700">
            <a:solidFill>
              <a:srgbClr val="F2F5F8"/>
            </a:solidFill>
            <a:prstDash val="solid"/>
          </a:ln>
        </p:spPr>
      </p:sp>
      <p:sp>
        <p:nvSpPr>
          <p:cNvPr id="5" name="Text 3"/>
          <p:cNvSpPr txBox="1"/>
          <p:nvPr/>
        </p:nvSpPr>
        <p:spPr>
          <a:xfrm>
            <a:off x="777240" y="1444752"/>
            <a:ext cx="6400800" cy="274320"/>
          </a:xfrm>
          <a:prstGeom prst="rect">
            <a:avLst/>
          </a:prstGeom>
          <a:noFill/>
          <a:ln/>
        </p:spPr>
        <p:txBody>
          <a:bodyPr wrap="square" lIns="0" tIns="0" rIns="0" bIns="0" rtlCol="0" anchor="t"/>
          <a:lstStyle/>
          <a:p>
            <a:pPr indent="0" marL="0">
              <a:buNone/>
            </a:pPr>
            <a:r>
              <a:rPr lang="en-US" sz="1200" b="1" spc="100" kern="0" dirty="0">
                <a:solidFill>
                  <a:srgbClr val="C4401F"/>
                </a:solidFill>
                <a:latin typeface="Calibri" pitchFamily="34" charset="0"/>
                <a:ea typeface="Calibri" pitchFamily="34" charset="-122"/>
                <a:cs typeface="Calibri" pitchFamily="34" charset="-120"/>
              </a:rPr>
              <a:t>FURYE QATORI (ideal sterjen uchun)</a:t>
            </a:r>
            <a:endParaRPr lang="en-US" sz="1200" dirty="0"/>
          </a:p>
        </p:txBody>
      </p:sp>
      <p:pic>
        <p:nvPicPr>
          <p:cNvPr id="6" name="Aniq yechim" descr="Aniq yechim">    </p:cNvPr>
          <p:cNvPicPr>
            <a:picLocks noChangeAspect="1"/>
          </p:cNvPicPr>
          <p:nvPr/>
        </p:nvPicPr>
        <p:blipFill>
          <a:blip r:embed="rId2"/>
          <a:stretch>
            <a:fillRect/>
          </a:stretch>
        </p:blipFill>
        <p:spPr>
          <a:xfrm>
            <a:off x="777240" y="1828800"/>
            <a:ext cx="4602156" cy="868680"/>
          </a:xfrm>
          <a:prstGeom prst="rect">
            <a:avLst/>
          </a:prstGeom>
        </p:spPr>
      </p:pic>
      <p:sp>
        <p:nvSpPr>
          <p:cNvPr id="7" name="Text 4"/>
          <p:cNvSpPr txBox="1"/>
          <p:nvPr/>
        </p:nvSpPr>
        <p:spPr>
          <a:xfrm>
            <a:off x="548640" y="3017520"/>
            <a:ext cx="6766560" cy="365760"/>
          </a:xfrm>
          <a:prstGeom prst="rect">
            <a:avLst/>
          </a:prstGeom>
          <a:noFill/>
          <a:ln/>
        </p:spPr>
        <p:txBody>
          <a:bodyPr wrap="square" lIns="0" tIns="0" rIns="0" bIns="0" rtlCol="0" anchor="t"/>
          <a:lstStyle/>
          <a:p>
            <a:pPr indent="0" marL="0">
              <a:buNone/>
            </a:pPr>
            <a:r>
              <a:rPr lang="en-US" sz="1700" b="1" dirty="0">
                <a:solidFill>
                  <a:srgbClr val="16212E"/>
                </a:solidFill>
                <a:latin typeface="Calibri" pitchFamily="34" charset="0"/>
                <a:ea typeface="Calibri" pitchFamily="34" charset="-122"/>
                <a:cs typeface="Calibri" pitchFamily="34" charset="-120"/>
              </a:rPr>
              <a:t>Aniq yechim faqat shu hollarda yoziladi:</a:t>
            </a:r>
            <a:endParaRPr lang="en-US" sz="1700" dirty="0"/>
          </a:p>
        </p:txBody>
      </p:sp>
      <p:sp>
        <p:nvSpPr>
          <p:cNvPr id="8" name="Text 5"/>
          <p:cNvSpPr txBox="1"/>
          <p:nvPr/>
        </p:nvSpPr>
        <p:spPr>
          <a:xfrm>
            <a:off x="548640" y="3474720"/>
            <a:ext cx="6766560" cy="1371600"/>
          </a:xfrm>
          <a:prstGeom prst="rect">
            <a:avLst/>
          </a:prstGeom>
          <a:noFill/>
          <a:ln/>
        </p:spPr>
        <p:txBody>
          <a:bodyPr wrap="square" lIns="0" tIns="0" rIns="0" bIns="0" rtlCol="0" anchor="t"/>
          <a:lstStyle/>
          <a:p>
            <a:pPr marL="342900" indent="-342900">
              <a:spcAft>
                <a:spcPts val="500"/>
              </a:spcAft>
              <a:buSzPct val="100000"/>
              <a:buChar char="•"/>
            </a:pPr>
            <a:r>
              <a:rPr lang="en-US" sz="1600" dirty="0">
                <a:solidFill>
                  <a:srgbClr val="16212E"/>
                </a:solidFill>
                <a:latin typeface="Calibri" pitchFamily="34" charset="0"/>
                <a:ea typeface="Calibri" pitchFamily="34" charset="-122"/>
                <a:cs typeface="Calibri" pitchFamily="34" charset="-120"/>
              </a:rPr>
              <a:t>material bir jinsli, xossalari o’zgarmaydi</a:t>
            </a:r>
            <a:endParaRPr lang="en-US" sz="1600" dirty="0"/>
          </a:p>
          <a:p>
            <a:pPr marL="342900" indent="-342900">
              <a:spcAft>
                <a:spcPts val="500"/>
              </a:spcAft>
              <a:buSzPct val="100000"/>
              <a:buChar char="•"/>
            </a:pPr>
            <a:r>
              <a:rPr lang="en-US" sz="1600" dirty="0">
                <a:solidFill>
                  <a:srgbClr val="16212E"/>
                </a:solidFill>
                <a:latin typeface="Calibri" pitchFamily="34" charset="0"/>
                <a:ea typeface="Calibri" pitchFamily="34" charset="-122"/>
                <a:cs typeface="Calibri" pitchFamily="34" charset="-120"/>
              </a:rPr>
              <a:t>uchlarida harorat berilgan (I tur)</a:t>
            </a:r>
            <a:endParaRPr lang="en-US" sz="1600" dirty="0"/>
          </a:p>
          <a:p>
            <a:pPr marL="342900" indent="-342900">
              <a:spcAft>
                <a:spcPts val="500"/>
              </a:spcAft>
              <a:buSzPct val="100000"/>
              <a:buChar char="•"/>
            </a:pPr>
            <a:r>
              <a:rPr lang="en-US" sz="1600" dirty="0">
                <a:solidFill>
                  <a:srgbClr val="16212E"/>
                </a:solidFill>
                <a:latin typeface="Calibri" pitchFamily="34" charset="0"/>
                <a:ea typeface="Calibri" pitchFamily="34" charset="-122"/>
                <a:cs typeface="Calibri" pitchFamily="34" charset="-120"/>
              </a:rPr>
              <a:t>ichki issiqlik manbasi va yon sirtdan sovish yo’q</a:t>
            </a:r>
            <a:endParaRPr lang="en-US" sz="1600" dirty="0"/>
          </a:p>
        </p:txBody>
      </p:sp>
      <p:sp>
        <p:nvSpPr>
          <p:cNvPr id="9" name="Real"/>
          <p:cNvSpPr/>
          <p:nvPr/>
        </p:nvSpPr>
        <p:spPr>
          <a:xfrm>
            <a:off x="548640" y="4937760"/>
            <a:ext cx="6766560" cy="1234440"/>
          </a:xfrm>
          <a:prstGeom prst="roundRect">
            <a:avLst>
              <a:gd name="adj" fmla="val 8889"/>
            </a:avLst>
          </a:prstGeom>
          <a:solidFill>
            <a:srgbClr val="FBEAE7"/>
          </a:solidFill>
          <a:ln w="12700">
            <a:solidFill>
              <a:srgbClr val="FBEAE7"/>
            </a:solidFill>
            <a:prstDash val="solid"/>
          </a:ln>
        </p:spPr>
      </p:sp>
      <p:sp>
        <p:nvSpPr>
          <p:cNvPr id="10" name="Text 7"/>
          <p:cNvSpPr txBox="1"/>
          <p:nvPr/>
        </p:nvSpPr>
        <p:spPr>
          <a:xfrm>
            <a:off x="777240" y="5029200"/>
            <a:ext cx="6309360" cy="1051560"/>
          </a:xfrm>
          <a:prstGeom prst="rect">
            <a:avLst/>
          </a:prstGeom>
          <a:noFill/>
          <a:ln/>
        </p:spPr>
        <p:txBody>
          <a:bodyPr wrap="square" lIns="0" tIns="0" rIns="0" bIns="0" rtlCol="0" anchor="ctr"/>
          <a:lstStyle/>
          <a:p>
            <a:pPr indent="0" marL="0">
              <a:buNone/>
            </a:pPr>
            <a:r>
              <a:rPr lang="en-US" sz="1600" dirty="0">
                <a:solidFill>
                  <a:srgbClr val="16212E"/>
                </a:solidFill>
                <a:latin typeface="Calibri" pitchFamily="34" charset="0"/>
                <a:ea typeface="Calibri" pitchFamily="34" charset="-122"/>
                <a:cs typeface="Calibri" pitchFamily="34" charset="-120"/>
              </a:rPr>
              <a:t>Real sterjenda havo bilan almashinuv, o’zgaruvchan xossa, ichki manba bo’ladi – aniq formula yo’q. Faqat sonli usul qoladi.</a:t>
            </a:r>
            <a:endParaRPr lang="en-US" sz="1600" dirty="0"/>
          </a:p>
        </p:txBody>
      </p:sp>
      <p:sp>
        <p:nvSpPr>
          <p:cNvPr id="11" name="Nega muhim"/>
          <p:cNvSpPr/>
          <p:nvPr/>
        </p:nvSpPr>
        <p:spPr>
          <a:xfrm>
            <a:off x="7589520" y="1325880"/>
            <a:ext cx="4050792" cy="4846320"/>
          </a:xfrm>
          <a:prstGeom prst="roundRect">
            <a:avLst>
              <a:gd name="adj" fmla="val 2709"/>
            </a:avLst>
          </a:prstGeom>
          <a:solidFill>
            <a:srgbClr val="E7F4EC"/>
          </a:solidFill>
          <a:ln w="12700">
            <a:solidFill>
              <a:srgbClr val="E7F4EC"/>
            </a:solidFill>
            <a:prstDash val="solid"/>
          </a:ln>
        </p:spPr>
      </p:sp>
      <p:sp>
        <p:nvSpPr>
          <p:cNvPr id="12" name="Text 9"/>
          <p:cNvSpPr txBox="1"/>
          <p:nvPr/>
        </p:nvSpPr>
        <p:spPr>
          <a:xfrm>
            <a:off x="7790688" y="1463040"/>
            <a:ext cx="3657600" cy="731520"/>
          </a:xfrm>
          <a:prstGeom prst="rect">
            <a:avLst/>
          </a:prstGeom>
          <a:noFill/>
          <a:ln/>
        </p:spPr>
        <p:txBody>
          <a:bodyPr wrap="square" lIns="0" tIns="0" rIns="0" bIns="0" rtlCol="0" anchor="t"/>
          <a:lstStyle/>
          <a:p>
            <a:pPr indent="0" marL="0">
              <a:buNone/>
            </a:pPr>
            <a:r>
              <a:rPr lang="en-US" sz="1800" b="1" dirty="0">
                <a:solidFill>
                  <a:srgbClr val="1F7A4A"/>
                </a:solidFill>
                <a:latin typeface="Calibri" pitchFamily="34" charset="0"/>
                <a:ea typeface="Calibri" pitchFamily="34" charset="-122"/>
                <a:cs typeface="Calibri" pitchFamily="34" charset="-120"/>
              </a:rPr>
              <a:t>Aniq yechimdan nima uchun foydalanamiz?</a:t>
            </a:r>
            <a:endParaRPr lang="en-US" sz="1800" dirty="0"/>
          </a:p>
        </p:txBody>
      </p:sp>
      <p:sp>
        <p:nvSpPr>
          <p:cNvPr id="13" name="Text 10"/>
          <p:cNvSpPr txBox="1"/>
          <p:nvPr/>
        </p:nvSpPr>
        <p:spPr>
          <a:xfrm>
            <a:off x="7790688" y="2286000"/>
            <a:ext cx="3657600" cy="3749040"/>
          </a:xfrm>
          <a:prstGeom prst="rect">
            <a:avLst/>
          </a:prstGeom>
          <a:noFill/>
          <a:ln/>
        </p:spPr>
        <p:txBody>
          <a:bodyPr wrap="square" lIns="0" tIns="0" rIns="0" bIns="0" rtlCol="0" anchor="t"/>
          <a:lstStyle/>
          <a:p>
            <a:pPr indent="0" marL="0">
              <a:spcAft>
                <a:spcPts val="1000"/>
              </a:spcAft>
              <a:buNone/>
            </a:pPr>
            <a:r>
              <a:rPr lang="en-US" sz="1500" dirty="0">
                <a:solidFill>
                  <a:srgbClr val="16212E"/>
                </a:solidFill>
                <a:latin typeface="Calibri" pitchFamily="34" charset="0"/>
                <a:ea typeface="Calibri" pitchFamily="34" charset="-122"/>
                <a:cs typeface="Calibri" pitchFamily="34" charset="-120"/>
              </a:rPr>
              <a:t>U – “javobi bor” sinov masalasi.</a:t>
            </a:r>
            <a:endParaRPr lang="en-US" sz="1500" dirty="0"/>
          </a:p>
          <a:p>
            <a:pPr indent="0" marL="0">
              <a:spcAft>
                <a:spcPts val="1000"/>
              </a:spcAft>
              <a:buNone/>
            </a:pPr>
            <a:r>
              <a:rPr lang="en-US" sz="1500" dirty="0">
                <a:solidFill>
                  <a:srgbClr val="16212E"/>
                </a:solidFill>
                <a:latin typeface="Calibri" pitchFamily="34" charset="0"/>
                <a:ea typeface="Calibri" pitchFamily="34" charset="-122"/>
                <a:cs typeface="Calibri" pitchFamily="34" charset="-120"/>
              </a:rPr>
              <a:t>Har bir sonli usul natijasini aniq javob bilan solishtirib, xatosini o’lchaymiz.</a:t>
            </a:r>
            <a:endParaRPr lang="en-US" sz="1500" dirty="0"/>
          </a:p>
          <a:p>
            <a:pPr indent="0" marL="0">
              <a:spcAft>
                <a:spcPts val="1000"/>
              </a:spcAft>
              <a:buNone/>
            </a:pPr>
            <a:r>
              <a:rPr lang="en-US" sz="1500" dirty="0">
                <a:solidFill>
                  <a:srgbClr val="16212E"/>
                </a:solidFill>
                <a:latin typeface="Calibri" pitchFamily="34" charset="0"/>
                <a:ea typeface="Calibri" pitchFamily="34" charset="-122"/>
                <a:cs typeface="Calibri" pitchFamily="34" charset="-120"/>
              </a:rPr>
              <a:t>Xatosi kichik va tez usul – eng maqbul usul.</a:t>
            </a:r>
            <a:endParaRPr lang="en-US" sz="1500" dirty="0"/>
          </a:p>
          <a:p>
            <a:pPr indent="0" marL="0">
              <a:spcAft>
                <a:spcPts val="1000"/>
              </a:spcAft>
              <a:buNone/>
            </a:pPr>
            <a:r>
              <a:rPr lang="en-US" sz="1500" dirty="0">
                <a:solidFill>
                  <a:srgbClr val="16212E"/>
                </a:solidFill>
                <a:latin typeface="Calibri" pitchFamily="34" charset="0"/>
                <a:ea typeface="Calibri" pitchFamily="34" charset="-122"/>
                <a:cs typeface="Calibri" pitchFamily="34" charset="-120"/>
              </a:rPr>
              <a:t>Shunda real masalalarda (aniq javob yo’q joyda) ham shu usulga ishonamiz.</a:t>
            </a:r>
            <a:endParaRPr lang="en-US" sz="15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Sonli yechish g’oyasi: sterjenni bo’lakchalarga bo’lamiz</a:t>
            </a:r>
            <a:endParaRPr lang="en-US" sz="3200" dirty="0"/>
          </a:p>
        </p:txBody>
      </p:sp>
      <p:sp>
        <p:nvSpPr>
          <p:cNvPr id="3" name="Text 1">
            <a:hlinkClick r:id="rId1" tooltip=""/>
          </p:cNvPr>
          <p:cNvSpPr txBox="1"/>
          <p:nvPr/>
        </p:nvSpPr>
        <p:spPr>
          <a:xfrm>
            <a:off x="548640" y="6419088"/>
            <a:ext cx="5486400" cy="274320"/>
          </a:xfrm>
          <a:prstGeom prst="rect">
            <a:avLst/>
          </a:prstGeom>
          <a:noFill/>
          <a:ln/>
        </p:spPr>
        <p:txBody>
          <a:bodyPr wrap="square" lIns="0" tIns="0" rIns="0" bIns="0" rtlCol="0" anchor="t"/>
          <a:lstStyle/>
          <a:p>
            <a:pPr indent="0" marL="0">
              <a:buNone/>
            </a:pPr>
            <a:r>
              <a:rPr lang="en-US" sz="1100" u="sng" dirty="0">
                <a:solidFill>
                  <a:srgbClr val="1F5FA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ulugbekkamalov0829-web.github.io/termolab</a:t>
            </a:r>
            <a:endParaRPr lang="en-US" sz="1100" dirty="0"/>
          </a:p>
        </p:txBody>
      </p:sp>
      <p:sp>
        <p:nvSpPr>
          <p:cNvPr id="4" name="To’r"/>
          <p:cNvSpPr/>
          <p:nvPr/>
        </p:nvSpPr>
        <p:spPr>
          <a:xfrm>
            <a:off x="548640" y="1325880"/>
            <a:ext cx="3593592" cy="1828800"/>
          </a:xfrm>
          <a:prstGeom prst="roundRect">
            <a:avLst>
              <a:gd name="adj" fmla="val 6000"/>
            </a:avLst>
          </a:prstGeom>
          <a:solidFill>
            <a:srgbClr val="F2F5F8"/>
          </a:solidFill>
          <a:ln w="12700">
            <a:solidFill>
              <a:srgbClr val="F2F5F8"/>
            </a:solidFill>
            <a:prstDash val="solid"/>
          </a:ln>
        </p:spPr>
      </p:sp>
      <p:sp>
        <p:nvSpPr>
          <p:cNvPr id="5" name="Shape 3"/>
          <p:cNvSpPr/>
          <p:nvPr/>
        </p:nvSpPr>
        <p:spPr>
          <a:xfrm>
            <a:off x="749808" y="1481328"/>
            <a:ext cx="420624" cy="420624"/>
          </a:xfrm>
          <a:prstGeom prst="ellipse">
            <a:avLst/>
          </a:prstGeom>
          <a:solidFill>
            <a:srgbClr val="C4401F"/>
          </a:solidFill>
          <a:ln w="12700">
            <a:solidFill>
              <a:srgbClr val="C4401F"/>
            </a:solidFill>
            <a:prstDash val="solid"/>
          </a:ln>
        </p:spPr>
      </p:sp>
      <p:sp>
        <p:nvSpPr>
          <p:cNvPr id="6" name="Text 4"/>
          <p:cNvSpPr txBox="1"/>
          <p:nvPr/>
        </p:nvSpPr>
        <p:spPr>
          <a:xfrm>
            <a:off x="749808" y="148132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298448" y="1517904"/>
            <a:ext cx="2743200" cy="365760"/>
          </a:xfrm>
          <a:prstGeom prst="rect">
            <a:avLst/>
          </a:prstGeom>
          <a:noFill/>
          <a:ln/>
        </p:spPr>
        <p:txBody>
          <a:bodyPr wrap="square" lIns="0" tIns="0" rIns="0" bIns="0" rtlCol="0" anchor="t"/>
          <a:lstStyle/>
          <a:p>
            <a:pPr indent="0" marL="0">
              <a:buNone/>
            </a:pPr>
            <a:r>
              <a:rPr lang="en-US" sz="1700" b="1" dirty="0">
                <a:solidFill>
                  <a:srgbClr val="16212E"/>
                </a:solidFill>
                <a:latin typeface="Calibri" pitchFamily="34" charset="0"/>
                <a:ea typeface="Calibri" pitchFamily="34" charset="-122"/>
                <a:cs typeface="Calibri" pitchFamily="34" charset="-120"/>
              </a:rPr>
              <a:t>To’r</a:t>
            </a:r>
            <a:endParaRPr lang="en-US" sz="1700" dirty="0"/>
          </a:p>
        </p:txBody>
      </p:sp>
      <p:sp>
        <p:nvSpPr>
          <p:cNvPr id="8" name="Text 6"/>
          <p:cNvSpPr txBox="1"/>
          <p:nvPr/>
        </p:nvSpPr>
        <p:spPr>
          <a:xfrm>
            <a:off x="749808" y="2011680"/>
            <a:ext cx="3200400" cy="109728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Sterjen uzunligi h qadamli N ta nuqtaga, vaqt esa τ qadamli qatlamlarga bo’linadi. uᵢʲ – i-nuqtaning j-qatlamdagi harorati.</a:t>
            </a:r>
            <a:endParaRPr lang="en-US" sz="1400" dirty="0"/>
          </a:p>
        </p:txBody>
      </p:sp>
      <p:sp>
        <p:nvSpPr>
          <p:cNvPr id="9" name="Hosilalar → ayirmalar"/>
          <p:cNvSpPr/>
          <p:nvPr/>
        </p:nvSpPr>
        <p:spPr>
          <a:xfrm>
            <a:off x="4297680" y="1325880"/>
            <a:ext cx="3593592" cy="1828800"/>
          </a:xfrm>
          <a:prstGeom prst="roundRect">
            <a:avLst>
              <a:gd name="adj" fmla="val 6000"/>
            </a:avLst>
          </a:prstGeom>
          <a:solidFill>
            <a:srgbClr val="F2F5F8"/>
          </a:solidFill>
          <a:ln w="12700">
            <a:solidFill>
              <a:srgbClr val="F2F5F8"/>
            </a:solidFill>
            <a:prstDash val="solid"/>
          </a:ln>
        </p:spPr>
      </p:sp>
      <p:sp>
        <p:nvSpPr>
          <p:cNvPr id="10" name="Shape 8"/>
          <p:cNvSpPr/>
          <p:nvPr/>
        </p:nvSpPr>
        <p:spPr>
          <a:xfrm>
            <a:off x="4498848" y="1481328"/>
            <a:ext cx="420624" cy="420624"/>
          </a:xfrm>
          <a:prstGeom prst="ellipse">
            <a:avLst/>
          </a:prstGeom>
          <a:solidFill>
            <a:srgbClr val="C4401F"/>
          </a:solidFill>
          <a:ln w="12700">
            <a:solidFill>
              <a:srgbClr val="C4401F"/>
            </a:solidFill>
            <a:prstDash val="solid"/>
          </a:ln>
        </p:spPr>
      </p:sp>
      <p:sp>
        <p:nvSpPr>
          <p:cNvPr id="11" name="Text 9"/>
          <p:cNvSpPr txBox="1"/>
          <p:nvPr/>
        </p:nvSpPr>
        <p:spPr>
          <a:xfrm>
            <a:off x="4498848" y="148132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5047488" y="1517904"/>
            <a:ext cx="2743200" cy="365760"/>
          </a:xfrm>
          <a:prstGeom prst="rect">
            <a:avLst/>
          </a:prstGeom>
          <a:noFill/>
          <a:ln/>
        </p:spPr>
        <p:txBody>
          <a:bodyPr wrap="square" lIns="0" tIns="0" rIns="0" bIns="0" rtlCol="0" anchor="t"/>
          <a:lstStyle/>
          <a:p>
            <a:pPr indent="0" marL="0">
              <a:buNone/>
            </a:pPr>
            <a:r>
              <a:rPr lang="en-US" sz="1700" b="1" dirty="0">
                <a:solidFill>
                  <a:srgbClr val="16212E"/>
                </a:solidFill>
                <a:latin typeface="Calibri" pitchFamily="34" charset="0"/>
                <a:ea typeface="Calibri" pitchFamily="34" charset="-122"/>
                <a:cs typeface="Calibri" pitchFamily="34" charset="-120"/>
              </a:rPr>
              <a:t>Hosilalar → ayirmalar</a:t>
            </a:r>
            <a:endParaRPr lang="en-US" sz="1700" dirty="0"/>
          </a:p>
        </p:txBody>
      </p:sp>
      <p:sp>
        <p:nvSpPr>
          <p:cNvPr id="13" name="Text 11"/>
          <p:cNvSpPr txBox="1"/>
          <p:nvPr/>
        </p:nvSpPr>
        <p:spPr>
          <a:xfrm>
            <a:off x="4498848" y="2011680"/>
            <a:ext cx="3200400" cy="109728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Ikkinchi hosila qo’shni nuqtalar farqi bilan almashtiriladi: (uᵢ₊₁ − 2uᵢ + uᵢ₋₁) / h².</a:t>
            </a:r>
            <a:endParaRPr lang="en-US" sz="1400" dirty="0"/>
          </a:p>
        </p:txBody>
      </p:sp>
      <p:sp>
        <p:nvSpPr>
          <p:cNvPr id="14" name="Qatlamma-qatlam"/>
          <p:cNvSpPr/>
          <p:nvPr/>
        </p:nvSpPr>
        <p:spPr>
          <a:xfrm>
            <a:off x="8046720" y="1325880"/>
            <a:ext cx="3593592" cy="1828800"/>
          </a:xfrm>
          <a:prstGeom prst="roundRect">
            <a:avLst>
              <a:gd name="adj" fmla="val 6000"/>
            </a:avLst>
          </a:prstGeom>
          <a:solidFill>
            <a:srgbClr val="F2F5F8"/>
          </a:solidFill>
          <a:ln w="12700">
            <a:solidFill>
              <a:srgbClr val="F2F5F8"/>
            </a:solidFill>
            <a:prstDash val="solid"/>
          </a:ln>
        </p:spPr>
      </p:sp>
      <p:sp>
        <p:nvSpPr>
          <p:cNvPr id="15" name="Shape 13"/>
          <p:cNvSpPr/>
          <p:nvPr/>
        </p:nvSpPr>
        <p:spPr>
          <a:xfrm>
            <a:off x="8247888" y="1481328"/>
            <a:ext cx="420624" cy="420624"/>
          </a:xfrm>
          <a:prstGeom prst="ellipse">
            <a:avLst/>
          </a:prstGeom>
          <a:solidFill>
            <a:srgbClr val="C4401F"/>
          </a:solidFill>
          <a:ln w="12700">
            <a:solidFill>
              <a:srgbClr val="C4401F"/>
            </a:solidFill>
            <a:prstDash val="solid"/>
          </a:ln>
        </p:spPr>
      </p:sp>
      <p:sp>
        <p:nvSpPr>
          <p:cNvPr id="16" name="Text 14"/>
          <p:cNvSpPr txBox="1"/>
          <p:nvPr/>
        </p:nvSpPr>
        <p:spPr>
          <a:xfrm>
            <a:off x="8247888" y="148132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txBox="1"/>
          <p:nvPr/>
        </p:nvSpPr>
        <p:spPr>
          <a:xfrm>
            <a:off x="8796528" y="1517904"/>
            <a:ext cx="2743200" cy="365760"/>
          </a:xfrm>
          <a:prstGeom prst="rect">
            <a:avLst/>
          </a:prstGeom>
          <a:noFill/>
          <a:ln/>
        </p:spPr>
        <p:txBody>
          <a:bodyPr wrap="square" lIns="0" tIns="0" rIns="0" bIns="0" rtlCol="0" anchor="t"/>
          <a:lstStyle/>
          <a:p>
            <a:pPr indent="0" marL="0">
              <a:buNone/>
            </a:pPr>
            <a:r>
              <a:rPr lang="en-US" sz="1700" b="1" dirty="0">
                <a:solidFill>
                  <a:srgbClr val="16212E"/>
                </a:solidFill>
                <a:latin typeface="Calibri" pitchFamily="34" charset="0"/>
                <a:ea typeface="Calibri" pitchFamily="34" charset="-122"/>
                <a:cs typeface="Calibri" pitchFamily="34" charset="-120"/>
              </a:rPr>
              <a:t>Qatlamma-qatlam</a:t>
            </a:r>
            <a:endParaRPr lang="en-US" sz="1700" dirty="0"/>
          </a:p>
        </p:txBody>
      </p:sp>
      <p:sp>
        <p:nvSpPr>
          <p:cNvPr id="18" name="Text 16"/>
          <p:cNvSpPr txBox="1"/>
          <p:nvPr/>
        </p:nvSpPr>
        <p:spPr>
          <a:xfrm>
            <a:off x="8247888" y="2011680"/>
            <a:ext cx="3200400" cy="109728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Boshlang’ich haroratdan boshlab, har vaqt qadamida yangi qatlam topiladi, 10 daqiqagacha.</a:t>
            </a:r>
            <a:endParaRPr lang="en-US" sz="1400" dirty="0"/>
          </a:p>
        </p:txBody>
      </p:sp>
      <p:sp>
        <p:nvSpPr>
          <p:cNvPr id="19" name="Theta"/>
          <p:cNvSpPr/>
          <p:nvPr/>
        </p:nvSpPr>
        <p:spPr>
          <a:xfrm>
            <a:off x="548640" y="3383280"/>
            <a:ext cx="11091672" cy="1325880"/>
          </a:xfrm>
          <a:prstGeom prst="roundRect">
            <a:avLst>
              <a:gd name="adj" fmla="val 8276"/>
            </a:avLst>
          </a:prstGeom>
          <a:solidFill>
            <a:srgbClr val="F2F5F8"/>
          </a:solidFill>
          <a:ln w="12700">
            <a:solidFill>
              <a:srgbClr val="F2F5F8"/>
            </a:solidFill>
            <a:prstDash val="solid"/>
          </a:ln>
        </p:spPr>
      </p:sp>
      <p:sp>
        <p:nvSpPr>
          <p:cNvPr id="20" name="Text 18"/>
          <p:cNvSpPr txBox="1"/>
          <p:nvPr/>
        </p:nvSpPr>
        <p:spPr>
          <a:xfrm>
            <a:off x="777240" y="3493008"/>
            <a:ext cx="10058400" cy="274320"/>
          </a:xfrm>
          <a:prstGeom prst="rect">
            <a:avLst/>
          </a:prstGeom>
          <a:noFill/>
          <a:ln/>
        </p:spPr>
        <p:txBody>
          <a:bodyPr wrap="square" lIns="0" tIns="0" rIns="0" bIns="0" rtlCol="0" anchor="t"/>
          <a:lstStyle/>
          <a:p>
            <a:pPr indent="0" marL="0">
              <a:buNone/>
            </a:pPr>
            <a:r>
              <a:rPr lang="en-US" sz="1200" b="1" spc="100" kern="0" dirty="0">
                <a:solidFill>
                  <a:srgbClr val="C4401F"/>
                </a:solidFill>
                <a:latin typeface="Calibri" pitchFamily="34" charset="0"/>
                <a:ea typeface="Calibri" pitchFamily="34" charset="-122"/>
                <a:cs typeface="Calibri" pitchFamily="34" charset="-120"/>
              </a:rPr>
              <a:t>UMUMIY θ-SXEMA: bitta parametr – uch sxema</a:t>
            </a:r>
            <a:endParaRPr lang="en-US" sz="1200" dirty="0"/>
          </a:p>
        </p:txBody>
      </p:sp>
      <p:pic>
        <p:nvPicPr>
          <p:cNvPr id="21" name="Theta-sxema" descr="Theta-sxema">    </p:cNvPr>
          <p:cNvPicPr>
            <a:picLocks noChangeAspect="1"/>
          </p:cNvPicPr>
          <p:nvPr/>
        </p:nvPicPr>
        <p:blipFill>
          <a:blip r:embed="rId2"/>
          <a:stretch>
            <a:fillRect/>
          </a:stretch>
        </p:blipFill>
        <p:spPr>
          <a:xfrm>
            <a:off x="777240" y="3886200"/>
            <a:ext cx="8469347" cy="777240"/>
          </a:xfrm>
          <a:prstGeom prst="rect">
            <a:avLst/>
          </a:prstGeom>
        </p:spPr>
      </p:pic>
      <p:sp>
        <p:nvSpPr>
          <p:cNvPr id="22" name="Oshkor"/>
          <p:cNvSpPr/>
          <p:nvPr/>
        </p:nvSpPr>
        <p:spPr>
          <a:xfrm>
            <a:off x="548640" y="4937760"/>
            <a:ext cx="3593592" cy="731520"/>
          </a:xfrm>
          <a:prstGeom prst="roundRect">
            <a:avLst>
              <a:gd name="adj" fmla="val 15000"/>
            </a:avLst>
          </a:prstGeom>
          <a:solidFill>
            <a:srgbClr val="E8F0FA"/>
          </a:solidFill>
          <a:ln w="12700">
            <a:solidFill>
              <a:srgbClr val="E8F0FA"/>
            </a:solidFill>
            <a:prstDash val="solid"/>
          </a:ln>
        </p:spPr>
      </p:sp>
      <p:sp>
        <p:nvSpPr>
          <p:cNvPr id="23" name="Text 20"/>
          <p:cNvSpPr txBox="1"/>
          <p:nvPr/>
        </p:nvSpPr>
        <p:spPr>
          <a:xfrm>
            <a:off x="777240" y="4937760"/>
            <a:ext cx="3200400" cy="731520"/>
          </a:xfrm>
          <a:prstGeom prst="rect">
            <a:avLst/>
          </a:prstGeom>
          <a:noFill/>
          <a:ln/>
        </p:spPr>
        <p:txBody>
          <a:bodyPr wrap="square" lIns="0" tIns="0" rIns="0" bIns="0" rtlCol="0" anchor="ctr"/>
          <a:lstStyle/>
          <a:p>
            <a:pPr indent="0" marL="0">
              <a:buNone/>
            </a:pPr>
            <a:r>
              <a:rPr lang="en-US" sz="2000" b="1" dirty="0">
                <a:solidFill>
                  <a:srgbClr val="B3261E"/>
                </a:solidFill>
                <a:latin typeface="Cambria" pitchFamily="34" charset="0"/>
                <a:ea typeface="Cambria" pitchFamily="34" charset="-122"/>
                <a:cs typeface="Cambria" pitchFamily="34" charset="-120"/>
              </a:rPr>
              <a:t>θ = 0   </a:t>
            </a:r>
            <a:pPr indent="0" marL="0">
              <a:buNone/>
            </a:pPr>
            <a:r>
              <a:rPr lang="en-US" sz="1800" b="1" dirty="0">
                <a:solidFill>
                  <a:srgbClr val="16212E"/>
                </a:solidFill>
                <a:latin typeface="Calibri" pitchFamily="34" charset="0"/>
                <a:ea typeface="Calibri" pitchFamily="34" charset="-122"/>
                <a:cs typeface="Calibri" pitchFamily="34" charset="-120"/>
              </a:rPr>
              <a:t>Oshkor</a:t>
            </a:r>
            <a:endParaRPr lang="en-US" sz="2000" dirty="0"/>
          </a:p>
        </p:txBody>
      </p:sp>
      <p:sp>
        <p:nvSpPr>
          <p:cNvPr id="24" name="Oshkormas"/>
          <p:cNvSpPr/>
          <p:nvPr/>
        </p:nvSpPr>
        <p:spPr>
          <a:xfrm>
            <a:off x="4297680" y="4937760"/>
            <a:ext cx="3593592" cy="731520"/>
          </a:xfrm>
          <a:prstGeom prst="roundRect">
            <a:avLst>
              <a:gd name="adj" fmla="val 15000"/>
            </a:avLst>
          </a:prstGeom>
          <a:solidFill>
            <a:srgbClr val="E8F0FA"/>
          </a:solidFill>
          <a:ln w="12700">
            <a:solidFill>
              <a:srgbClr val="E8F0FA"/>
            </a:solidFill>
            <a:prstDash val="solid"/>
          </a:ln>
        </p:spPr>
      </p:sp>
      <p:sp>
        <p:nvSpPr>
          <p:cNvPr id="25" name="Text 22"/>
          <p:cNvSpPr txBox="1"/>
          <p:nvPr/>
        </p:nvSpPr>
        <p:spPr>
          <a:xfrm>
            <a:off x="4526280" y="4937760"/>
            <a:ext cx="3200400" cy="731520"/>
          </a:xfrm>
          <a:prstGeom prst="rect">
            <a:avLst/>
          </a:prstGeom>
          <a:noFill/>
          <a:ln/>
        </p:spPr>
        <p:txBody>
          <a:bodyPr wrap="square" lIns="0" tIns="0" rIns="0" bIns="0" rtlCol="0" anchor="ctr"/>
          <a:lstStyle/>
          <a:p>
            <a:pPr indent="0" marL="0">
              <a:buNone/>
            </a:pPr>
            <a:r>
              <a:rPr lang="en-US" sz="2000" b="1" dirty="0">
                <a:solidFill>
                  <a:srgbClr val="C77F12"/>
                </a:solidFill>
                <a:latin typeface="Cambria" pitchFamily="34" charset="0"/>
                <a:ea typeface="Cambria" pitchFamily="34" charset="-122"/>
                <a:cs typeface="Cambria" pitchFamily="34" charset="-120"/>
              </a:rPr>
              <a:t>θ = 1   </a:t>
            </a:r>
            <a:pPr indent="0" marL="0">
              <a:buNone/>
            </a:pPr>
            <a:r>
              <a:rPr lang="en-US" sz="1800" b="1" dirty="0">
                <a:solidFill>
                  <a:srgbClr val="16212E"/>
                </a:solidFill>
                <a:latin typeface="Calibri" pitchFamily="34" charset="0"/>
                <a:ea typeface="Calibri" pitchFamily="34" charset="-122"/>
                <a:cs typeface="Calibri" pitchFamily="34" charset="-120"/>
              </a:rPr>
              <a:t>Oshkormas</a:t>
            </a:r>
            <a:endParaRPr lang="en-US" sz="2000" dirty="0"/>
          </a:p>
        </p:txBody>
      </p:sp>
      <p:sp>
        <p:nvSpPr>
          <p:cNvPr id="26" name="Krank–Nikolson"/>
          <p:cNvSpPr/>
          <p:nvPr/>
        </p:nvSpPr>
        <p:spPr>
          <a:xfrm>
            <a:off x="8046720" y="4937760"/>
            <a:ext cx="3593592" cy="731520"/>
          </a:xfrm>
          <a:prstGeom prst="roundRect">
            <a:avLst>
              <a:gd name="adj" fmla="val 15000"/>
            </a:avLst>
          </a:prstGeom>
          <a:solidFill>
            <a:srgbClr val="E8F0FA"/>
          </a:solidFill>
          <a:ln w="12700">
            <a:solidFill>
              <a:srgbClr val="E8F0FA"/>
            </a:solidFill>
            <a:prstDash val="solid"/>
          </a:ln>
        </p:spPr>
      </p:sp>
      <p:sp>
        <p:nvSpPr>
          <p:cNvPr id="27" name="Text 24"/>
          <p:cNvSpPr txBox="1"/>
          <p:nvPr/>
        </p:nvSpPr>
        <p:spPr>
          <a:xfrm>
            <a:off x="8275320" y="4937760"/>
            <a:ext cx="3200400" cy="731520"/>
          </a:xfrm>
          <a:prstGeom prst="rect">
            <a:avLst/>
          </a:prstGeom>
          <a:noFill/>
          <a:ln/>
        </p:spPr>
        <p:txBody>
          <a:bodyPr wrap="square" lIns="0" tIns="0" rIns="0" bIns="0" rtlCol="0" anchor="ctr"/>
          <a:lstStyle/>
          <a:p>
            <a:pPr indent="0" marL="0">
              <a:buNone/>
            </a:pPr>
            <a:r>
              <a:rPr lang="en-US" sz="2000" b="1" dirty="0">
                <a:solidFill>
                  <a:srgbClr val="1F7A4A"/>
                </a:solidFill>
                <a:latin typeface="Cambria" pitchFamily="34" charset="0"/>
                <a:ea typeface="Cambria" pitchFamily="34" charset="-122"/>
                <a:cs typeface="Cambria" pitchFamily="34" charset="-120"/>
              </a:rPr>
              <a:t>θ = ½   </a:t>
            </a:r>
            <a:pPr indent="0" marL="0">
              <a:buNone/>
            </a:pPr>
            <a:r>
              <a:rPr lang="en-US" sz="1800" b="1" dirty="0">
                <a:solidFill>
                  <a:srgbClr val="16212E"/>
                </a:solidFill>
                <a:latin typeface="Calibri" pitchFamily="34" charset="0"/>
                <a:ea typeface="Calibri" pitchFamily="34" charset="-122"/>
                <a:cs typeface="Calibri" pitchFamily="34" charset="-120"/>
              </a:rPr>
              <a:t>Krank–Nikolson</a:t>
            </a:r>
            <a:endParaRPr lang="en-US" sz="2000" dirty="0"/>
          </a:p>
        </p:txBody>
      </p:sp>
      <p:sp>
        <p:nvSpPr>
          <p:cNvPr id="28" name="Text 25"/>
          <p:cNvSpPr txBox="1"/>
          <p:nvPr/>
        </p:nvSpPr>
        <p:spPr>
          <a:xfrm>
            <a:off x="548640" y="5852160"/>
            <a:ext cx="1463040" cy="365760"/>
          </a:xfrm>
          <a:prstGeom prst="rect">
            <a:avLst/>
          </a:prstGeom>
          <a:noFill/>
          <a:ln/>
        </p:spPr>
        <p:txBody>
          <a:bodyPr wrap="square" lIns="0" tIns="0" rIns="0" bIns="0" rtlCol="0" anchor="t"/>
          <a:lstStyle/>
          <a:p>
            <a:pPr indent="0" marL="0">
              <a:buNone/>
            </a:pPr>
            <a:r>
              <a:rPr lang="en-US" sz="1500" b="1" dirty="0">
                <a:solidFill>
                  <a:srgbClr val="16212E"/>
                </a:solidFill>
                <a:latin typeface="Calibri" pitchFamily="34" charset="0"/>
                <a:ea typeface="Calibri" pitchFamily="34" charset="-122"/>
                <a:cs typeface="Calibri" pitchFamily="34" charset="-120"/>
              </a:rPr>
              <a:t>Furye soni:</a:t>
            </a:r>
            <a:endParaRPr lang="en-US" sz="1500" dirty="0"/>
          </a:p>
        </p:txBody>
      </p:sp>
      <p:pic>
        <p:nvPicPr>
          <p:cNvPr id="29" name="Furye soni" descr="Furye soni">    </p:cNvPr>
          <p:cNvPicPr>
            <a:picLocks noChangeAspect="1"/>
          </p:cNvPicPr>
          <p:nvPr/>
        </p:nvPicPr>
        <p:blipFill>
          <a:blip r:embed="rId3"/>
          <a:stretch>
            <a:fillRect/>
          </a:stretch>
        </p:blipFill>
        <p:spPr>
          <a:xfrm>
            <a:off x="2011680" y="5806440"/>
            <a:ext cx="790626" cy="502920"/>
          </a:xfrm>
          <a:prstGeom prst="rect">
            <a:avLst/>
          </a:prstGeom>
        </p:spPr>
      </p:pic>
      <p:sp>
        <p:nvSpPr>
          <p:cNvPr id="30" name="Text 26"/>
          <p:cNvSpPr txBox="1"/>
          <p:nvPr/>
        </p:nvSpPr>
        <p:spPr>
          <a:xfrm>
            <a:off x="2985186" y="5852160"/>
            <a:ext cx="6400800" cy="36576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qadamlar nisbati – usul turg’unligini belgilaydi</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Uch sxema: yangi qatlam qanday topiladi</a:t>
            </a:r>
            <a:endParaRPr lang="en-US" sz="3200" dirty="0"/>
          </a:p>
        </p:txBody>
      </p:sp>
      <p:sp>
        <p:nvSpPr>
          <p:cNvPr id="3" name="Text 1">
            <a:hlinkClick r:id="rId1" tooltip=""/>
          </p:cNvPr>
          <p:cNvSpPr txBox="1"/>
          <p:nvPr/>
        </p:nvSpPr>
        <p:spPr>
          <a:xfrm>
            <a:off x="548640" y="6419088"/>
            <a:ext cx="5486400" cy="274320"/>
          </a:xfrm>
          <a:prstGeom prst="rect">
            <a:avLst/>
          </a:prstGeom>
          <a:noFill/>
          <a:ln/>
        </p:spPr>
        <p:txBody>
          <a:bodyPr wrap="square" lIns="0" tIns="0" rIns="0" bIns="0" rtlCol="0" anchor="t"/>
          <a:lstStyle/>
          <a:p>
            <a:pPr indent="0" marL="0">
              <a:buNone/>
            </a:pPr>
            <a:r>
              <a:rPr lang="en-US" sz="1100" u="sng" dirty="0">
                <a:solidFill>
                  <a:srgbClr val="1F5FA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ulugbekkamalov0829-web.github.io/termolab</a:t>
            </a:r>
            <a:endParaRPr lang="en-US" sz="1100" dirty="0"/>
          </a:p>
        </p:txBody>
      </p:sp>
      <p:pic>
        <p:nvPicPr>
          <p:cNvPr id="4" name="Uch sxemaning shablonlari" descr="Uch sxemaning shablonlari">    </p:cNvPr>
          <p:cNvPicPr>
            <a:picLocks noChangeAspect="1"/>
          </p:cNvPicPr>
          <p:nvPr/>
        </p:nvPicPr>
        <p:blipFill>
          <a:blip r:embed="rId2"/>
          <a:stretch>
            <a:fillRect/>
          </a:stretch>
        </p:blipFill>
        <p:spPr>
          <a:xfrm>
            <a:off x="548640" y="1188720"/>
            <a:ext cx="8961120" cy="2688336"/>
          </a:xfrm>
          <a:prstGeom prst="rect">
            <a:avLst/>
          </a:prstGeom>
        </p:spPr>
      </p:pic>
      <p:sp>
        <p:nvSpPr>
          <p:cNvPr id="5" name="Belgi"/>
          <p:cNvSpPr/>
          <p:nvPr/>
        </p:nvSpPr>
        <p:spPr>
          <a:xfrm>
            <a:off x="9692640" y="1234440"/>
            <a:ext cx="1947672" cy="2651760"/>
          </a:xfrm>
          <a:prstGeom prst="roundRect">
            <a:avLst>
              <a:gd name="adj" fmla="val 5634"/>
            </a:avLst>
          </a:prstGeom>
          <a:solidFill>
            <a:srgbClr val="F2F5F8"/>
          </a:solidFill>
          <a:ln w="12700">
            <a:solidFill>
              <a:srgbClr val="F2F5F8"/>
            </a:solidFill>
            <a:prstDash val="solid"/>
          </a:ln>
        </p:spPr>
      </p:sp>
      <p:sp>
        <p:nvSpPr>
          <p:cNvPr id="6" name="Text 3"/>
          <p:cNvSpPr txBox="1"/>
          <p:nvPr/>
        </p:nvSpPr>
        <p:spPr>
          <a:xfrm>
            <a:off x="9829800" y="1325880"/>
            <a:ext cx="1737360" cy="320040"/>
          </a:xfrm>
          <a:prstGeom prst="rect">
            <a:avLst/>
          </a:prstGeom>
          <a:noFill/>
          <a:ln/>
        </p:spPr>
        <p:txBody>
          <a:bodyPr wrap="square" lIns="0" tIns="0" rIns="0" bIns="0" rtlCol="0" anchor="t"/>
          <a:lstStyle/>
          <a:p>
            <a:pPr indent="0" marL="0">
              <a:buNone/>
            </a:pPr>
            <a:r>
              <a:rPr lang="en-US" sz="1500" b="1" dirty="0">
                <a:solidFill>
                  <a:srgbClr val="16212E"/>
                </a:solidFill>
                <a:latin typeface="Calibri" pitchFamily="34" charset="0"/>
                <a:ea typeface="Calibri" pitchFamily="34" charset="-122"/>
                <a:cs typeface="Calibri" pitchFamily="34" charset="-120"/>
              </a:rPr>
              <a:t>Shablon</a:t>
            </a:r>
            <a:endParaRPr lang="en-US" sz="1500" dirty="0"/>
          </a:p>
        </p:txBody>
      </p:sp>
      <p:sp>
        <p:nvSpPr>
          <p:cNvPr id="7" name="Text 4"/>
          <p:cNvSpPr txBox="1"/>
          <p:nvPr/>
        </p:nvSpPr>
        <p:spPr>
          <a:xfrm>
            <a:off x="9829800" y="1691640"/>
            <a:ext cx="1691640" cy="2103120"/>
          </a:xfrm>
          <a:prstGeom prst="rect">
            <a:avLst/>
          </a:prstGeom>
          <a:noFill/>
          <a:ln/>
        </p:spPr>
        <p:txBody>
          <a:bodyPr wrap="square" lIns="0" tIns="0" rIns="0" bIns="0" rtlCol="0" anchor="t"/>
          <a:lstStyle/>
          <a:p>
            <a:pPr indent="0" marL="0">
              <a:buNone/>
            </a:pPr>
            <a:r>
              <a:rPr lang="en-US" sz="1300" dirty="0">
                <a:solidFill>
                  <a:srgbClr val="56657A"/>
                </a:solidFill>
                <a:latin typeface="Calibri" pitchFamily="34" charset="0"/>
                <a:ea typeface="Calibri" pitchFamily="34" charset="-122"/>
                <a:cs typeface="Calibri" pitchFamily="34" charset="-120"/>
              </a:rPr>
              <a:t>Qora nuqta – eski qatlam (haroratlar ma’lum). Rangli nuqta – yangi qatlam (topiladigan).</a:t>
            </a:r>
            <a:endParaRPr lang="en-US" sz="1300" dirty="0"/>
          </a:p>
        </p:txBody>
      </p:sp>
      <p:sp>
        <p:nvSpPr>
          <p:cNvPr id="8" name="Oshkor"/>
          <p:cNvSpPr/>
          <p:nvPr/>
        </p:nvSpPr>
        <p:spPr>
          <a:xfrm>
            <a:off x="548640" y="4023360"/>
            <a:ext cx="3593592" cy="2148840"/>
          </a:xfrm>
          <a:prstGeom prst="roundRect">
            <a:avLst>
              <a:gd name="adj" fmla="val 5106"/>
            </a:avLst>
          </a:prstGeom>
          <a:solidFill>
            <a:srgbClr val="F2F5F8"/>
          </a:solidFill>
          <a:ln w="12700">
            <a:solidFill>
              <a:srgbClr val="F2F5F8"/>
            </a:solidFill>
            <a:prstDash val="solid"/>
          </a:ln>
        </p:spPr>
      </p:sp>
      <p:sp>
        <p:nvSpPr>
          <p:cNvPr id="9" name="Text 6"/>
          <p:cNvSpPr txBox="1"/>
          <p:nvPr/>
        </p:nvSpPr>
        <p:spPr>
          <a:xfrm>
            <a:off x="749808" y="4114800"/>
            <a:ext cx="3200400" cy="365760"/>
          </a:xfrm>
          <a:prstGeom prst="rect">
            <a:avLst/>
          </a:prstGeom>
          <a:noFill/>
          <a:ln/>
        </p:spPr>
        <p:txBody>
          <a:bodyPr wrap="square" lIns="0" tIns="0" rIns="0" bIns="0" rtlCol="0" anchor="t"/>
          <a:lstStyle/>
          <a:p>
            <a:pPr indent="0" marL="0">
              <a:buNone/>
            </a:pPr>
            <a:r>
              <a:rPr lang="en-US" sz="1800" b="1" dirty="0">
                <a:solidFill>
                  <a:srgbClr val="B3261E"/>
                </a:solidFill>
                <a:latin typeface="Calibri" pitchFamily="34" charset="0"/>
                <a:ea typeface="Calibri" pitchFamily="34" charset="-122"/>
                <a:cs typeface="Calibri" pitchFamily="34" charset="-120"/>
              </a:rPr>
              <a:t>Oshkor</a:t>
            </a:r>
            <a:endParaRPr lang="en-US" sz="1800" dirty="0"/>
          </a:p>
        </p:txBody>
      </p:sp>
      <p:pic>
        <p:nvPicPr>
          <p:cNvPr id="10" name="Oshkor formulasi" descr="Oshkor formulasi">    </p:cNvPr>
          <p:cNvPicPr>
            <a:picLocks noChangeAspect="1"/>
          </p:cNvPicPr>
          <p:nvPr/>
        </p:nvPicPr>
        <p:blipFill>
          <a:blip r:embed="rId3"/>
          <a:stretch>
            <a:fillRect/>
          </a:stretch>
        </p:blipFill>
        <p:spPr>
          <a:xfrm>
            <a:off x="749808" y="4526280"/>
            <a:ext cx="3200400" cy="328494"/>
          </a:xfrm>
          <a:prstGeom prst="rect">
            <a:avLst/>
          </a:prstGeom>
        </p:spPr>
      </p:pic>
      <p:sp>
        <p:nvSpPr>
          <p:cNvPr id="11" name="Text 7"/>
          <p:cNvSpPr txBox="1"/>
          <p:nvPr/>
        </p:nvSpPr>
        <p:spPr>
          <a:xfrm>
            <a:off x="749808" y="4983480"/>
            <a:ext cx="3200400" cy="502920"/>
          </a:xfrm>
          <a:prstGeom prst="rect">
            <a:avLst/>
          </a:prstGeom>
          <a:noFill/>
          <a:ln/>
        </p:spPr>
        <p:txBody>
          <a:bodyPr wrap="square" lIns="0" tIns="0" rIns="0" bIns="0" rtlCol="0" anchor="t"/>
          <a:lstStyle/>
          <a:p>
            <a:pPr indent="0" marL="0">
              <a:buNone/>
            </a:pPr>
            <a:r>
              <a:rPr lang="en-US" sz="1300" dirty="0">
                <a:solidFill>
                  <a:srgbClr val="56657A"/>
                </a:solidFill>
                <a:latin typeface="Calibri" pitchFamily="34" charset="0"/>
                <a:ea typeface="Calibri" pitchFamily="34" charset="-122"/>
                <a:cs typeface="Calibri" pitchFamily="34" charset="-120"/>
              </a:rPr>
              <a:t>Yangi harorat eskisidan to’g’ridan-to’g’ri.</a:t>
            </a:r>
            <a:endParaRPr lang="en-US" sz="1300" dirty="0"/>
          </a:p>
        </p:txBody>
      </p:sp>
      <p:sp>
        <p:nvSpPr>
          <p:cNvPr id="12" name="Text 8"/>
          <p:cNvSpPr txBox="1"/>
          <p:nvPr/>
        </p:nvSpPr>
        <p:spPr>
          <a:xfrm>
            <a:off x="749808" y="5486400"/>
            <a:ext cx="3200400" cy="594360"/>
          </a:xfrm>
          <a:prstGeom prst="rect">
            <a:avLst/>
          </a:prstGeom>
          <a:noFill/>
          <a:ln/>
        </p:spPr>
        <p:txBody>
          <a:bodyPr wrap="square" lIns="0" tIns="0" rIns="0" bIns="0" rtlCol="0" anchor="t"/>
          <a:lstStyle/>
          <a:p>
            <a:pPr indent="0" marL="0">
              <a:buNone/>
            </a:pPr>
            <a:r>
              <a:rPr lang="en-US" sz="1400" b="1" dirty="0">
                <a:solidFill>
                  <a:srgbClr val="B3261E"/>
                </a:solidFill>
                <a:latin typeface="Calibri" pitchFamily="34" charset="0"/>
                <a:ea typeface="Calibri" pitchFamily="34" charset="-122"/>
                <a:cs typeface="Calibri" pitchFamily="34" charset="-120"/>
              </a:rPr>
              <a:t>Tez, oson. Fo ≤ ½ bo’lmasa “portlaydi”.</a:t>
            </a:r>
            <a:endParaRPr lang="en-US" sz="1400" dirty="0"/>
          </a:p>
        </p:txBody>
      </p:sp>
      <p:sp>
        <p:nvSpPr>
          <p:cNvPr id="13" name="Oshkormas"/>
          <p:cNvSpPr/>
          <p:nvPr/>
        </p:nvSpPr>
        <p:spPr>
          <a:xfrm>
            <a:off x="4297680" y="4023360"/>
            <a:ext cx="3593592" cy="2148840"/>
          </a:xfrm>
          <a:prstGeom prst="roundRect">
            <a:avLst>
              <a:gd name="adj" fmla="val 5106"/>
            </a:avLst>
          </a:prstGeom>
          <a:solidFill>
            <a:srgbClr val="F2F5F8"/>
          </a:solidFill>
          <a:ln w="12700">
            <a:solidFill>
              <a:srgbClr val="F2F5F8"/>
            </a:solidFill>
            <a:prstDash val="solid"/>
          </a:ln>
        </p:spPr>
      </p:sp>
      <p:sp>
        <p:nvSpPr>
          <p:cNvPr id="14" name="Text 10"/>
          <p:cNvSpPr txBox="1"/>
          <p:nvPr/>
        </p:nvSpPr>
        <p:spPr>
          <a:xfrm>
            <a:off x="4498848" y="4114800"/>
            <a:ext cx="3200400" cy="365760"/>
          </a:xfrm>
          <a:prstGeom prst="rect">
            <a:avLst/>
          </a:prstGeom>
          <a:noFill/>
          <a:ln/>
        </p:spPr>
        <p:txBody>
          <a:bodyPr wrap="square" lIns="0" tIns="0" rIns="0" bIns="0" rtlCol="0" anchor="t"/>
          <a:lstStyle/>
          <a:p>
            <a:pPr indent="0" marL="0">
              <a:buNone/>
            </a:pPr>
            <a:r>
              <a:rPr lang="en-US" sz="1800" b="1" dirty="0">
                <a:solidFill>
                  <a:srgbClr val="C77F12"/>
                </a:solidFill>
                <a:latin typeface="Calibri" pitchFamily="34" charset="0"/>
                <a:ea typeface="Calibri" pitchFamily="34" charset="-122"/>
                <a:cs typeface="Calibri" pitchFamily="34" charset="-120"/>
              </a:rPr>
              <a:t>Oshkormas</a:t>
            </a:r>
            <a:endParaRPr lang="en-US" sz="1800" dirty="0"/>
          </a:p>
        </p:txBody>
      </p:sp>
      <p:pic>
        <p:nvPicPr>
          <p:cNvPr id="15" name="Oshkormas formulasi" descr="Oshkormas formulasi">    </p:cNvPr>
          <p:cNvPicPr>
            <a:picLocks noChangeAspect="1"/>
          </p:cNvPicPr>
          <p:nvPr/>
        </p:nvPicPr>
        <p:blipFill>
          <a:blip r:embed="rId4"/>
          <a:stretch>
            <a:fillRect/>
          </a:stretch>
        </p:blipFill>
        <p:spPr>
          <a:xfrm>
            <a:off x="4498848" y="4526280"/>
            <a:ext cx="3200400" cy="273401"/>
          </a:xfrm>
          <a:prstGeom prst="rect">
            <a:avLst/>
          </a:prstGeom>
        </p:spPr>
      </p:pic>
      <p:sp>
        <p:nvSpPr>
          <p:cNvPr id="16" name="Text 11"/>
          <p:cNvSpPr txBox="1"/>
          <p:nvPr/>
        </p:nvSpPr>
        <p:spPr>
          <a:xfrm>
            <a:off x="4498848" y="4983480"/>
            <a:ext cx="3200400" cy="502920"/>
          </a:xfrm>
          <a:prstGeom prst="rect">
            <a:avLst/>
          </a:prstGeom>
          <a:noFill/>
          <a:ln/>
        </p:spPr>
        <p:txBody>
          <a:bodyPr wrap="square" lIns="0" tIns="0" rIns="0" bIns="0" rtlCol="0" anchor="t"/>
          <a:lstStyle/>
          <a:p>
            <a:pPr indent="0" marL="0">
              <a:buNone/>
            </a:pPr>
            <a:r>
              <a:rPr lang="en-US" sz="1300" dirty="0">
                <a:solidFill>
                  <a:srgbClr val="56657A"/>
                </a:solidFill>
                <a:latin typeface="Calibri" pitchFamily="34" charset="0"/>
                <a:ea typeface="Calibri" pitchFamily="34" charset="-122"/>
                <a:cs typeface="Calibri" pitchFamily="34" charset="-120"/>
              </a:rPr>
              <a:t>Har bir nuqta uchun tenglama – hammasi birga yechiladi.</a:t>
            </a:r>
            <a:endParaRPr lang="en-US" sz="1300" dirty="0"/>
          </a:p>
        </p:txBody>
      </p:sp>
      <p:sp>
        <p:nvSpPr>
          <p:cNvPr id="17" name="Text 12"/>
          <p:cNvSpPr txBox="1"/>
          <p:nvPr/>
        </p:nvSpPr>
        <p:spPr>
          <a:xfrm>
            <a:off x="4498848" y="5486400"/>
            <a:ext cx="3200400" cy="594360"/>
          </a:xfrm>
          <a:prstGeom prst="rect">
            <a:avLst/>
          </a:prstGeom>
          <a:noFill/>
          <a:ln/>
        </p:spPr>
        <p:txBody>
          <a:bodyPr wrap="square" lIns="0" tIns="0" rIns="0" bIns="0" rtlCol="0" anchor="t"/>
          <a:lstStyle/>
          <a:p>
            <a:pPr indent="0" marL="0">
              <a:buNone/>
            </a:pPr>
            <a:r>
              <a:rPr lang="en-US" sz="1400" b="1" dirty="0">
                <a:solidFill>
                  <a:srgbClr val="C77F12"/>
                </a:solidFill>
                <a:latin typeface="Calibri" pitchFamily="34" charset="0"/>
                <a:ea typeface="Calibri" pitchFamily="34" charset="-122"/>
                <a:cs typeface="Calibri" pitchFamily="34" charset="-120"/>
              </a:rPr>
              <a:t>Har doim turg’un, lekin xato kattaroq.</a:t>
            </a:r>
            <a:endParaRPr lang="en-US" sz="1400" dirty="0"/>
          </a:p>
        </p:txBody>
      </p:sp>
      <p:sp>
        <p:nvSpPr>
          <p:cNvPr id="18" name="Krank–Nikolson"/>
          <p:cNvSpPr/>
          <p:nvPr/>
        </p:nvSpPr>
        <p:spPr>
          <a:xfrm>
            <a:off x="8046720" y="4023360"/>
            <a:ext cx="3593592" cy="2148840"/>
          </a:xfrm>
          <a:prstGeom prst="roundRect">
            <a:avLst>
              <a:gd name="adj" fmla="val 5106"/>
            </a:avLst>
          </a:prstGeom>
          <a:solidFill>
            <a:srgbClr val="F2F5F8"/>
          </a:solidFill>
          <a:ln w="12700">
            <a:solidFill>
              <a:srgbClr val="F2F5F8"/>
            </a:solidFill>
            <a:prstDash val="solid"/>
          </a:ln>
        </p:spPr>
      </p:sp>
      <p:sp>
        <p:nvSpPr>
          <p:cNvPr id="19" name="Text 14"/>
          <p:cNvSpPr txBox="1"/>
          <p:nvPr/>
        </p:nvSpPr>
        <p:spPr>
          <a:xfrm>
            <a:off x="8247888" y="4114800"/>
            <a:ext cx="3200400" cy="365760"/>
          </a:xfrm>
          <a:prstGeom prst="rect">
            <a:avLst/>
          </a:prstGeom>
          <a:noFill/>
          <a:ln/>
        </p:spPr>
        <p:txBody>
          <a:bodyPr wrap="square" lIns="0" tIns="0" rIns="0" bIns="0" rtlCol="0" anchor="t"/>
          <a:lstStyle/>
          <a:p>
            <a:pPr indent="0" marL="0">
              <a:buNone/>
            </a:pPr>
            <a:r>
              <a:rPr lang="en-US" sz="1800" b="1" dirty="0">
                <a:solidFill>
                  <a:srgbClr val="1F7A4A"/>
                </a:solidFill>
                <a:latin typeface="Calibri" pitchFamily="34" charset="0"/>
                <a:ea typeface="Calibri" pitchFamily="34" charset="-122"/>
                <a:cs typeface="Calibri" pitchFamily="34" charset="-120"/>
              </a:rPr>
              <a:t>Krank–Nikolson</a:t>
            </a:r>
            <a:endParaRPr lang="en-US" sz="1800" dirty="0"/>
          </a:p>
        </p:txBody>
      </p:sp>
      <p:sp>
        <p:nvSpPr>
          <p:cNvPr id="20" name="Text 15"/>
          <p:cNvSpPr txBox="1"/>
          <p:nvPr/>
        </p:nvSpPr>
        <p:spPr>
          <a:xfrm>
            <a:off x="8247888" y="4983480"/>
            <a:ext cx="3200400" cy="502920"/>
          </a:xfrm>
          <a:prstGeom prst="rect">
            <a:avLst/>
          </a:prstGeom>
          <a:noFill/>
          <a:ln/>
        </p:spPr>
        <p:txBody>
          <a:bodyPr wrap="square" lIns="0" tIns="0" rIns="0" bIns="0" rtlCol="0" anchor="t"/>
          <a:lstStyle/>
          <a:p>
            <a:pPr indent="0" marL="0">
              <a:buNone/>
            </a:pPr>
            <a:r>
              <a:rPr lang="en-US" sz="1300" dirty="0">
                <a:solidFill>
                  <a:srgbClr val="56657A"/>
                </a:solidFill>
                <a:latin typeface="Calibri" pitchFamily="34" charset="0"/>
                <a:ea typeface="Calibri" pitchFamily="34" charset="-122"/>
                <a:cs typeface="Calibri" pitchFamily="34" charset="-120"/>
              </a:rPr>
              <a:t>Oshkor va oshkormasning o’rtachasi.</a:t>
            </a:r>
            <a:endParaRPr lang="en-US" sz="1300" dirty="0"/>
          </a:p>
        </p:txBody>
      </p:sp>
      <p:sp>
        <p:nvSpPr>
          <p:cNvPr id="21" name="Text 16"/>
          <p:cNvSpPr txBox="1"/>
          <p:nvPr/>
        </p:nvSpPr>
        <p:spPr>
          <a:xfrm>
            <a:off x="8247888" y="5486400"/>
            <a:ext cx="3200400" cy="594360"/>
          </a:xfrm>
          <a:prstGeom prst="rect">
            <a:avLst/>
          </a:prstGeom>
          <a:noFill/>
          <a:ln/>
        </p:spPr>
        <p:txBody>
          <a:bodyPr wrap="square" lIns="0" tIns="0" rIns="0" bIns="0" rtlCol="0" anchor="t"/>
          <a:lstStyle/>
          <a:p>
            <a:pPr indent="0" marL="0">
              <a:buNone/>
            </a:pPr>
            <a:r>
              <a:rPr lang="en-US" sz="1400" b="1" dirty="0">
                <a:solidFill>
                  <a:srgbClr val="1F7A4A"/>
                </a:solidFill>
                <a:latin typeface="Calibri" pitchFamily="34" charset="0"/>
                <a:ea typeface="Calibri" pitchFamily="34" charset="-122"/>
                <a:cs typeface="Calibri" pitchFamily="34" charset="-120"/>
              </a:rPr>
              <a:t>Turg’un va ikkinchi tartibli aniq.</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Sistemani yechish: haydash, Zeydel, SOR</a:t>
            </a:r>
            <a:endParaRPr lang="en-US" sz="3200" dirty="0"/>
          </a:p>
        </p:txBody>
      </p:sp>
      <p:sp>
        <p:nvSpPr>
          <p:cNvPr id="3" name="Text 1">
            <a:hlinkClick r:id="rId1" tooltip=""/>
          </p:cNvPr>
          <p:cNvSpPr txBox="1"/>
          <p:nvPr/>
        </p:nvSpPr>
        <p:spPr>
          <a:xfrm>
            <a:off x="548640" y="6419088"/>
            <a:ext cx="5486400" cy="274320"/>
          </a:xfrm>
          <a:prstGeom prst="rect">
            <a:avLst/>
          </a:prstGeom>
          <a:noFill/>
          <a:ln/>
        </p:spPr>
        <p:txBody>
          <a:bodyPr wrap="square" lIns="0" tIns="0" rIns="0" bIns="0" rtlCol="0" anchor="t"/>
          <a:lstStyle/>
          <a:p>
            <a:pPr indent="0" marL="0">
              <a:buNone/>
            </a:pPr>
            <a:r>
              <a:rPr lang="en-US" sz="1100" u="sng" dirty="0">
                <a:solidFill>
                  <a:srgbClr val="1F5FA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ulugbekkamalov0829-web.github.io/termolab</a:t>
            </a:r>
            <a:endParaRPr lang="en-US" sz="1100" dirty="0"/>
          </a:p>
        </p:txBody>
      </p:sp>
      <p:sp>
        <p:nvSpPr>
          <p:cNvPr id="4" name="Text 2"/>
          <p:cNvSpPr txBox="1"/>
          <p:nvPr/>
        </p:nvSpPr>
        <p:spPr>
          <a:xfrm>
            <a:off x="548640" y="1188720"/>
            <a:ext cx="11064240" cy="411480"/>
          </a:xfrm>
          <a:prstGeom prst="rect">
            <a:avLst/>
          </a:prstGeom>
          <a:noFill/>
          <a:ln/>
        </p:spPr>
        <p:txBody>
          <a:bodyPr wrap="square" lIns="0" tIns="0" rIns="0" bIns="0" rtlCol="0" anchor="t"/>
          <a:lstStyle/>
          <a:p>
            <a:pPr indent="0" marL="0">
              <a:buNone/>
            </a:pPr>
            <a:r>
              <a:rPr lang="en-US" sz="1600" dirty="0">
                <a:solidFill>
                  <a:srgbClr val="56657A"/>
                </a:solidFill>
                <a:latin typeface="Calibri" pitchFamily="34" charset="0"/>
                <a:ea typeface="Calibri" pitchFamily="34" charset="-122"/>
                <a:cs typeface="Calibri" pitchFamily="34" charset="-120"/>
              </a:rPr>
              <a:t>Oshkormas va Krank–Nikolson sxemalarida har qadamda N ta noma’lumli uch diagonalli sistema chiqadi:</a:t>
            </a:r>
            <a:endParaRPr lang="en-US" sz="1600" dirty="0"/>
          </a:p>
        </p:txBody>
      </p:sp>
      <p:sp>
        <p:nvSpPr>
          <p:cNvPr id="5" name="Zeydel iteratsiyasi"/>
          <p:cNvSpPr/>
          <p:nvPr/>
        </p:nvSpPr>
        <p:spPr>
          <a:xfrm>
            <a:off x="548640" y="1783080"/>
            <a:ext cx="3593592" cy="2651760"/>
          </a:xfrm>
          <a:prstGeom prst="roundRect">
            <a:avLst>
              <a:gd name="adj" fmla="val 4138"/>
            </a:avLst>
          </a:prstGeom>
          <a:solidFill>
            <a:srgbClr val="F2F5F8"/>
          </a:solidFill>
          <a:ln w="12700">
            <a:solidFill>
              <a:srgbClr val="F2F5F8"/>
            </a:solidFill>
            <a:prstDash val="solid"/>
          </a:ln>
        </p:spPr>
      </p:sp>
      <p:sp>
        <p:nvSpPr>
          <p:cNvPr id="6" name="Text 4"/>
          <p:cNvSpPr txBox="1"/>
          <p:nvPr/>
        </p:nvSpPr>
        <p:spPr>
          <a:xfrm>
            <a:off x="749808" y="1920240"/>
            <a:ext cx="3200400" cy="411480"/>
          </a:xfrm>
          <a:prstGeom prst="rect">
            <a:avLst/>
          </a:prstGeom>
          <a:noFill/>
          <a:ln/>
        </p:spPr>
        <p:txBody>
          <a:bodyPr wrap="square" lIns="0" tIns="0" rIns="0" bIns="0" rtlCol="0" anchor="t"/>
          <a:lstStyle/>
          <a:p>
            <a:pPr indent="0" marL="0">
              <a:buNone/>
            </a:pPr>
            <a:r>
              <a:rPr lang="en-US" sz="1900" b="1" dirty="0">
                <a:solidFill>
                  <a:srgbClr val="C77F12"/>
                </a:solidFill>
                <a:latin typeface="Calibri" pitchFamily="34" charset="0"/>
                <a:ea typeface="Calibri" pitchFamily="34" charset="-122"/>
                <a:cs typeface="Calibri" pitchFamily="34" charset="-120"/>
              </a:rPr>
              <a:t>Zeydel iteratsiyasi</a:t>
            </a:r>
            <a:endParaRPr lang="en-US" sz="1900" dirty="0"/>
          </a:p>
        </p:txBody>
      </p:sp>
      <p:sp>
        <p:nvSpPr>
          <p:cNvPr id="7" name="Text 5"/>
          <p:cNvSpPr txBox="1"/>
          <p:nvPr/>
        </p:nvSpPr>
        <p:spPr>
          <a:xfrm>
            <a:off x="749808" y="2468880"/>
            <a:ext cx="3200400" cy="1097280"/>
          </a:xfrm>
          <a:prstGeom prst="rect">
            <a:avLst/>
          </a:prstGeom>
          <a:noFill/>
          <a:ln/>
        </p:spPr>
        <p:txBody>
          <a:bodyPr wrap="square" lIns="0" tIns="0" rIns="0" bIns="0" rtlCol="0" anchor="t"/>
          <a:lstStyle/>
          <a:p>
            <a:pPr indent="0" marL="0">
              <a:buNone/>
            </a:pPr>
            <a:r>
              <a:rPr lang="en-US" sz="1500" dirty="0">
                <a:solidFill>
                  <a:srgbClr val="16212E"/>
                </a:solidFill>
                <a:latin typeface="Calibri" pitchFamily="34" charset="0"/>
                <a:ea typeface="Calibri" pitchFamily="34" charset="-122"/>
                <a:cs typeface="Calibri" pitchFamily="34" charset="-120"/>
              </a:rPr>
              <a:t>Taxminiy javobdan boshlab, uni qayta-qayta yaxshilaydi, to’xtash shartigacha.</a:t>
            </a:r>
            <a:endParaRPr lang="en-US" sz="1500" dirty="0"/>
          </a:p>
        </p:txBody>
      </p:sp>
      <p:sp>
        <p:nvSpPr>
          <p:cNvPr id="8" name="Text 6"/>
          <p:cNvSpPr txBox="1"/>
          <p:nvPr/>
        </p:nvSpPr>
        <p:spPr>
          <a:xfrm>
            <a:off x="749808" y="3611880"/>
            <a:ext cx="3200400" cy="731520"/>
          </a:xfrm>
          <a:prstGeom prst="rect">
            <a:avLst/>
          </a:prstGeom>
          <a:noFill/>
          <a:ln/>
        </p:spPr>
        <p:txBody>
          <a:bodyPr wrap="square" lIns="0" tIns="0" rIns="0" bIns="0" rtlCol="0" anchor="t"/>
          <a:lstStyle/>
          <a:p>
            <a:pPr indent="0" marL="0">
              <a:buNone/>
            </a:pPr>
            <a:r>
              <a:rPr lang="en-US" sz="1500" b="1" dirty="0">
                <a:solidFill>
                  <a:srgbClr val="C77F12"/>
                </a:solidFill>
                <a:latin typeface="Calibri" pitchFamily="34" charset="0"/>
                <a:ea typeface="Calibri" pitchFamily="34" charset="-122"/>
                <a:cs typeface="Calibri" pitchFamily="34" charset="-120"/>
              </a:rPr>
              <a:t>Oddiy, lekin yuzlab iteratsiya – sekin.</a:t>
            </a:r>
            <a:endParaRPr lang="en-US" sz="1500" dirty="0"/>
          </a:p>
        </p:txBody>
      </p:sp>
      <p:sp>
        <p:nvSpPr>
          <p:cNvPr id="9" name="SOR (ω optimal)"/>
          <p:cNvSpPr/>
          <p:nvPr/>
        </p:nvSpPr>
        <p:spPr>
          <a:xfrm>
            <a:off x="4297680" y="1783080"/>
            <a:ext cx="3593592" cy="2651760"/>
          </a:xfrm>
          <a:prstGeom prst="roundRect">
            <a:avLst>
              <a:gd name="adj" fmla="val 4138"/>
            </a:avLst>
          </a:prstGeom>
          <a:solidFill>
            <a:srgbClr val="F2F5F8"/>
          </a:solidFill>
          <a:ln w="12700">
            <a:solidFill>
              <a:srgbClr val="F2F5F8"/>
            </a:solidFill>
            <a:prstDash val="solid"/>
          </a:ln>
        </p:spPr>
      </p:sp>
      <p:sp>
        <p:nvSpPr>
          <p:cNvPr id="10" name="Text 8"/>
          <p:cNvSpPr txBox="1"/>
          <p:nvPr/>
        </p:nvSpPr>
        <p:spPr>
          <a:xfrm>
            <a:off x="4498848" y="1920240"/>
            <a:ext cx="3200400" cy="411480"/>
          </a:xfrm>
          <a:prstGeom prst="rect">
            <a:avLst/>
          </a:prstGeom>
          <a:noFill/>
          <a:ln/>
        </p:spPr>
        <p:txBody>
          <a:bodyPr wrap="square" lIns="0" tIns="0" rIns="0" bIns="0" rtlCol="0" anchor="t"/>
          <a:lstStyle/>
          <a:p>
            <a:pPr indent="0" marL="0">
              <a:buNone/>
            </a:pPr>
            <a:r>
              <a:rPr lang="en-US" sz="1900" b="1" dirty="0">
                <a:solidFill>
                  <a:srgbClr val="C77F12"/>
                </a:solidFill>
                <a:latin typeface="Calibri" pitchFamily="34" charset="0"/>
                <a:ea typeface="Calibri" pitchFamily="34" charset="-122"/>
                <a:cs typeface="Calibri" pitchFamily="34" charset="-120"/>
              </a:rPr>
              <a:t>SOR (ω optimal)</a:t>
            </a:r>
            <a:endParaRPr lang="en-US" sz="1900" dirty="0"/>
          </a:p>
        </p:txBody>
      </p:sp>
      <p:sp>
        <p:nvSpPr>
          <p:cNvPr id="11" name="Text 9"/>
          <p:cNvSpPr txBox="1"/>
          <p:nvPr/>
        </p:nvSpPr>
        <p:spPr>
          <a:xfrm>
            <a:off x="4498848" y="2468880"/>
            <a:ext cx="3200400" cy="1097280"/>
          </a:xfrm>
          <a:prstGeom prst="rect">
            <a:avLst/>
          </a:prstGeom>
          <a:noFill/>
          <a:ln/>
        </p:spPr>
        <p:txBody>
          <a:bodyPr wrap="square" lIns="0" tIns="0" rIns="0" bIns="0" rtlCol="0" anchor="t"/>
          <a:lstStyle/>
          <a:p>
            <a:pPr indent="0" marL="0">
              <a:buNone/>
            </a:pPr>
            <a:r>
              <a:rPr lang="en-US" sz="1500" dirty="0">
                <a:solidFill>
                  <a:srgbClr val="16212E"/>
                </a:solidFill>
                <a:latin typeface="Calibri" pitchFamily="34" charset="0"/>
                <a:ea typeface="Calibri" pitchFamily="34" charset="-122"/>
                <a:cs typeface="Calibri" pitchFamily="34" charset="-120"/>
              </a:rPr>
              <a:t>Zeydeldan har qadamda “oshirib” siljiydi: ω = 2/(1+sin πh).</a:t>
            </a:r>
            <a:endParaRPr lang="en-US" sz="1500" dirty="0"/>
          </a:p>
        </p:txBody>
      </p:sp>
      <p:sp>
        <p:nvSpPr>
          <p:cNvPr id="12" name="Text 10"/>
          <p:cNvSpPr txBox="1"/>
          <p:nvPr/>
        </p:nvSpPr>
        <p:spPr>
          <a:xfrm>
            <a:off x="4498848" y="3611880"/>
            <a:ext cx="3200400" cy="731520"/>
          </a:xfrm>
          <a:prstGeom prst="rect">
            <a:avLst/>
          </a:prstGeom>
          <a:noFill/>
          <a:ln/>
        </p:spPr>
        <p:txBody>
          <a:bodyPr wrap="square" lIns="0" tIns="0" rIns="0" bIns="0" rtlCol="0" anchor="t"/>
          <a:lstStyle/>
          <a:p>
            <a:pPr indent="0" marL="0">
              <a:buNone/>
            </a:pPr>
            <a:r>
              <a:rPr lang="en-US" sz="1500" b="1" dirty="0">
                <a:solidFill>
                  <a:srgbClr val="C77F12"/>
                </a:solidFill>
                <a:latin typeface="Calibri" pitchFamily="34" charset="0"/>
                <a:ea typeface="Calibri" pitchFamily="34" charset="-122"/>
                <a:cs typeface="Calibri" pitchFamily="34" charset="-120"/>
              </a:rPr>
              <a:t>Zeydeldan tezroq, lekin baribir iteratsiya.</a:t>
            </a:r>
            <a:endParaRPr lang="en-US" sz="1500" dirty="0"/>
          </a:p>
        </p:txBody>
      </p:sp>
      <p:sp>
        <p:nvSpPr>
          <p:cNvPr id="13" name="Haydash (Thomas)"/>
          <p:cNvSpPr/>
          <p:nvPr/>
        </p:nvSpPr>
        <p:spPr>
          <a:xfrm>
            <a:off x="8046720" y="1783080"/>
            <a:ext cx="3593592" cy="2651760"/>
          </a:xfrm>
          <a:prstGeom prst="roundRect">
            <a:avLst>
              <a:gd name="adj" fmla="val 4138"/>
            </a:avLst>
          </a:prstGeom>
          <a:solidFill>
            <a:srgbClr val="F2F5F8"/>
          </a:solidFill>
          <a:ln w="12700">
            <a:solidFill>
              <a:srgbClr val="F2F5F8"/>
            </a:solidFill>
            <a:prstDash val="solid"/>
          </a:ln>
        </p:spPr>
      </p:sp>
      <p:sp>
        <p:nvSpPr>
          <p:cNvPr id="14" name="Text 12"/>
          <p:cNvSpPr txBox="1"/>
          <p:nvPr/>
        </p:nvSpPr>
        <p:spPr>
          <a:xfrm>
            <a:off x="8247888" y="1920240"/>
            <a:ext cx="3200400" cy="411480"/>
          </a:xfrm>
          <a:prstGeom prst="rect">
            <a:avLst/>
          </a:prstGeom>
          <a:noFill/>
          <a:ln/>
        </p:spPr>
        <p:txBody>
          <a:bodyPr wrap="square" lIns="0" tIns="0" rIns="0" bIns="0" rtlCol="0" anchor="t"/>
          <a:lstStyle/>
          <a:p>
            <a:pPr indent="0" marL="0">
              <a:buNone/>
            </a:pPr>
            <a:r>
              <a:rPr lang="en-US" sz="1900" b="1" dirty="0">
                <a:solidFill>
                  <a:srgbClr val="1F7A4A"/>
                </a:solidFill>
                <a:latin typeface="Calibri" pitchFamily="34" charset="0"/>
                <a:ea typeface="Calibri" pitchFamily="34" charset="-122"/>
                <a:cs typeface="Calibri" pitchFamily="34" charset="-120"/>
              </a:rPr>
              <a:t>Haydash (Thomas)</a:t>
            </a:r>
            <a:endParaRPr lang="en-US" sz="1900" dirty="0"/>
          </a:p>
        </p:txBody>
      </p:sp>
      <p:sp>
        <p:nvSpPr>
          <p:cNvPr id="15" name="Text 13"/>
          <p:cNvSpPr txBox="1"/>
          <p:nvPr/>
        </p:nvSpPr>
        <p:spPr>
          <a:xfrm>
            <a:off x="8247888" y="2468880"/>
            <a:ext cx="3200400" cy="1097280"/>
          </a:xfrm>
          <a:prstGeom prst="rect">
            <a:avLst/>
          </a:prstGeom>
          <a:noFill/>
          <a:ln/>
        </p:spPr>
        <p:txBody>
          <a:bodyPr wrap="square" lIns="0" tIns="0" rIns="0" bIns="0" rtlCol="0" anchor="t"/>
          <a:lstStyle/>
          <a:p>
            <a:pPr indent="0" marL="0">
              <a:buNone/>
            </a:pPr>
            <a:r>
              <a:rPr lang="en-US" sz="1500" dirty="0">
                <a:solidFill>
                  <a:srgbClr val="16212E"/>
                </a:solidFill>
                <a:latin typeface="Calibri" pitchFamily="34" charset="0"/>
                <a:ea typeface="Calibri" pitchFamily="34" charset="-122"/>
                <a:cs typeface="Calibri" pitchFamily="34" charset="-120"/>
              </a:rPr>
              <a:t>Sistemani oldinga bir o’tish va orqaga bir o’tishda to’g’ridan-to’g’ri yechadi.</a:t>
            </a:r>
            <a:endParaRPr lang="en-US" sz="1500" dirty="0"/>
          </a:p>
        </p:txBody>
      </p:sp>
      <p:sp>
        <p:nvSpPr>
          <p:cNvPr id="16" name="Text 14"/>
          <p:cNvSpPr txBox="1"/>
          <p:nvPr/>
        </p:nvSpPr>
        <p:spPr>
          <a:xfrm>
            <a:off x="8247888" y="3611880"/>
            <a:ext cx="3200400" cy="731520"/>
          </a:xfrm>
          <a:prstGeom prst="rect">
            <a:avLst/>
          </a:prstGeom>
          <a:noFill/>
          <a:ln/>
        </p:spPr>
        <p:txBody>
          <a:bodyPr wrap="square" lIns="0" tIns="0" rIns="0" bIns="0" rtlCol="0" anchor="t"/>
          <a:lstStyle/>
          <a:p>
            <a:pPr indent="0" marL="0">
              <a:buNone/>
            </a:pPr>
            <a:r>
              <a:rPr lang="en-US" sz="1500" b="1" dirty="0">
                <a:solidFill>
                  <a:srgbClr val="1F7A4A"/>
                </a:solidFill>
                <a:latin typeface="Calibri" pitchFamily="34" charset="0"/>
                <a:ea typeface="Calibri" pitchFamily="34" charset="-122"/>
                <a:cs typeface="Calibri" pitchFamily="34" charset="-120"/>
              </a:rPr>
              <a:t>Iteratsiyasiz, N ta amal – eng tez va aniq.</a:t>
            </a:r>
            <a:endParaRPr lang="en-US" sz="1500" dirty="0"/>
          </a:p>
        </p:txBody>
      </p:sp>
      <p:sp>
        <p:nvSpPr>
          <p:cNvPr id="17" name="Haydash formulasi"/>
          <p:cNvSpPr/>
          <p:nvPr/>
        </p:nvSpPr>
        <p:spPr>
          <a:xfrm>
            <a:off x="548640" y="4663440"/>
            <a:ext cx="11091672" cy="1463040"/>
          </a:xfrm>
          <a:prstGeom prst="roundRect">
            <a:avLst>
              <a:gd name="adj" fmla="val 7500"/>
            </a:avLst>
          </a:prstGeom>
          <a:solidFill>
            <a:srgbClr val="E8F0FA"/>
          </a:solidFill>
          <a:ln w="12700">
            <a:solidFill>
              <a:srgbClr val="E8F0FA"/>
            </a:solidFill>
            <a:prstDash val="solid"/>
          </a:ln>
        </p:spPr>
      </p:sp>
      <p:sp>
        <p:nvSpPr>
          <p:cNvPr id="18" name="Text 16"/>
          <p:cNvSpPr txBox="1"/>
          <p:nvPr/>
        </p:nvSpPr>
        <p:spPr>
          <a:xfrm>
            <a:off x="777240" y="4773168"/>
            <a:ext cx="7315200" cy="274320"/>
          </a:xfrm>
          <a:prstGeom prst="rect">
            <a:avLst/>
          </a:prstGeom>
          <a:noFill/>
          <a:ln/>
        </p:spPr>
        <p:txBody>
          <a:bodyPr wrap="square" lIns="0" tIns="0" rIns="0" bIns="0" rtlCol="0" anchor="t"/>
          <a:lstStyle/>
          <a:p>
            <a:pPr indent="0" marL="0">
              <a:buNone/>
            </a:pPr>
            <a:r>
              <a:rPr lang="en-US" sz="1200" b="1" spc="100" kern="0" dirty="0">
                <a:solidFill>
                  <a:srgbClr val="1F5FA8"/>
                </a:solidFill>
                <a:latin typeface="Calibri" pitchFamily="34" charset="0"/>
                <a:ea typeface="Calibri" pitchFamily="34" charset="-122"/>
                <a:cs typeface="Calibri" pitchFamily="34" charset="-120"/>
              </a:rPr>
              <a:t>HAYDASH USULI: SISTEMA BIR O’TISHDA</a:t>
            </a:r>
            <a:endParaRPr lang="en-US" sz="1200" dirty="0"/>
          </a:p>
        </p:txBody>
      </p:sp>
      <p:pic>
        <p:nvPicPr>
          <p:cNvPr id="19" name="Haydash formulasi" descr="Haydash formulasi">    </p:cNvPr>
          <p:cNvPicPr>
            <a:picLocks noChangeAspect="1"/>
          </p:cNvPicPr>
          <p:nvPr/>
        </p:nvPicPr>
        <p:blipFill>
          <a:blip r:embed="rId2"/>
          <a:stretch>
            <a:fillRect/>
          </a:stretch>
        </p:blipFill>
        <p:spPr>
          <a:xfrm>
            <a:off x="777240" y="5166360"/>
            <a:ext cx="9601200" cy="552057"/>
          </a:xfrm>
          <a:prstGeom prst="rect">
            <a:avLst/>
          </a:prstGeom>
        </p:spPr>
      </p:pic>
      <p:sp>
        <p:nvSpPr>
          <p:cNvPr id="20" name="Text 17"/>
          <p:cNvSpPr txBox="1"/>
          <p:nvPr/>
        </p:nvSpPr>
        <p:spPr>
          <a:xfrm>
            <a:off x="777240" y="5806440"/>
            <a:ext cx="10607040" cy="27432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Natija – 6 ta usul: 3 sxema × 2 yechish usuli. Ularni bitta masalada sinaymiz.</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Sterjendan keyin: plastinka va murakkab jismlar</a:t>
            </a:r>
            <a:endParaRPr lang="en-US" sz="3200" dirty="0"/>
          </a:p>
        </p:txBody>
      </p:sp>
      <p:sp>
        <p:nvSpPr>
          <p:cNvPr id="3" name="Text 1">
            <a:hlinkClick r:id="rId1" tooltip=""/>
          </p:cNvPr>
          <p:cNvSpPr txBox="1"/>
          <p:nvPr/>
        </p:nvSpPr>
        <p:spPr>
          <a:xfrm>
            <a:off x="548640" y="6419088"/>
            <a:ext cx="5486400" cy="274320"/>
          </a:xfrm>
          <a:prstGeom prst="rect">
            <a:avLst/>
          </a:prstGeom>
          <a:noFill/>
          <a:ln/>
        </p:spPr>
        <p:txBody>
          <a:bodyPr wrap="square" lIns="0" tIns="0" rIns="0" bIns="0" rtlCol="0" anchor="t"/>
          <a:lstStyle/>
          <a:p>
            <a:pPr indent="0" marL="0">
              <a:buNone/>
            </a:pPr>
            <a:r>
              <a:rPr lang="en-US" sz="1100" u="sng" dirty="0">
                <a:solidFill>
                  <a:srgbClr val="1F5FA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ulugbekkamalov0829-web.github.io/termolab</a:t>
            </a:r>
            <a:endParaRPr lang="en-US" sz="1100" dirty="0"/>
          </a:p>
        </p:txBody>
      </p:sp>
      <p:sp>
        <p:nvSpPr>
          <p:cNvPr id="4" name="2D plastinka: ADI usuli"/>
          <p:cNvSpPr/>
          <p:nvPr/>
        </p:nvSpPr>
        <p:spPr>
          <a:xfrm>
            <a:off x="548640" y="1325880"/>
            <a:ext cx="5468112" cy="1938528"/>
          </a:xfrm>
          <a:prstGeom prst="roundRect">
            <a:avLst>
              <a:gd name="adj" fmla="val 5660"/>
            </a:avLst>
          </a:prstGeom>
          <a:solidFill>
            <a:srgbClr val="F2F5F8"/>
          </a:solidFill>
          <a:ln w="12700">
            <a:solidFill>
              <a:srgbClr val="F2F5F8"/>
            </a:solidFill>
            <a:prstDash val="solid"/>
          </a:ln>
        </p:spPr>
      </p:sp>
      <p:sp>
        <p:nvSpPr>
          <p:cNvPr id="5" name="Text 3"/>
          <p:cNvSpPr txBox="1"/>
          <p:nvPr/>
        </p:nvSpPr>
        <p:spPr>
          <a:xfrm>
            <a:off x="777240" y="1463040"/>
            <a:ext cx="5029200" cy="365760"/>
          </a:xfrm>
          <a:prstGeom prst="rect">
            <a:avLst/>
          </a:prstGeom>
          <a:noFill/>
          <a:ln/>
        </p:spPr>
        <p:txBody>
          <a:bodyPr wrap="square" lIns="0" tIns="0" rIns="0" bIns="0" rtlCol="0" anchor="t"/>
          <a:lstStyle/>
          <a:p>
            <a:pPr indent="0" marL="0">
              <a:buNone/>
            </a:pPr>
            <a:r>
              <a:rPr lang="en-US" sz="1700" b="1" dirty="0">
                <a:solidFill>
                  <a:srgbClr val="1F5FA8"/>
                </a:solidFill>
                <a:latin typeface="Calibri" pitchFamily="34" charset="0"/>
                <a:ea typeface="Calibri" pitchFamily="34" charset="-122"/>
                <a:cs typeface="Calibri" pitchFamily="34" charset="-120"/>
              </a:rPr>
              <a:t>2D plastinka: ADI usuli</a:t>
            </a:r>
            <a:endParaRPr lang="en-US" sz="1700" dirty="0"/>
          </a:p>
        </p:txBody>
      </p:sp>
      <p:sp>
        <p:nvSpPr>
          <p:cNvPr id="6" name="Text 4"/>
          <p:cNvSpPr txBox="1"/>
          <p:nvPr/>
        </p:nvSpPr>
        <p:spPr>
          <a:xfrm>
            <a:off x="777240" y="1874520"/>
            <a:ext cx="5029200" cy="77724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Har qadam ikki yarim qadamga bo’linadi: avval x, keyin y bo’yicha oshkormas. Katta 2D sistema o’rniga kichik uch diagonalli sistemalar – iteratsiyasiz.</a:t>
            </a:r>
            <a:endParaRPr lang="en-US" sz="1400" dirty="0"/>
          </a:p>
        </p:txBody>
      </p:sp>
      <p:sp>
        <p:nvSpPr>
          <p:cNvPr id="7" name="Text 5"/>
          <p:cNvSpPr txBox="1"/>
          <p:nvPr/>
        </p:nvSpPr>
        <p:spPr>
          <a:xfrm>
            <a:off x="777240" y="2651760"/>
            <a:ext cx="5029200" cy="548640"/>
          </a:xfrm>
          <a:prstGeom prst="rect">
            <a:avLst/>
          </a:prstGeom>
          <a:noFill/>
          <a:ln/>
        </p:spPr>
        <p:txBody>
          <a:bodyPr wrap="square" lIns="0" tIns="0" rIns="0" bIns="0" rtlCol="0" anchor="t"/>
          <a:lstStyle/>
          <a:p>
            <a:pPr indent="0" marL="0">
              <a:buNone/>
            </a:pPr>
            <a:r>
              <a:rPr lang="en-US" sz="1300" i="1" dirty="0">
                <a:solidFill>
                  <a:srgbClr val="56657A"/>
                </a:solidFill>
                <a:latin typeface="Calibri" pitchFamily="34" charset="0"/>
                <a:ea typeface="Calibri" pitchFamily="34" charset="-122"/>
                <a:cs typeface="Calibri" pitchFamily="34" charset="-120"/>
              </a:rPr>
              <a:t>Topilgan muammo: chegaraviy oqim noto’g’ri bo’linsa aniqlik 2-tartibdan 1-tartibga tushadi. Tuzatildi.</a:t>
            </a:r>
            <a:endParaRPr lang="en-US" sz="1300" dirty="0"/>
          </a:p>
        </p:txBody>
      </p:sp>
      <p:sp>
        <p:nvSpPr>
          <p:cNvPr id="8" name="Ko’p qatlamli jismlar"/>
          <p:cNvSpPr/>
          <p:nvPr/>
        </p:nvSpPr>
        <p:spPr>
          <a:xfrm>
            <a:off x="6172200" y="1325880"/>
            <a:ext cx="5468112" cy="1938528"/>
          </a:xfrm>
          <a:prstGeom prst="roundRect">
            <a:avLst>
              <a:gd name="adj" fmla="val 5660"/>
            </a:avLst>
          </a:prstGeom>
          <a:solidFill>
            <a:srgbClr val="F2F5F8"/>
          </a:solidFill>
          <a:ln w="12700">
            <a:solidFill>
              <a:srgbClr val="F2F5F8"/>
            </a:solidFill>
            <a:prstDash val="solid"/>
          </a:ln>
        </p:spPr>
      </p:sp>
      <p:sp>
        <p:nvSpPr>
          <p:cNvPr id="9" name="Text 7"/>
          <p:cNvSpPr txBox="1"/>
          <p:nvPr/>
        </p:nvSpPr>
        <p:spPr>
          <a:xfrm>
            <a:off x="6400800" y="1463040"/>
            <a:ext cx="5029200" cy="365760"/>
          </a:xfrm>
          <a:prstGeom prst="rect">
            <a:avLst/>
          </a:prstGeom>
          <a:noFill/>
          <a:ln/>
        </p:spPr>
        <p:txBody>
          <a:bodyPr wrap="square" lIns="0" tIns="0" rIns="0" bIns="0" rtlCol="0" anchor="t"/>
          <a:lstStyle/>
          <a:p>
            <a:pPr indent="0" marL="0">
              <a:buNone/>
            </a:pPr>
            <a:r>
              <a:rPr lang="en-US" sz="1700" b="1" dirty="0">
                <a:solidFill>
                  <a:srgbClr val="1F7A4A"/>
                </a:solidFill>
                <a:latin typeface="Calibri" pitchFamily="34" charset="0"/>
                <a:ea typeface="Calibri" pitchFamily="34" charset="-122"/>
                <a:cs typeface="Calibri" pitchFamily="34" charset="-120"/>
              </a:rPr>
              <a:t>Ko’p qatlamli jismlar</a:t>
            </a:r>
            <a:endParaRPr lang="en-US" sz="1700" dirty="0"/>
          </a:p>
        </p:txBody>
      </p:sp>
      <p:sp>
        <p:nvSpPr>
          <p:cNvPr id="10" name="Text 8"/>
          <p:cNvSpPr txBox="1"/>
          <p:nvPr/>
        </p:nvSpPr>
        <p:spPr>
          <a:xfrm>
            <a:off x="6400800" y="1874520"/>
            <a:ext cx="5029200" cy="77724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Devor + izolyatsiya, quvur + izolyatsiya. Qatlamlar chegarasida oqim uzluksiz; chekli hajmlar usuli.</a:t>
            </a:r>
            <a:endParaRPr lang="en-US" sz="1400" dirty="0"/>
          </a:p>
        </p:txBody>
      </p:sp>
      <p:sp>
        <p:nvSpPr>
          <p:cNvPr id="11" name="Text 9"/>
          <p:cNvSpPr txBox="1"/>
          <p:nvPr/>
        </p:nvSpPr>
        <p:spPr>
          <a:xfrm>
            <a:off x="6400800" y="2651760"/>
            <a:ext cx="5029200" cy="548640"/>
          </a:xfrm>
          <a:prstGeom prst="rect">
            <a:avLst/>
          </a:prstGeom>
          <a:noFill/>
          <a:ln/>
        </p:spPr>
        <p:txBody>
          <a:bodyPr wrap="square" lIns="0" tIns="0" rIns="0" bIns="0" rtlCol="0" anchor="t"/>
          <a:lstStyle/>
          <a:p>
            <a:pPr indent="0" marL="0">
              <a:buNone/>
            </a:pPr>
            <a:r>
              <a:rPr lang="en-US" sz="1300" i="1" dirty="0">
                <a:solidFill>
                  <a:srgbClr val="56657A"/>
                </a:solidFill>
                <a:latin typeface="Calibri" pitchFamily="34" charset="0"/>
                <a:ea typeface="Calibri" pitchFamily="34" charset="-122"/>
                <a:cs typeface="Calibri" pitchFamily="34" charset="-120"/>
              </a:rPr>
              <a:t>Tekis, silindrik va sferik shakllar bitta kodda.</a:t>
            </a:r>
            <a:endParaRPr lang="en-US" sz="1300" dirty="0"/>
          </a:p>
        </p:txBody>
      </p:sp>
      <p:sp>
        <p:nvSpPr>
          <p:cNvPr id="12" name="Nochiziqli: yong’indagi beton"/>
          <p:cNvSpPr/>
          <p:nvPr/>
        </p:nvSpPr>
        <p:spPr>
          <a:xfrm>
            <a:off x="548640" y="3429000"/>
            <a:ext cx="5468112" cy="1938528"/>
          </a:xfrm>
          <a:prstGeom prst="roundRect">
            <a:avLst>
              <a:gd name="adj" fmla="val 5660"/>
            </a:avLst>
          </a:prstGeom>
          <a:solidFill>
            <a:srgbClr val="F2F5F8"/>
          </a:solidFill>
          <a:ln w="12700">
            <a:solidFill>
              <a:srgbClr val="F2F5F8"/>
            </a:solidFill>
            <a:prstDash val="solid"/>
          </a:ln>
        </p:spPr>
      </p:sp>
      <p:sp>
        <p:nvSpPr>
          <p:cNvPr id="13" name="Text 11"/>
          <p:cNvSpPr txBox="1"/>
          <p:nvPr/>
        </p:nvSpPr>
        <p:spPr>
          <a:xfrm>
            <a:off x="777240" y="3566160"/>
            <a:ext cx="5029200" cy="365760"/>
          </a:xfrm>
          <a:prstGeom prst="rect">
            <a:avLst/>
          </a:prstGeom>
          <a:noFill/>
          <a:ln/>
        </p:spPr>
        <p:txBody>
          <a:bodyPr wrap="square" lIns="0" tIns="0" rIns="0" bIns="0" rtlCol="0" anchor="t"/>
          <a:lstStyle/>
          <a:p>
            <a:pPr indent="0" marL="0">
              <a:buNone/>
            </a:pPr>
            <a:r>
              <a:rPr lang="en-US" sz="1700" b="1" dirty="0">
                <a:solidFill>
                  <a:srgbClr val="B3261E"/>
                </a:solidFill>
                <a:latin typeface="Calibri" pitchFamily="34" charset="0"/>
                <a:ea typeface="Calibri" pitchFamily="34" charset="-122"/>
                <a:cs typeface="Calibri" pitchFamily="34" charset="-120"/>
              </a:rPr>
              <a:t>Nochiziqli: yong’indagi beton</a:t>
            </a:r>
            <a:endParaRPr lang="en-US" sz="1700" dirty="0"/>
          </a:p>
        </p:txBody>
      </p:sp>
      <p:sp>
        <p:nvSpPr>
          <p:cNvPr id="14" name="Text 12"/>
          <p:cNvSpPr txBox="1"/>
          <p:nvPr/>
        </p:nvSpPr>
        <p:spPr>
          <a:xfrm>
            <a:off x="777240" y="3977640"/>
            <a:ext cx="5029200" cy="77724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λ(T), c(T), ρ(T) Yevrokod 2 bo’yicha; olovdan nurlanish ∼T⁴. Har qadamda Pikar iteratsiyasi.</a:t>
            </a:r>
            <a:endParaRPr lang="en-US" sz="1400" dirty="0"/>
          </a:p>
        </p:txBody>
      </p:sp>
      <p:sp>
        <p:nvSpPr>
          <p:cNvPr id="15" name="Text 13"/>
          <p:cNvSpPr txBox="1"/>
          <p:nvPr/>
        </p:nvSpPr>
        <p:spPr>
          <a:xfrm>
            <a:off x="777240" y="4754880"/>
            <a:ext cx="5029200" cy="548640"/>
          </a:xfrm>
          <a:prstGeom prst="rect">
            <a:avLst/>
          </a:prstGeom>
          <a:noFill/>
          <a:ln/>
        </p:spPr>
        <p:txBody>
          <a:bodyPr wrap="square" lIns="0" tIns="0" rIns="0" bIns="0" rtlCol="0" anchor="t"/>
          <a:lstStyle/>
          <a:p>
            <a:pPr indent="0" marL="0">
              <a:buNone/>
            </a:pPr>
            <a:r>
              <a:rPr lang="en-US" sz="1300" i="1" dirty="0">
                <a:solidFill>
                  <a:srgbClr val="56657A"/>
                </a:solidFill>
                <a:latin typeface="Calibri" pitchFamily="34" charset="0"/>
                <a:ea typeface="Calibri" pitchFamily="34" charset="-122"/>
                <a:cs typeface="Calibri" pitchFamily="34" charset="-120"/>
              </a:rPr>
              <a:t>Natija EN 1992-1-2 jadvali bilan mos.</a:t>
            </a:r>
            <a:endParaRPr lang="en-US" sz="1300" dirty="0"/>
          </a:p>
        </p:txBody>
      </p:sp>
      <p:sp>
        <p:nvSpPr>
          <p:cNvPr id="16" name="2D silindr: Nyuman ko’paytmasi"/>
          <p:cNvSpPr/>
          <p:nvPr/>
        </p:nvSpPr>
        <p:spPr>
          <a:xfrm>
            <a:off x="6172200" y="3429000"/>
            <a:ext cx="5468112" cy="1938528"/>
          </a:xfrm>
          <a:prstGeom prst="roundRect">
            <a:avLst>
              <a:gd name="adj" fmla="val 5660"/>
            </a:avLst>
          </a:prstGeom>
          <a:solidFill>
            <a:srgbClr val="F2F5F8"/>
          </a:solidFill>
          <a:ln w="12700">
            <a:solidFill>
              <a:srgbClr val="F2F5F8"/>
            </a:solidFill>
            <a:prstDash val="solid"/>
          </a:ln>
        </p:spPr>
      </p:sp>
      <p:sp>
        <p:nvSpPr>
          <p:cNvPr id="17" name="Text 15"/>
          <p:cNvSpPr txBox="1"/>
          <p:nvPr/>
        </p:nvSpPr>
        <p:spPr>
          <a:xfrm>
            <a:off x="6400800" y="3566160"/>
            <a:ext cx="5029200" cy="365760"/>
          </a:xfrm>
          <a:prstGeom prst="rect">
            <a:avLst/>
          </a:prstGeom>
          <a:noFill/>
          <a:ln/>
        </p:spPr>
        <p:txBody>
          <a:bodyPr wrap="square" lIns="0" tIns="0" rIns="0" bIns="0" rtlCol="0" anchor="t"/>
          <a:lstStyle/>
          <a:p>
            <a:pPr indent="0" marL="0">
              <a:buNone/>
            </a:pPr>
            <a:r>
              <a:rPr lang="en-US" sz="1700" b="1" dirty="0">
                <a:solidFill>
                  <a:srgbClr val="C77F12"/>
                </a:solidFill>
                <a:latin typeface="Calibri" pitchFamily="34" charset="0"/>
                <a:ea typeface="Calibri" pitchFamily="34" charset="-122"/>
                <a:cs typeface="Calibri" pitchFamily="34" charset="-120"/>
              </a:rPr>
              <a:t>2D silindr: Nyuman ko’paytmasi</a:t>
            </a:r>
            <a:endParaRPr lang="en-US" sz="1700" dirty="0"/>
          </a:p>
        </p:txBody>
      </p:sp>
      <p:sp>
        <p:nvSpPr>
          <p:cNvPr id="18" name="Text 16"/>
          <p:cNvSpPr txBox="1"/>
          <p:nvPr/>
        </p:nvSpPr>
        <p:spPr>
          <a:xfrm>
            <a:off x="6400800" y="3977640"/>
            <a:ext cx="5029200" cy="77724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Konserva bankasi = cheksiz silindr × plastinka. Ikki 1D yechimning ko’paytmasi chiziqli masalada aniq.</a:t>
            </a:r>
            <a:endParaRPr lang="en-US" sz="1400" dirty="0"/>
          </a:p>
        </p:txBody>
      </p:sp>
      <p:sp>
        <p:nvSpPr>
          <p:cNvPr id="19" name="Text 17"/>
          <p:cNvSpPr txBox="1"/>
          <p:nvPr/>
        </p:nvSpPr>
        <p:spPr>
          <a:xfrm>
            <a:off x="6400800" y="4754880"/>
            <a:ext cx="5029200" cy="548640"/>
          </a:xfrm>
          <a:prstGeom prst="rect">
            <a:avLst/>
          </a:prstGeom>
          <a:noFill/>
          <a:ln/>
        </p:spPr>
        <p:txBody>
          <a:bodyPr wrap="square" lIns="0" tIns="0" rIns="0" bIns="0" rtlCol="0" anchor="t"/>
          <a:lstStyle/>
          <a:p>
            <a:pPr indent="0" marL="0">
              <a:buNone/>
            </a:pPr>
            <a:r>
              <a:rPr lang="en-US" sz="1300" i="1" dirty="0">
                <a:solidFill>
                  <a:srgbClr val="56657A"/>
                </a:solidFill>
                <a:latin typeface="Calibri" pitchFamily="34" charset="0"/>
                <a:ea typeface="Calibri" pitchFamily="34" charset="-122"/>
                <a:cs typeface="Calibri" pitchFamily="34" charset="-120"/>
              </a:rPr>
              <a:t>Qizdirish va sovitish – superpozitsiya.</a:t>
            </a:r>
            <a:endParaRPr lang="en-US" sz="1300" dirty="0"/>
          </a:p>
        </p:txBody>
      </p:sp>
      <p:pic>
        <p:nvPicPr>
          <p:cNvPr id="20" name="ADI 1-yarim qadam" descr="ADI 1-yarim qadam">    </p:cNvPr>
          <p:cNvPicPr>
            <a:picLocks noChangeAspect="1"/>
          </p:cNvPicPr>
          <p:nvPr/>
        </p:nvPicPr>
        <p:blipFill>
          <a:blip r:embed="rId2"/>
          <a:stretch>
            <a:fillRect/>
          </a:stretch>
        </p:blipFill>
        <p:spPr>
          <a:xfrm>
            <a:off x="777240" y="5623560"/>
            <a:ext cx="1898469" cy="502920"/>
          </a:xfrm>
          <a:prstGeom prst="rect">
            <a:avLst/>
          </a:prstGeom>
        </p:spPr>
      </p:pic>
      <p:pic>
        <p:nvPicPr>
          <p:cNvPr id="21" name="ADI 2-yarim qadam" descr="ADI 2-yarim qadam">    </p:cNvPr>
          <p:cNvPicPr>
            <a:picLocks noChangeAspect="1"/>
          </p:cNvPicPr>
          <p:nvPr/>
        </p:nvPicPr>
        <p:blipFill>
          <a:blip r:embed="rId3"/>
          <a:stretch>
            <a:fillRect/>
          </a:stretch>
        </p:blipFill>
        <p:spPr>
          <a:xfrm>
            <a:off x="3657600" y="5623560"/>
            <a:ext cx="2325189" cy="502920"/>
          </a:xfrm>
          <a:prstGeom prst="rect">
            <a:avLst/>
          </a:prstGeom>
        </p:spPr>
      </p:pic>
      <p:sp>
        <p:nvSpPr>
          <p:cNvPr id="22" name="Text 18"/>
          <p:cNvSpPr txBox="1"/>
          <p:nvPr/>
        </p:nvSpPr>
        <p:spPr>
          <a:xfrm>
            <a:off x="6949440" y="5715000"/>
            <a:ext cx="3657600" cy="365760"/>
          </a:xfrm>
          <a:prstGeom prst="rect">
            <a:avLst/>
          </a:prstGeom>
          <a:noFill/>
          <a:ln/>
        </p:spPr>
        <p:txBody>
          <a:bodyPr wrap="square" lIns="0" tIns="0" rIns="0" bIns="0" rtlCol="0" anchor="t"/>
          <a:lstStyle/>
          <a:p>
            <a:pPr indent="0" marL="0">
              <a:buNone/>
            </a:pPr>
            <a:r>
              <a:rPr lang="en-US" sz="1400" i="1" dirty="0">
                <a:solidFill>
                  <a:srgbClr val="56657A"/>
                </a:solidFill>
                <a:latin typeface="Calibri" pitchFamily="34" charset="0"/>
                <a:ea typeface="Calibri" pitchFamily="34" charset="-122"/>
                <a:cs typeface="Calibri" pitchFamily="34" charset="-120"/>
              </a:rPr>
              <a:t>Pisman–Rekford sxemasi</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Video: bitta masala – olti usul – eng maqbuli</a:t>
            </a:r>
            <a:endParaRPr lang="en-US" sz="3200" dirty="0"/>
          </a:p>
        </p:txBody>
      </p:sp>
      <p:sp>
        <p:nvSpPr>
          <p:cNvPr id="3" name="Text 1">
            <a:hlinkClick r:id="rId1" tooltip=""/>
          </p:cNvPr>
          <p:cNvSpPr txBox="1"/>
          <p:nvPr/>
        </p:nvSpPr>
        <p:spPr>
          <a:xfrm>
            <a:off x="548640" y="6419088"/>
            <a:ext cx="5486400" cy="274320"/>
          </a:xfrm>
          <a:prstGeom prst="rect">
            <a:avLst/>
          </a:prstGeom>
          <a:noFill/>
          <a:ln/>
        </p:spPr>
        <p:txBody>
          <a:bodyPr wrap="square" lIns="0" tIns="0" rIns="0" bIns="0" rtlCol="0" anchor="t"/>
          <a:lstStyle/>
          <a:p>
            <a:pPr indent="0" marL="0">
              <a:buNone/>
            </a:pPr>
            <a:r>
              <a:rPr lang="en-US" sz="1100" u="sng" dirty="0">
                <a:solidFill>
                  <a:srgbClr val="1F5FA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ulugbekkamalov0829-web.github.io/termolab</a:t>
            </a:r>
            <a:endParaRPr lang="en-US" sz="1100" dirty="0"/>
          </a:p>
        </p:txBody>
      </p:sp>
      <p:pic>
        <p:nvPicPr>
          <p:cNvPr id="4" name="Usullar videosi">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548640" y="1234440"/>
            <a:ext cx="7589520" cy="4269105"/>
          </a:xfrm>
          <a:prstGeom prst="rect">
            <a:avLst/>
          </a:prstGeom>
        </p:spPr>
      </p:pic>
      <p:sp>
        <p:nvSpPr>
          <p:cNvPr id="5" name="Text 2"/>
          <p:cNvSpPr txBox="1"/>
          <p:nvPr/>
        </p:nvSpPr>
        <p:spPr>
          <a:xfrm>
            <a:off x="548640" y="5549265"/>
            <a:ext cx="7589520" cy="320040"/>
          </a:xfrm>
          <a:prstGeom prst="rect">
            <a:avLst/>
          </a:prstGeom>
          <a:noFill/>
          <a:ln/>
        </p:spPr>
        <p:txBody>
          <a:bodyPr wrap="square" lIns="0" tIns="0" rIns="0" bIns="0" rtlCol="0" anchor="t"/>
          <a:lstStyle/>
          <a:p>
            <a:pPr indent="0" marL="0">
              <a:buNone/>
            </a:pPr>
            <a:r>
              <a:rPr lang="en-US" sz="1300" i="1" dirty="0">
                <a:solidFill>
                  <a:srgbClr val="56657A"/>
                </a:solidFill>
                <a:latin typeface="Calibri" pitchFamily="34" charset="0"/>
                <a:ea typeface="Calibri" pitchFamily="34" charset="-122"/>
                <a:cs typeface="Calibri" pitchFamily="34" charset="-120"/>
              </a:rPr>
              <a:t>Videoni ishga tushirish: slaydda play tugmasini bosing (51 soniya)</a:t>
            </a:r>
            <a:endParaRPr lang="en-US" sz="1300" dirty="0"/>
          </a:p>
        </p:txBody>
      </p:sp>
      <p:sp>
        <p:nvSpPr>
          <p:cNvPr id="6" name="Text 3"/>
          <p:cNvSpPr txBox="1"/>
          <p:nvPr/>
        </p:nvSpPr>
        <p:spPr>
          <a:xfrm>
            <a:off x="8412480" y="1234440"/>
            <a:ext cx="3291840" cy="36576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Videoda nima ko’rinadi</a:t>
            </a:r>
            <a:endParaRPr lang="en-US" sz="1800" dirty="0"/>
          </a:p>
        </p:txBody>
      </p:sp>
      <p:sp>
        <p:nvSpPr>
          <p:cNvPr id="7" name="Shape 4"/>
          <p:cNvSpPr/>
          <p:nvPr/>
        </p:nvSpPr>
        <p:spPr>
          <a:xfrm>
            <a:off x="8412480" y="1773936"/>
            <a:ext cx="420624" cy="420624"/>
          </a:xfrm>
          <a:prstGeom prst="ellipse">
            <a:avLst/>
          </a:prstGeom>
          <a:solidFill>
            <a:srgbClr val="C4401F"/>
          </a:solidFill>
          <a:ln w="12700">
            <a:solidFill>
              <a:srgbClr val="C4401F"/>
            </a:solidFill>
            <a:prstDash val="solid"/>
          </a:ln>
        </p:spPr>
      </p:sp>
      <p:sp>
        <p:nvSpPr>
          <p:cNvPr id="8" name="Text 5"/>
          <p:cNvSpPr txBox="1"/>
          <p:nvPr/>
        </p:nvSpPr>
        <p:spPr>
          <a:xfrm>
            <a:off x="8412480" y="1773936"/>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6"/>
          <p:cNvSpPr txBox="1"/>
          <p:nvPr/>
        </p:nvSpPr>
        <p:spPr>
          <a:xfrm>
            <a:off x="8961120" y="1737360"/>
            <a:ext cx="2743200" cy="320040"/>
          </a:xfrm>
          <a:prstGeom prst="rect">
            <a:avLst/>
          </a:prstGeom>
          <a:noFill/>
          <a:ln/>
        </p:spPr>
        <p:txBody>
          <a:bodyPr wrap="square" lIns="0" tIns="0" rIns="0" bIns="0" rtlCol="0" anchor="t"/>
          <a:lstStyle/>
          <a:p>
            <a:pPr indent="0" marL="0">
              <a:buNone/>
            </a:pPr>
            <a:r>
              <a:rPr lang="en-US" sz="1500" b="1" dirty="0">
                <a:solidFill>
                  <a:srgbClr val="16212E"/>
                </a:solidFill>
                <a:latin typeface="Calibri" pitchFamily="34" charset="0"/>
                <a:ea typeface="Calibri" pitchFamily="34" charset="-122"/>
                <a:cs typeface="Calibri" pitchFamily="34" charset="-120"/>
              </a:rPr>
              <a:t>Masala</a:t>
            </a:r>
            <a:endParaRPr lang="en-US" sz="1500" dirty="0"/>
          </a:p>
        </p:txBody>
      </p:sp>
      <p:sp>
        <p:nvSpPr>
          <p:cNvPr id="10" name="Text 7"/>
          <p:cNvSpPr txBox="1"/>
          <p:nvPr/>
        </p:nvSpPr>
        <p:spPr>
          <a:xfrm>
            <a:off x="8961120" y="2066544"/>
            <a:ext cx="2743200" cy="502920"/>
          </a:xfrm>
          <a:prstGeom prst="rect">
            <a:avLst/>
          </a:prstGeom>
          <a:noFill/>
          <a:ln/>
        </p:spPr>
        <p:txBody>
          <a:bodyPr wrap="square" lIns="0" tIns="0" rIns="0" bIns="0" rtlCol="0" anchor="t"/>
          <a:lstStyle/>
          <a:p>
            <a:pPr indent="0" marL="0">
              <a:buNone/>
            </a:pPr>
            <a:r>
              <a:rPr lang="en-US" sz="1200" dirty="0">
                <a:solidFill>
                  <a:srgbClr val="56657A"/>
                </a:solidFill>
                <a:latin typeface="Calibri" pitchFamily="34" charset="0"/>
                <a:ea typeface="Calibri" pitchFamily="34" charset="-122"/>
                <a:cs typeface="Calibri" pitchFamily="34" charset="-120"/>
              </a:rPr>
              <a:t>sterjen soviydi, aniq javob ma’lum</a:t>
            </a:r>
            <a:endParaRPr lang="en-US" sz="1200" dirty="0"/>
          </a:p>
        </p:txBody>
      </p:sp>
      <p:sp>
        <p:nvSpPr>
          <p:cNvPr id="11" name="Shape 8"/>
          <p:cNvSpPr/>
          <p:nvPr/>
        </p:nvSpPr>
        <p:spPr>
          <a:xfrm>
            <a:off x="8412480" y="2670048"/>
            <a:ext cx="420624" cy="420624"/>
          </a:xfrm>
          <a:prstGeom prst="ellipse">
            <a:avLst/>
          </a:prstGeom>
          <a:solidFill>
            <a:srgbClr val="C4401F"/>
          </a:solidFill>
          <a:ln w="12700">
            <a:solidFill>
              <a:srgbClr val="C4401F"/>
            </a:solidFill>
            <a:prstDash val="solid"/>
          </a:ln>
        </p:spPr>
      </p:sp>
      <p:sp>
        <p:nvSpPr>
          <p:cNvPr id="12" name="Text 9"/>
          <p:cNvSpPr txBox="1"/>
          <p:nvPr/>
        </p:nvSpPr>
        <p:spPr>
          <a:xfrm>
            <a:off x="8412480" y="267004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0"/>
          <p:cNvSpPr txBox="1"/>
          <p:nvPr/>
        </p:nvSpPr>
        <p:spPr>
          <a:xfrm>
            <a:off x="8961120" y="2633472"/>
            <a:ext cx="2743200" cy="320040"/>
          </a:xfrm>
          <a:prstGeom prst="rect">
            <a:avLst/>
          </a:prstGeom>
          <a:noFill/>
          <a:ln/>
        </p:spPr>
        <p:txBody>
          <a:bodyPr wrap="square" lIns="0" tIns="0" rIns="0" bIns="0" rtlCol="0" anchor="t"/>
          <a:lstStyle/>
          <a:p>
            <a:pPr indent="0" marL="0">
              <a:buNone/>
            </a:pPr>
            <a:r>
              <a:rPr lang="en-US" sz="1500" b="1" dirty="0">
                <a:solidFill>
                  <a:srgbClr val="16212E"/>
                </a:solidFill>
                <a:latin typeface="Calibri" pitchFamily="34" charset="0"/>
                <a:ea typeface="Calibri" pitchFamily="34" charset="-122"/>
                <a:cs typeface="Calibri" pitchFamily="34" charset="-120"/>
              </a:rPr>
              <a:t>Usullar</a:t>
            </a:r>
            <a:endParaRPr lang="en-US" sz="1500" dirty="0"/>
          </a:p>
        </p:txBody>
      </p:sp>
      <p:sp>
        <p:nvSpPr>
          <p:cNvPr id="14" name="Text 11"/>
          <p:cNvSpPr txBox="1"/>
          <p:nvPr/>
        </p:nvSpPr>
        <p:spPr>
          <a:xfrm>
            <a:off x="8961120" y="2962656"/>
            <a:ext cx="2743200" cy="502920"/>
          </a:xfrm>
          <a:prstGeom prst="rect">
            <a:avLst/>
          </a:prstGeom>
          <a:noFill/>
          <a:ln/>
        </p:spPr>
        <p:txBody>
          <a:bodyPr wrap="square" lIns="0" tIns="0" rIns="0" bIns="0" rtlCol="0" anchor="t"/>
          <a:lstStyle/>
          <a:p>
            <a:pPr indent="0" marL="0">
              <a:buNone/>
            </a:pPr>
            <a:r>
              <a:rPr lang="en-US" sz="1200" dirty="0">
                <a:solidFill>
                  <a:srgbClr val="56657A"/>
                </a:solidFill>
                <a:latin typeface="Calibri" pitchFamily="34" charset="0"/>
                <a:ea typeface="Calibri" pitchFamily="34" charset="-122"/>
                <a:cs typeface="Calibri" pitchFamily="34" charset="-120"/>
              </a:rPr>
              <a:t>olti usul nimasi bilan farq qiladi</a:t>
            </a:r>
            <a:endParaRPr lang="en-US" sz="1200" dirty="0"/>
          </a:p>
        </p:txBody>
      </p:sp>
      <p:sp>
        <p:nvSpPr>
          <p:cNvPr id="15" name="Shape 12"/>
          <p:cNvSpPr/>
          <p:nvPr/>
        </p:nvSpPr>
        <p:spPr>
          <a:xfrm>
            <a:off x="8412480" y="3566160"/>
            <a:ext cx="420624" cy="420624"/>
          </a:xfrm>
          <a:prstGeom prst="ellipse">
            <a:avLst/>
          </a:prstGeom>
          <a:solidFill>
            <a:srgbClr val="C4401F"/>
          </a:solidFill>
          <a:ln w="12700">
            <a:solidFill>
              <a:srgbClr val="C4401F"/>
            </a:solidFill>
            <a:prstDash val="solid"/>
          </a:ln>
        </p:spPr>
      </p:sp>
      <p:sp>
        <p:nvSpPr>
          <p:cNvPr id="16" name="Text 13"/>
          <p:cNvSpPr txBox="1"/>
          <p:nvPr/>
        </p:nvSpPr>
        <p:spPr>
          <a:xfrm>
            <a:off x="8412480" y="356616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4"/>
          <p:cNvSpPr txBox="1"/>
          <p:nvPr/>
        </p:nvSpPr>
        <p:spPr>
          <a:xfrm>
            <a:off x="8961120" y="3529584"/>
            <a:ext cx="2743200" cy="320040"/>
          </a:xfrm>
          <a:prstGeom prst="rect">
            <a:avLst/>
          </a:prstGeom>
          <a:noFill/>
          <a:ln/>
        </p:spPr>
        <p:txBody>
          <a:bodyPr wrap="square" lIns="0" tIns="0" rIns="0" bIns="0" rtlCol="0" anchor="t"/>
          <a:lstStyle/>
          <a:p>
            <a:pPr indent="0" marL="0">
              <a:buNone/>
            </a:pPr>
            <a:r>
              <a:rPr lang="en-US" sz="1500" b="1" dirty="0">
                <a:solidFill>
                  <a:srgbClr val="16212E"/>
                </a:solidFill>
                <a:latin typeface="Calibri" pitchFamily="34" charset="0"/>
                <a:ea typeface="Calibri" pitchFamily="34" charset="-122"/>
                <a:cs typeface="Calibri" pitchFamily="34" charset="-120"/>
              </a:rPr>
              <a:t>Parallel hisob</a:t>
            </a:r>
            <a:endParaRPr lang="en-US" sz="1500" dirty="0"/>
          </a:p>
        </p:txBody>
      </p:sp>
      <p:sp>
        <p:nvSpPr>
          <p:cNvPr id="18" name="Text 15"/>
          <p:cNvSpPr txBox="1"/>
          <p:nvPr/>
        </p:nvSpPr>
        <p:spPr>
          <a:xfrm>
            <a:off x="8961120" y="3858768"/>
            <a:ext cx="2743200" cy="502920"/>
          </a:xfrm>
          <a:prstGeom prst="rect">
            <a:avLst/>
          </a:prstGeom>
          <a:noFill/>
          <a:ln/>
        </p:spPr>
        <p:txBody>
          <a:bodyPr wrap="square" lIns="0" tIns="0" rIns="0" bIns="0" rtlCol="0" anchor="t"/>
          <a:lstStyle/>
          <a:p>
            <a:pPr indent="0" marL="0">
              <a:buNone/>
            </a:pPr>
            <a:r>
              <a:rPr lang="en-US" sz="1200" dirty="0">
                <a:solidFill>
                  <a:srgbClr val="56657A"/>
                </a:solidFill>
                <a:latin typeface="Calibri" pitchFamily="34" charset="0"/>
                <a:ea typeface="Calibri" pitchFamily="34" charset="-122"/>
                <a:cs typeface="Calibri" pitchFamily="34" charset="-120"/>
              </a:rPr>
              <a:t>hammasi bir vaqtda; ko’k – usul, punktir – aniq javob</a:t>
            </a:r>
            <a:endParaRPr lang="en-US" sz="1200" dirty="0"/>
          </a:p>
        </p:txBody>
      </p:sp>
      <p:sp>
        <p:nvSpPr>
          <p:cNvPr id="19" name="Shape 16"/>
          <p:cNvSpPr/>
          <p:nvPr/>
        </p:nvSpPr>
        <p:spPr>
          <a:xfrm>
            <a:off x="8412480" y="4462272"/>
            <a:ext cx="420624" cy="420624"/>
          </a:xfrm>
          <a:prstGeom prst="ellipse">
            <a:avLst/>
          </a:prstGeom>
          <a:solidFill>
            <a:srgbClr val="C4401F"/>
          </a:solidFill>
          <a:ln w="12700">
            <a:solidFill>
              <a:srgbClr val="C4401F"/>
            </a:solidFill>
            <a:prstDash val="solid"/>
          </a:ln>
        </p:spPr>
      </p:sp>
      <p:sp>
        <p:nvSpPr>
          <p:cNvPr id="20" name="Text 17"/>
          <p:cNvSpPr txBox="1"/>
          <p:nvPr/>
        </p:nvSpPr>
        <p:spPr>
          <a:xfrm>
            <a:off x="8412480" y="4462272"/>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1" name="Text 18"/>
          <p:cNvSpPr txBox="1"/>
          <p:nvPr/>
        </p:nvSpPr>
        <p:spPr>
          <a:xfrm>
            <a:off x="8961120" y="4425696"/>
            <a:ext cx="2743200" cy="320040"/>
          </a:xfrm>
          <a:prstGeom prst="rect">
            <a:avLst/>
          </a:prstGeom>
          <a:noFill/>
          <a:ln/>
        </p:spPr>
        <p:txBody>
          <a:bodyPr wrap="square" lIns="0" tIns="0" rIns="0" bIns="0" rtlCol="0" anchor="t"/>
          <a:lstStyle/>
          <a:p>
            <a:pPr indent="0" marL="0">
              <a:buNone/>
            </a:pPr>
            <a:r>
              <a:rPr lang="en-US" sz="1500" b="1" dirty="0">
                <a:solidFill>
                  <a:srgbClr val="16212E"/>
                </a:solidFill>
                <a:latin typeface="Calibri" pitchFamily="34" charset="0"/>
                <a:ea typeface="Calibri" pitchFamily="34" charset="-122"/>
                <a:cs typeface="Calibri" pitchFamily="34" charset="-120"/>
              </a:rPr>
              <a:t>O’lchov</a:t>
            </a:r>
            <a:endParaRPr lang="en-US" sz="1500" dirty="0"/>
          </a:p>
        </p:txBody>
      </p:sp>
      <p:sp>
        <p:nvSpPr>
          <p:cNvPr id="22" name="Text 19"/>
          <p:cNvSpPr txBox="1"/>
          <p:nvPr/>
        </p:nvSpPr>
        <p:spPr>
          <a:xfrm>
            <a:off x="8961120" y="4754880"/>
            <a:ext cx="2743200" cy="502920"/>
          </a:xfrm>
          <a:prstGeom prst="rect">
            <a:avLst/>
          </a:prstGeom>
          <a:noFill/>
          <a:ln/>
        </p:spPr>
        <p:txBody>
          <a:bodyPr wrap="square" lIns="0" tIns="0" rIns="0" bIns="0" rtlCol="0" anchor="t"/>
          <a:lstStyle/>
          <a:p>
            <a:pPr indent="0" marL="0">
              <a:buNone/>
            </a:pPr>
            <a:r>
              <a:rPr lang="en-US" sz="1200" dirty="0">
                <a:solidFill>
                  <a:srgbClr val="56657A"/>
                </a:solidFill>
                <a:latin typeface="Calibri" pitchFamily="34" charset="0"/>
                <a:ea typeface="Calibri" pitchFamily="34" charset="-122"/>
                <a:cs typeface="Calibri" pitchFamily="34" charset="-120"/>
              </a:rPr>
              <a:t>xato va tezlik; talab: xato ≤ 0.05 °C</a:t>
            </a:r>
            <a:endParaRPr lang="en-US" sz="1200" dirty="0"/>
          </a:p>
        </p:txBody>
      </p:sp>
      <p:sp>
        <p:nvSpPr>
          <p:cNvPr id="23" name="Shape 20"/>
          <p:cNvSpPr/>
          <p:nvPr/>
        </p:nvSpPr>
        <p:spPr>
          <a:xfrm>
            <a:off x="8412480" y="5358384"/>
            <a:ext cx="420624" cy="420624"/>
          </a:xfrm>
          <a:prstGeom prst="ellipse">
            <a:avLst/>
          </a:prstGeom>
          <a:solidFill>
            <a:srgbClr val="C4401F"/>
          </a:solidFill>
          <a:ln w="12700">
            <a:solidFill>
              <a:srgbClr val="C4401F"/>
            </a:solidFill>
            <a:prstDash val="solid"/>
          </a:ln>
        </p:spPr>
      </p:sp>
      <p:sp>
        <p:nvSpPr>
          <p:cNvPr id="24" name="Text 21"/>
          <p:cNvSpPr txBox="1"/>
          <p:nvPr/>
        </p:nvSpPr>
        <p:spPr>
          <a:xfrm>
            <a:off x="8412480" y="5358384"/>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5" name="Text 22"/>
          <p:cNvSpPr txBox="1"/>
          <p:nvPr/>
        </p:nvSpPr>
        <p:spPr>
          <a:xfrm>
            <a:off x="8961120" y="5321808"/>
            <a:ext cx="2743200" cy="320040"/>
          </a:xfrm>
          <a:prstGeom prst="rect">
            <a:avLst/>
          </a:prstGeom>
          <a:noFill/>
          <a:ln/>
        </p:spPr>
        <p:txBody>
          <a:bodyPr wrap="square" lIns="0" tIns="0" rIns="0" bIns="0" rtlCol="0" anchor="t"/>
          <a:lstStyle/>
          <a:p>
            <a:pPr indent="0" marL="0">
              <a:buNone/>
            </a:pPr>
            <a:r>
              <a:rPr lang="en-US" sz="1500" b="1" dirty="0">
                <a:solidFill>
                  <a:srgbClr val="16212E"/>
                </a:solidFill>
                <a:latin typeface="Calibri" pitchFamily="34" charset="0"/>
                <a:ea typeface="Calibri" pitchFamily="34" charset="-122"/>
                <a:cs typeface="Calibri" pitchFamily="34" charset="-120"/>
              </a:rPr>
              <a:t>G’olib</a:t>
            </a:r>
            <a:endParaRPr lang="en-US" sz="1500" dirty="0"/>
          </a:p>
        </p:txBody>
      </p:sp>
      <p:sp>
        <p:nvSpPr>
          <p:cNvPr id="26" name="Text 23"/>
          <p:cNvSpPr txBox="1"/>
          <p:nvPr/>
        </p:nvSpPr>
        <p:spPr>
          <a:xfrm>
            <a:off x="8961120" y="5650992"/>
            <a:ext cx="2743200" cy="502920"/>
          </a:xfrm>
          <a:prstGeom prst="rect">
            <a:avLst/>
          </a:prstGeom>
          <a:noFill/>
          <a:ln/>
        </p:spPr>
        <p:txBody>
          <a:bodyPr wrap="square" lIns="0" tIns="0" rIns="0" bIns="0" rtlCol="0" anchor="t"/>
          <a:lstStyle/>
          <a:p>
            <a:pPr indent="0" marL="0">
              <a:buNone/>
            </a:pPr>
            <a:r>
              <a:rPr lang="en-US" sz="1200" dirty="0">
                <a:solidFill>
                  <a:srgbClr val="56657A"/>
                </a:solidFill>
                <a:latin typeface="Calibri" pitchFamily="34" charset="0"/>
                <a:ea typeface="Calibri" pitchFamily="34" charset="-122"/>
                <a:cs typeface="Calibri" pitchFamily="34" charset="-120"/>
              </a:rPr>
              <a:t>eng tez va aniq usul</a:t>
            </a:r>
            <a:endParaRPr lang="en-US" sz="1200" dirty="0"/>
          </a:p>
        </p:txBody>
      </p:sp>
      <p:sp>
        <p:nvSpPr>
          <p:cNvPr id="27" name="Xulosa"/>
          <p:cNvSpPr/>
          <p:nvPr/>
        </p:nvSpPr>
        <p:spPr>
          <a:xfrm>
            <a:off x="548640" y="5852160"/>
            <a:ext cx="7589520" cy="502920"/>
          </a:xfrm>
          <a:prstGeom prst="roundRect">
            <a:avLst>
              <a:gd name="adj" fmla="val 21818"/>
            </a:avLst>
          </a:prstGeom>
          <a:solidFill>
            <a:srgbClr val="E7F4EC"/>
          </a:solidFill>
          <a:ln w="12700">
            <a:solidFill>
              <a:srgbClr val="E7F4EC"/>
            </a:solidFill>
            <a:prstDash val="solid"/>
          </a:ln>
        </p:spPr>
      </p:sp>
      <p:sp>
        <p:nvSpPr>
          <p:cNvPr id="28" name="Text 25"/>
          <p:cNvSpPr txBox="1"/>
          <p:nvPr/>
        </p:nvSpPr>
        <p:spPr>
          <a:xfrm>
            <a:off x="731520" y="5852160"/>
            <a:ext cx="7223760" cy="502920"/>
          </a:xfrm>
          <a:prstGeom prst="rect">
            <a:avLst/>
          </a:prstGeom>
          <a:noFill/>
          <a:ln/>
        </p:spPr>
        <p:txBody>
          <a:bodyPr wrap="square" lIns="0" tIns="0" rIns="0" bIns="0" rtlCol="0" anchor="ctr"/>
          <a:lstStyle/>
          <a:p>
            <a:pPr indent="0" marL="0">
              <a:buNone/>
            </a:pPr>
            <a:r>
              <a:rPr lang="en-US" sz="1300" dirty="0">
                <a:solidFill>
                  <a:srgbClr val="16212E"/>
                </a:solidFill>
                <a:latin typeface="Calibri" pitchFamily="34" charset="0"/>
                <a:ea typeface="Calibri" pitchFamily="34" charset="-122"/>
                <a:cs typeface="Calibri" pitchFamily="34" charset="-120"/>
              </a:rPr>
              <a:t>Natija: oshkor sxema “portlaydi”, oshkormasning xatosi katta, Krank–Nikolson + haydash – aniq va eng tez.</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Eng maqbul usul: 1D da Krank–Nikolson, 2D da ADI</a:t>
            </a:r>
            <a:endParaRPr lang="en-US" sz="3200" dirty="0"/>
          </a:p>
        </p:txBody>
      </p:sp>
      <p:sp>
        <p:nvSpPr>
          <p:cNvPr id="3" name="Text 1">
            <a:hlinkClick r:id="rId1" tooltip=""/>
          </p:cNvPr>
          <p:cNvSpPr txBox="1"/>
          <p:nvPr/>
        </p:nvSpPr>
        <p:spPr>
          <a:xfrm>
            <a:off x="548640" y="6419088"/>
            <a:ext cx="5486400" cy="274320"/>
          </a:xfrm>
          <a:prstGeom prst="rect">
            <a:avLst/>
          </a:prstGeom>
          <a:noFill/>
          <a:ln/>
        </p:spPr>
        <p:txBody>
          <a:bodyPr wrap="square" lIns="0" tIns="0" rIns="0" bIns="0" rtlCol="0" anchor="t"/>
          <a:lstStyle/>
          <a:p>
            <a:pPr indent="0" marL="0">
              <a:buNone/>
            </a:pPr>
            <a:r>
              <a:rPr lang="en-US" sz="1100" u="sng" dirty="0">
                <a:solidFill>
                  <a:srgbClr val="1F5FA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ulugbekkamalov0829-web.github.io/termolab</a:t>
            </a:r>
            <a:endParaRPr lang="en-US" sz="1100" dirty="0"/>
          </a:p>
        </p:txBody>
      </p:sp>
      <p:graphicFrame>
        <p:nvGraphicFramePr>
          <p:cNvPr id="4" name="Chart 0" descr=""/>
          <p:cNvGraphicFramePr/>
          <p:nvPr/>
        </p:nvGraphicFramePr>
        <p:xfrm>
          <a:off x="548640" y="1325880"/>
          <a:ext cx="6035040" cy="3840480"/>
        </p:xfrm>
        <a:graphic xmlns:a="http://schemas.openxmlformats.org/drawingml/2006/main">
          <a:graphicData uri="http://schemas.openxmlformats.org/drawingml/2006/chart">
            <c:chart xmlns:c="http://schemas.openxmlformats.org/drawingml/2006/chart" r:id="rId2"/>
          </a:graphicData>
        </a:graphic>
      </p:graphicFrame>
      <p:sp>
        <p:nvSpPr>
          <p:cNvPr id="5" name="Text 2"/>
          <p:cNvSpPr txBox="1"/>
          <p:nvPr/>
        </p:nvSpPr>
        <p:spPr>
          <a:xfrm>
            <a:off x="548640" y="5257800"/>
            <a:ext cx="6035040" cy="685800"/>
          </a:xfrm>
          <a:prstGeom prst="rect">
            <a:avLst/>
          </a:prstGeom>
          <a:noFill/>
          <a:ln/>
        </p:spPr>
        <p:txBody>
          <a:bodyPr wrap="square" lIns="0" tIns="0" rIns="0" bIns="0" rtlCol="0" anchor="t"/>
          <a:lstStyle/>
          <a:p>
            <a:pPr indent="0" marL="0">
              <a:buNone/>
            </a:pPr>
            <a:r>
              <a:rPr lang="en-US" sz="1300" dirty="0">
                <a:solidFill>
                  <a:srgbClr val="56657A"/>
                </a:solidFill>
                <a:latin typeface="Calibri" pitchFamily="34" charset="0"/>
                <a:ea typeface="Calibri" pitchFamily="34" charset="-122"/>
                <a:cs typeface="Calibri" pitchFamily="34" charset="-120"/>
              </a:rPr>
              <a:t>Yashil – talab bajarildi (xato ≤ 0.05 °C), sariq – xato katta (0.45 °C). Oshkor sxema katta qadamda portladi (diagrammada yo’q).</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949440" y="1325880"/>
          <a:ext cx="4690872" cy="914400"/>
        </p:xfrm>
        <a:graphic>
          <a:graphicData uri="http://schemas.openxmlformats.org/drawingml/2006/table">
            <a:tbl>
              <a:tblPr/>
              <a:tblGrid>
                <a:gridCol w="2404872"/>
                <a:gridCol w="1143000"/>
                <a:gridCol w="1143000"/>
              </a:tblGrid>
              <a:tr h="384048">
                <a:tc>
                  <a:txBody>
                    <a:bodyPr/>
                    <a:lstStyle/>
                    <a:p>
                      <a:pPr indent="0" marL="0">
                        <a:buNone/>
                      </a:pPr>
                      <a:r>
                        <a:rPr lang="en-US" sz="1400" b="1" dirty="0">
                          <a:solidFill>
                            <a:srgbClr val="1B2A3A"/>
                          </a:solidFill>
                          <a:latin typeface="Calibri" pitchFamily="34" charset="0"/>
                          <a:ea typeface="Calibri" pitchFamily="34" charset="-122"/>
                          <a:cs typeface="Calibri" pitchFamily="34" charset="-120"/>
                        </a:rPr>
                        <a:t>2D usul</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DCE6F2"/>
                    </a:solidFill>
                  </a:tcPr>
                </a:tc>
                <a:tc>
                  <a:txBody>
                    <a:bodyPr/>
                    <a:lstStyle/>
                    <a:p>
                      <a:pPr indent="0" marL="0">
                        <a:buNone/>
                      </a:pPr>
                      <a:r>
                        <a:rPr lang="en-US" sz="1400" b="1" dirty="0">
                          <a:solidFill>
                            <a:srgbClr val="1B2A3A"/>
                          </a:solidFill>
                          <a:latin typeface="Calibri" pitchFamily="34" charset="0"/>
                          <a:ea typeface="Calibri" pitchFamily="34" charset="-122"/>
                          <a:cs typeface="Calibri" pitchFamily="34" charset="-120"/>
                        </a:rPr>
                        <a:t>Xato, °C</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DCE6F2"/>
                    </a:solidFill>
                  </a:tcPr>
                </a:tc>
                <a:tc>
                  <a:txBody>
                    <a:bodyPr/>
                    <a:lstStyle/>
                    <a:p>
                      <a:pPr indent="0" marL="0">
                        <a:buNone/>
                      </a:pPr>
                      <a:r>
                        <a:rPr lang="en-US" sz="1400" b="1" dirty="0">
                          <a:solidFill>
                            <a:srgbClr val="1B2A3A"/>
                          </a:solidFill>
                          <a:latin typeface="Calibri" pitchFamily="34" charset="0"/>
                          <a:ea typeface="Calibri" pitchFamily="34" charset="-122"/>
                          <a:cs typeface="Calibri" pitchFamily="34" charset="-120"/>
                        </a:rPr>
                        <a:t>Vaqt, ms</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DCE6F2"/>
                    </a:solidFill>
                  </a:tcPr>
                </a:tc>
              </a:tr>
              <a:tr h="384048">
                <a:tc>
                  <a:txBody>
                    <a:bodyPr/>
                    <a:lstStyle/>
                    <a:p>
                      <a:pPr indent="0" marL="0">
                        <a:buNone/>
                      </a:pPr>
                      <a:r>
                        <a:rPr lang="en-US" sz="1400" dirty="0">
                          <a:solidFill>
                            <a:srgbClr val="16212E"/>
                          </a:solidFill>
                          <a:latin typeface="Calibri" pitchFamily="34" charset="0"/>
                          <a:ea typeface="Calibri" pitchFamily="34" charset="-122"/>
                          <a:cs typeface="Calibri" pitchFamily="34" charset="-120"/>
                        </a:rPr>
                        <a:t>Oshkor, katta qadam</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indent="0" marL="0">
                        <a:buNone/>
                      </a:pPr>
                      <a:r>
                        <a:rPr lang="en-US" sz="1400" dirty="0">
                          <a:solidFill>
                            <a:srgbClr val="B3261E"/>
                          </a:solidFill>
                          <a:latin typeface="Calibri" pitchFamily="34" charset="0"/>
                          <a:ea typeface="Calibri" pitchFamily="34" charset="-122"/>
                          <a:cs typeface="Calibri" pitchFamily="34" charset="-120"/>
                        </a:rPr>
                        <a:t>portladi</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indent="0" marL="0">
                        <a:buNone/>
                      </a:pPr>
                      <a:r>
                        <a:rPr lang="en-US" sz="1400" dirty="0">
                          <a:solidFill>
                            <a:srgbClr val="16212E"/>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r>
              <a:tr h="384048">
                <a:tc>
                  <a:txBody>
                    <a:bodyPr/>
                    <a:lstStyle/>
                    <a:p>
                      <a:pPr indent="0" marL="0">
                        <a:buNone/>
                      </a:pPr>
                      <a:r>
                        <a:rPr lang="en-US" sz="1400" dirty="0">
                          <a:solidFill>
                            <a:srgbClr val="16212E"/>
                          </a:solidFill>
                          <a:latin typeface="Calibri" pitchFamily="34" charset="0"/>
                          <a:ea typeface="Calibri" pitchFamily="34" charset="-122"/>
                          <a:cs typeface="Calibri" pitchFamily="34" charset="-120"/>
                        </a:rPr>
                        <a:t>Oshkor, kichik qadam</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indent="0" marL="0">
                        <a:buNone/>
                      </a:pPr>
                      <a:r>
                        <a:rPr lang="en-US" sz="1400" dirty="0">
                          <a:solidFill>
                            <a:srgbClr val="16212E"/>
                          </a:solidFill>
                          <a:latin typeface="Calibri" pitchFamily="34" charset="0"/>
                          <a:ea typeface="Calibri" pitchFamily="34" charset="-122"/>
                          <a:cs typeface="Calibri" pitchFamily="34" charset="-120"/>
                        </a:rPr>
                        <a:t>0.006</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indent="0" marL="0">
                        <a:buNone/>
                      </a:pPr>
                      <a:r>
                        <a:rPr lang="en-US" sz="1400" dirty="0">
                          <a:solidFill>
                            <a:srgbClr val="16212E"/>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r>
              <a:tr h="384048">
                <a:tc>
                  <a:txBody>
                    <a:bodyPr/>
                    <a:lstStyle/>
                    <a:p>
                      <a:pPr indent="0" marL="0">
                        <a:buNone/>
                      </a:pPr>
                      <a:r>
                        <a:rPr lang="en-US" sz="1400" dirty="0">
                          <a:solidFill>
                            <a:srgbClr val="16212E"/>
                          </a:solidFill>
                          <a:latin typeface="Calibri" pitchFamily="34" charset="0"/>
                          <a:ea typeface="Calibri" pitchFamily="34" charset="-122"/>
                          <a:cs typeface="Calibri" pitchFamily="34" charset="-120"/>
                        </a:rPr>
                        <a:t>Oshkormas + SOR</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indent="0" marL="0">
                        <a:buNone/>
                      </a:pPr>
                      <a:r>
                        <a:rPr lang="en-US" sz="1400" dirty="0">
                          <a:solidFill>
                            <a:srgbClr val="C77F12"/>
                          </a:solidFill>
                          <a:latin typeface="Calibri" pitchFamily="34" charset="0"/>
                          <a:ea typeface="Calibri" pitchFamily="34" charset="-122"/>
                          <a:cs typeface="Calibri" pitchFamily="34" charset="-120"/>
                        </a:rPr>
                        <a:t>0.236</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indent="0" marL="0">
                        <a:buNone/>
                      </a:pPr>
                      <a:r>
                        <a:rPr lang="en-US" sz="1400" dirty="0">
                          <a:solidFill>
                            <a:srgbClr val="16212E"/>
                          </a:solidFill>
                          <a:latin typeface="Calibri" pitchFamily="34" charset="0"/>
                          <a:ea typeface="Calibri" pitchFamily="34" charset="-122"/>
                          <a:cs typeface="Calibri" pitchFamily="34" charset="-120"/>
                        </a:rPr>
                        <a:t>231</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r>
              <a:tr h="384048">
                <a:tc>
                  <a:txBody>
                    <a:bodyPr/>
                    <a:lstStyle/>
                    <a:p>
                      <a:pPr indent="0" marL="0">
                        <a:buNone/>
                      </a:pPr>
                      <a:r>
                        <a:rPr lang="en-US" sz="1400" dirty="0">
                          <a:solidFill>
                            <a:srgbClr val="16212E"/>
                          </a:solidFill>
                          <a:latin typeface="Calibri" pitchFamily="34" charset="0"/>
                          <a:ea typeface="Calibri" pitchFamily="34" charset="-122"/>
                          <a:cs typeface="Calibri" pitchFamily="34" charset="-120"/>
                        </a:rPr>
                        <a:t>Krank–Nikolson + SOR</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indent="0" marL="0">
                        <a:buNone/>
                      </a:pPr>
                      <a:r>
                        <a:rPr lang="en-US" sz="1400" dirty="0">
                          <a:solidFill>
                            <a:srgbClr val="16212E"/>
                          </a:solidFill>
                          <a:latin typeface="Calibri" pitchFamily="34" charset="0"/>
                          <a:ea typeface="Calibri" pitchFamily="34" charset="-122"/>
                          <a:cs typeface="Calibri" pitchFamily="34" charset="-120"/>
                        </a:rPr>
                        <a:t>0.008</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indent="0" marL="0">
                        <a:buNone/>
                      </a:pPr>
                      <a:r>
                        <a:rPr lang="en-US" sz="1400" dirty="0">
                          <a:solidFill>
                            <a:srgbClr val="16212E"/>
                          </a:solidFill>
                          <a:latin typeface="Calibri" pitchFamily="34" charset="0"/>
                          <a:ea typeface="Calibri" pitchFamily="34" charset="-122"/>
                          <a:cs typeface="Calibri" pitchFamily="34" charset="-120"/>
                        </a:rPr>
                        <a:t>239</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r>
              <a:tr h="384048">
                <a:tc>
                  <a:txBody>
                    <a:bodyPr/>
                    <a:lstStyle/>
                    <a:p>
                      <a:pPr indent="0" marL="0">
                        <a:buNone/>
                      </a:pPr>
                      <a:r>
                        <a:rPr lang="en-US" sz="1400" b="1" dirty="0">
                          <a:solidFill>
                            <a:srgbClr val="1F7A4A"/>
                          </a:solidFill>
                          <a:latin typeface="Calibri" pitchFamily="34" charset="0"/>
                          <a:ea typeface="Calibri" pitchFamily="34" charset="-122"/>
                          <a:cs typeface="Calibri" pitchFamily="34" charset="-120"/>
                        </a:rPr>
                        <a:t>ADI + haydash</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indent="0" marL="0">
                        <a:buNone/>
                      </a:pPr>
                      <a:r>
                        <a:rPr lang="en-US" sz="1400" b="1" dirty="0">
                          <a:solidFill>
                            <a:srgbClr val="16212E"/>
                          </a:solidFill>
                          <a:latin typeface="Calibri" pitchFamily="34" charset="0"/>
                          <a:ea typeface="Calibri" pitchFamily="34" charset="-122"/>
                          <a:cs typeface="Calibri" pitchFamily="34" charset="-120"/>
                        </a:rPr>
                        <a:t>0.010</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indent="0" marL="0">
                        <a:buNone/>
                      </a:pPr>
                      <a:r>
                        <a:rPr lang="en-US" sz="1400" b="1" dirty="0">
                          <a:solidFill>
                            <a:srgbClr val="16212E"/>
                          </a:solidFill>
                          <a:latin typeface="Calibri" pitchFamily="34" charset="0"/>
                          <a:ea typeface="Calibri" pitchFamily="34" charset="-122"/>
                          <a:cs typeface="Calibri" pitchFamily="34" charset="-120"/>
                        </a:rPr>
                        <a:t>37</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r>
            </a:tbl>
          </a:graphicData>
        </a:graphic>
      </p:graphicFrame>
      <p:sp>
        <p:nvSpPr>
          <p:cNvPr id="7" name="Sabab"/>
          <p:cNvSpPr/>
          <p:nvPr/>
        </p:nvSpPr>
        <p:spPr>
          <a:xfrm>
            <a:off x="6949440" y="4206240"/>
            <a:ext cx="4690872" cy="1737360"/>
          </a:xfrm>
          <a:prstGeom prst="roundRect">
            <a:avLst>
              <a:gd name="adj" fmla="val 6316"/>
            </a:avLst>
          </a:prstGeom>
          <a:solidFill>
            <a:srgbClr val="E7F4EC"/>
          </a:solidFill>
          <a:ln w="12700">
            <a:solidFill>
              <a:srgbClr val="E7F4EC"/>
            </a:solidFill>
            <a:prstDash val="solid"/>
          </a:ln>
        </p:spPr>
      </p:sp>
      <p:sp>
        <p:nvSpPr>
          <p:cNvPr id="8" name="Text 4"/>
          <p:cNvSpPr txBox="1"/>
          <p:nvPr/>
        </p:nvSpPr>
        <p:spPr>
          <a:xfrm>
            <a:off x="7178040" y="4315968"/>
            <a:ext cx="4297680" cy="1554480"/>
          </a:xfrm>
          <a:prstGeom prst="rect">
            <a:avLst/>
          </a:prstGeom>
          <a:noFill/>
          <a:ln/>
        </p:spPr>
        <p:txBody>
          <a:bodyPr wrap="square" lIns="0" tIns="0" rIns="0" bIns="0" rtlCol="0" anchor="t"/>
          <a:lstStyle/>
          <a:p>
            <a:pPr indent="0" marL="0">
              <a:spcAft>
                <a:spcPts val="300"/>
              </a:spcAft>
              <a:buNone/>
            </a:pPr>
            <a:r>
              <a:rPr lang="en-US" sz="1400" b="1" dirty="0">
                <a:solidFill>
                  <a:srgbClr val="16212E"/>
                </a:solidFill>
                <a:latin typeface="Calibri" pitchFamily="34" charset="0"/>
                <a:ea typeface="Calibri" pitchFamily="34" charset="-122"/>
                <a:cs typeface="Calibri" pitchFamily="34" charset="-120"/>
              </a:rPr>
              <a:t>Nega aynan shular?</a:t>
            </a:r>
            <a:endParaRPr lang="en-US" sz="1400" dirty="0"/>
          </a:p>
          <a:p>
            <a:pPr marL="342900" indent="-342900">
              <a:spcAft>
                <a:spcPts val="300"/>
              </a:spcAft>
              <a:buSzPct val="100000"/>
              <a:buChar char="•"/>
            </a:pPr>
            <a:r>
              <a:rPr lang="en-US" sz="1400" dirty="0">
                <a:solidFill>
                  <a:srgbClr val="16212E"/>
                </a:solidFill>
                <a:latin typeface="Calibri" pitchFamily="34" charset="0"/>
                <a:ea typeface="Calibri" pitchFamily="34" charset="-122"/>
                <a:cs typeface="Calibri" pitchFamily="34" charset="-120"/>
              </a:rPr>
              <a:t>istalgan qadamda turg’un</a:t>
            </a:r>
            <a:endParaRPr lang="en-US" sz="1400" dirty="0"/>
          </a:p>
          <a:p>
            <a:pPr marL="342900" indent="-342900">
              <a:spcAft>
                <a:spcPts val="300"/>
              </a:spcAft>
              <a:buSzPct val="100000"/>
              <a:buChar char="•"/>
            </a:pPr>
            <a:r>
              <a:rPr lang="en-US" sz="1400" dirty="0">
                <a:solidFill>
                  <a:srgbClr val="16212E"/>
                </a:solidFill>
                <a:latin typeface="Calibri" pitchFamily="34" charset="0"/>
                <a:ea typeface="Calibri" pitchFamily="34" charset="-122"/>
                <a:cs typeface="Calibri" pitchFamily="34" charset="-120"/>
              </a:rPr>
              <a:t>2-tartibli aniq – oshkormasdan 31 marta aniqroq</a:t>
            </a:r>
            <a:endParaRPr lang="en-US" sz="1400" dirty="0"/>
          </a:p>
          <a:p>
            <a:pPr marL="342900" indent="-342900">
              <a:spcAft>
                <a:spcPts val="300"/>
              </a:spcAft>
              <a:buSzPct val="100000"/>
              <a:buChar char="•"/>
            </a:pPr>
            <a:r>
              <a:rPr lang="en-US" sz="1400" dirty="0">
                <a:solidFill>
                  <a:srgbClr val="16212E"/>
                </a:solidFill>
                <a:latin typeface="Calibri" pitchFamily="34" charset="0"/>
                <a:ea typeface="Calibri" pitchFamily="34" charset="-122"/>
                <a:cs typeface="Calibri" pitchFamily="34" charset="-120"/>
              </a:rPr>
              <a:t>iteratsiyasiz: 1D da Zeydeldan 69, 2D da SOR dan 6 marta tez</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TermoLab: sterjen masalasidan umumiy dasturgacha</a:t>
            </a:r>
            <a:endParaRPr lang="en-US" sz="3200" dirty="0"/>
          </a:p>
        </p:txBody>
      </p:sp>
      <p:sp>
        <p:nvSpPr>
          <p:cNvPr id="3" name="Text 1">
            <a:hlinkClick r:id="rId1" tooltip=""/>
          </p:cNvPr>
          <p:cNvSpPr txBox="1"/>
          <p:nvPr/>
        </p:nvSpPr>
        <p:spPr>
          <a:xfrm>
            <a:off x="548640" y="6419088"/>
            <a:ext cx="5486400" cy="274320"/>
          </a:xfrm>
          <a:prstGeom prst="rect">
            <a:avLst/>
          </a:prstGeom>
          <a:noFill/>
          <a:ln/>
        </p:spPr>
        <p:txBody>
          <a:bodyPr wrap="square" lIns="0" tIns="0" rIns="0" bIns="0" rtlCol="0" anchor="t"/>
          <a:lstStyle/>
          <a:p>
            <a:pPr indent="0" marL="0">
              <a:buNone/>
            </a:pPr>
            <a:r>
              <a:rPr lang="en-US" sz="1100" u="sng" dirty="0">
                <a:solidFill>
                  <a:srgbClr val="1F5FA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ulugbekkamalov0829-web.github.io/termolab</a:t>
            </a:r>
            <a:endParaRPr lang="en-US" sz="1100" dirty="0"/>
          </a:p>
        </p:txBody>
      </p:sp>
      <p:sp>
        <p:nvSpPr>
          <p:cNvPr id="4" name="Qadam 1"/>
          <p:cNvSpPr/>
          <p:nvPr/>
        </p:nvSpPr>
        <p:spPr>
          <a:xfrm>
            <a:off x="548640" y="1371600"/>
            <a:ext cx="2560320" cy="1691640"/>
          </a:xfrm>
          <a:prstGeom prst="roundRect">
            <a:avLst>
              <a:gd name="adj" fmla="val 6486"/>
            </a:avLst>
          </a:prstGeom>
          <a:solidFill>
            <a:srgbClr val="F2F5F8"/>
          </a:solidFill>
          <a:ln w="12700">
            <a:solidFill>
              <a:srgbClr val="F2F5F8"/>
            </a:solidFill>
            <a:prstDash val="solid"/>
          </a:ln>
        </p:spPr>
      </p:sp>
      <p:sp>
        <p:nvSpPr>
          <p:cNvPr id="5" name="Shape 3"/>
          <p:cNvSpPr/>
          <p:nvPr/>
        </p:nvSpPr>
        <p:spPr>
          <a:xfrm>
            <a:off x="749808" y="1554480"/>
            <a:ext cx="420624" cy="420624"/>
          </a:xfrm>
          <a:prstGeom prst="ellipse">
            <a:avLst/>
          </a:prstGeom>
          <a:solidFill>
            <a:srgbClr val="C4401F"/>
          </a:solidFill>
          <a:ln w="12700">
            <a:solidFill>
              <a:srgbClr val="C4401F"/>
            </a:solidFill>
            <a:prstDash val="solid"/>
          </a:ln>
        </p:spPr>
      </p:sp>
      <p:sp>
        <p:nvSpPr>
          <p:cNvPr id="6" name="Text 4"/>
          <p:cNvSpPr txBox="1"/>
          <p:nvPr/>
        </p:nvSpPr>
        <p:spPr>
          <a:xfrm>
            <a:off x="749808" y="15544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298448" y="1572768"/>
            <a:ext cx="169164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Savol</a:t>
            </a:r>
            <a:endParaRPr lang="en-US" sz="1800" dirty="0"/>
          </a:p>
        </p:txBody>
      </p:sp>
      <p:sp>
        <p:nvSpPr>
          <p:cNvPr id="8" name="Text 6"/>
          <p:cNvSpPr txBox="1"/>
          <p:nvPr/>
        </p:nvSpPr>
        <p:spPr>
          <a:xfrm>
            <a:off x="749808" y="2121408"/>
            <a:ext cx="2194560" cy="86868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Foydalanuvchi sohasini tanlaydi va oddiy qiymatlarni kiritadi</a:t>
            </a:r>
            <a:endParaRPr lang="en-US" sz="1400" dirty="0"/>
          </a:p>
        </p:txBody>
      </p:sp>
      <p:sp>
        <p:nvSpPr>
          <p:cNvPr id="9" name="Text 7"/>
          <p:cNvSpPr txBox="1"/>
          <p:nvPr/>
        </p:nvSpPr>
        <p:spPr>
          <a:xfrm>
            <a:off x="3108960" y="1920240"/>
            <a:ext cx="256032" cy="457200"/>
          </a:xfrm>
          <a:prstGeom prst="rect">
            <a:avLst/>
          </a:prstGeom>
          <a:noFill/>
          <a:ln/>
        </p:spPr>
        <p:txBody>
          <a:bodyPr wrap="square" lIns="0" tIns="0" rIns="0" bIns="0" rtlCol="0" anchor="t"/>
          <a:lstStyle/>
          <a:p>
            <a:pPr algn="ctr" indent="0" marL="0">
              <a:buNone/>
            </a:pPr>
            <a:r>
              <a:rPr lang="en-US" sz="2200" dirty="0">
                <a:solidFill>
                  <a:srgbClr val="C4401F"/>
                </a:solidFill>
                <a:latin typeface="Calibri" pitchFamily="34" charset="0"/>
                <a:ea typeface="Calibri" pitchFamily="34" charset="-122"/>
                <a:cs typeface="Calibri" pitchFamily="34" charset="-120"/>
              </a:rPr>
              <a:t>→</a:t>
            </a:r>
            <a:endParaRPr lang="en-US" sz="2200" dirty="0"/>
          </a:p>
        </p:txBody>
      </p:sp>
      <p:sp>
        <p:nvSpPr>
          <p:cNvPr id="10" name="Qadam 2"/>
          <p:cNvSpPr/>
          <p:nvPr/>
        </p:nvSpPr>
        <p:spPr>
          <a:xfrm>
            <a:off x="3364992" y="1371600"/>
            <a:ext cx="2560320" cy="1691640"/>
          </a:xfrm>
          <a:prstGeom prst="roundRect">
            <a:avLst>
              <a:gd name="adj" fmla="val 6486"/>
            </a:avLst>
          </a:prstGeom>
          <a:solidFill>
            <a:srgbClr val="F2F5F8"/>
          </a:solidFill>
          <a:ln w="12700">
            <a:solidFill>
              <a:srgbClr val="F2F5F8"/>
            </a:solidFill>
            <a:prstDash val="solid"/>
          </a:ln>
        </p:spPr>
      </p:sp>
      <p:sp>
        <p:nvSpPr>
          <p:cNvPr id="11" name="Shape 9"/>
          <p:cNvSpPr/>
          <p:nvPr/>
        </p:nvSpPr>
        <p:spPr>
          <a:xfrm>
            <a:off x="3566160" y="1554480"/>
            <a:ext cx="420624" cy="420624"/>
          </a:xfrm>
          <a:prstGeom prst="ellipse">
            <a:avLst/>
          </a:prstGeom>
          <a:solidFill>
            <a:srgbClr val="C4401F"/>
          </a:solidFill>
          <a:ln w="12700">
            <a:solidFill>
              <a:srgbClr val="C4401F"/>
            </a:solidFill>
            <a:prstDash val="solid"/>
          </a:ln>
        </p:spPr>
      </p:sp>
      <p:sp>
        <p:nvSpPr>
          <p:cNvPr id="12" name="Text 10"/>
          <p:cNvSpPr txBox="1"/>
          <p:nvPr/>
        </p:nvSpPr>
        <p:spPr>
          <a:xfrm>
            <a:off x="3566160" y="15544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4114800" y="1572768"/>
            <a:ext cx="169164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Model</a:t>
            </a:r>
            <a:endParaRPr lang="en-US" sz="1800" dirty="0"/>
          </a:p>
        </p:txBody>
      </p:sp>
      <p:sp>
        <p:nvSpPr>
          <p:cNvPr id="14" name="Text 12"/>
          <p:cNvSpPr txBox="1"/>
          <p:nvPr/>
        </p:nvSpPr>
        <p:spPr>
          <a:xfrm>
            <a:off x="3566160" y="2121408"/>
            <a:ext cx="2194560" cy="86868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Dastur masalani 1D yoki 2D tenglamaga aylantiradi</a:t>
            </a:r>
            <a:endParaRPr lang="en-US" sz="1400" dirty="0"/>
          </a:p>
        </p:txBody>
      </p:sp>
      <p:sp>
        <p:nvSpPr>
          <p:cNvPr id="15" name="Text 13"/>
          <p:cNvSpPr txBox="1"/>
          <p:nvPr/>
        </p:nvSpPr>
        <p:spPr>
          <a:xfrm>
            <a:off x="5925312" y="1920240"/>
            <a:ext cx="256032" cy="457200"/>
          </a:xfrm>
          <a:prstGeom prst="rect">
            <a:avLst/>
          </a:prstGeom>
          <a:noFill/>
          <a:ln/>
        </p:spPr>
        <p:txBody>
          <a:bodyPr wrap="square" lIns="0" tIns="0" rIns="0" bIns="0" rtlCol="0" anchor="t"/>
          <a:lstStyle/>
          <a:p>
            <a:pPr algn="ctr" indent="0" marL="0">
              <a:buNone/>
            </a:pPr>
            <a:r>
              <a:rPr lang="en-US" sz="2200" dirty="0">
                <a:solidFill>
                  <a:srgbClr val="C4401F"/>
                </a:solidFill>
                <a:latin typeface="Calibri" pitchFamily="34" charset="0"/>
                <a:ea typeface="Calibri" pitchFamily="34" charset="-122"/>
                <a:cs typeface="Calibri" pitchFamily="34" charset="-120"/>
              </a:rPr>
              <a:t>→</a:t>
            </a:r>
            <a:endParaRPr lang="en-US" sz="2200" dirty="0"/>
          </a:p>
        </p:txBody>
      </p:sp>
      <p:sp>
        <p:nvSpPr>
          <p:cNvPr id="16" name="Qadam 3"/>
          <p:cNvSpPr/>
          <p:nvPr/>
        </p:nvSpPr>
        <p:spPr>
          <a:xfrm>
            <a:off x="6181344" y="1371600"/>
            <a:ext cx="2560320" cy="1691640"/>
          </a:xfrm>
          <a:prstGeom prst="roundRect">
            <a:avLst>
              <a:gd name="adj" fmla="val 6486"/>
            </a:avLst>
          </a:prstGeom>
          <a:solidFill>
            <a:srgbClr val="F2F5F8"/>
          </a:solidFill>
          <a:ln w="12700">
            <a:solidFill>
              <a:srgbClr val="F2F5F8"/>
            </a:solidFill>
            <a:prstDash val="solid"/>
          </a:ln>
        </p:spPr>
      </p:sp>
      <p:sp>
        <p:nvSpPr>
          <p:cNvPr id="17" name="Shape 15"/>
          <p:cNvSpPr/>
          <p:nvPr/>
        </p:nvSpPr>
        <p:spPr>
          <a:xfrm>
            <a:off x="6382512" y="1554480"/>
            <a:ext cx="420624" cy="420624"/>
          </a:xfrm>
          <a:prstGeom prst="ellipse">
            <a:avLst/>
          </a:prstGeom>
          <a:solidFill>
            <a:srgbClr val="C4401F"/>
          </a:solidFill>
          <a:ln w="12700">
            <a:solidFill>
              <a:srgbClr val="C4401F"/>
            </a:solidFill>
            <a:prstDash val="solid"/>
          </a:ln>
        </p:spPr>
      </p:sp>
      <p:sp>
        <p:nvSpPr>
          <p:cNvPr id="18" name="Text 16"/>
          <p:cNvSpPr txBox="1"/>
          <p:nvPr/>
        </p:nvSpPr>
        <p:spPr>
          <a:xfrm>
            <a:off x="6382512" y="15544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6931152" y="1572768"/>
            <a:ext cx="169164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Hisob</a:t>
            </a:r>
            <a:endParaRPr lang="en-US" sz="1800" dirty="0"/>
          </a:p>
        </p:txBody>
      </p:sp>
      <p:sp>
        <p:nvSpPr>
          <p:cNvPr id="20" name="Text 18"/>
          <p:cNvSpPr txBox="1"/>
          <p:nvPr/>
        </p:nvSpPr>
        <p:spPr>
          <a:xfrm>
            <a:off x="6382512" y="2121408"/>
            <a:ext cx="2194560" cy="86868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Eng mos sonli usul (Krank–Nikolson, ADI + haydash) bilan yechiladi</a:t>
            </a:r>
            <a:endParaRPr lang="en-US" sz="1400" dirty="0"/>
          </a:p>
        </p:txBody>
      </p:sp>
      <p:sp>
        <p:nvSpPr>
          <p:cNvPr id="21" name="Text 19"/>
          <p:cNvSpPr txBox="1"/>
          <p:nvPr/>
        </p:nvSpPr>
        <p:spPr>
          <a:xfrm>
            <a:off x="8741664" y="1920240"/>
            <a:ext cx="256032" cy="457200"/>
          </a:xfrm>
          <a:prstGeom prst="rect">
            <a:avLst/>
          </a:prstGeom>
          <a:noFill/>
          <a:ln/>
        </p:spPr>
        <p:txBody>
          <a:bodyPr wrap="square" lIns="0" tIns="0" rIns="0" bIns="0" rtlCol="0" anchor="t"/>
          <a:lstStyle/>
          <a:p>
            <a:pPr algn="ctr" indent="0" marL="0">
              <a:buNone/>
            </a:pPr>
            <a:r>
              <a:rPr lang="en-US" sz="2200" dirty="0">
                <a:solidFill>
                  <a:srgbClr val="C4401F"/>
                </a:solidFill>
                <a:latin typeface="Calibri" pitchFamily="34" charset="0"/>
                <a:ea typeface="Calibri" pitchFamily="34" charset="-122"/>
                <a:cs typeface="Calibri" pitchFamily="34" charset="-120"/>
              </a:rPr>
              <a:t>→</a:t>
            </a:r>
            <a:endParaRPr lang="en-US" sz="2200" dirty="0"/>
          </a:p>
        </p:txBody>
      </p:sp>
      <p:sp>
        <p:nvSpPr>
          <p:cNvPr id="22" name="Qadam 4"/>
          <p:cNvSpPr/>
          <p:nvPr/>
        </p:nvSpPr>
        <p:spPr>
          <a:xfrm>
            <a:off x="8997696" y="1371600"/>
            <a:ext cx="2560320" cy="1691640"/>
          </a:xfrm>
          <a:prstGeom prst="roundRect">
            <a:avLst>
              <a:gd name="adj" fmla="val 6486"/>
            </a:avLst>
          </a:prstGeom>
          <a:solidFill>
            <a:srgbClr val="F2F5F8"/>
          </a:solidFill>
          <a:ln w="12700">
            <a:solidFill>
              <a:srgbClr val="F2F5F8"/>
            </a:solidFill>
            <a:prstDash val="solid"/>
          </a:ln>
        </p:spPr>
      </p:sp>
      <p:sp>
        <p:nvSpPr>
          <p:cNvPr id="23" name="Shape 21"/>
          <p:cNvSpPr/>
          <p:nvPr/>
        </p:nvSpPr>
        <p:spPr>
          <a:xfrm>
            <a:off x="9198864" y="1554480"/>
            <a:ext cx="420624" cy="420624"/>
          </a:xfrm>
          <a:prstGeom prst="ellipse">
            <a:avLst/>
          </a:prstGeom>
          <a:solidFill>
            <a:srgbClr val="C4401F"/>
          </a:solidFill>
          <a:ln w="12700">
            <a:solidFill>
              <a:srgbClr val="C4401F"/>
            </a:solidFill>
            <a:prstDash val="solid"/>
          </a:ln>
        </p:spPr>
      </p:sp>
      <p:sp>
        <p:nvSpPr>
          <p:cNvPr id="24" name="Text 22"/>
          <p:cNvSpPr txBox="1"/>
          <p:nvPr/>
        </p:nvSpPr>
        <p:spPr>
          <a:xfrm>
            <a:off x="9198864" y="15544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5" name="Text 23"/>
          <p:cNvSpPr txBox="1"/>
          <p:nvPr/>
        </p:nvSpPr>
        <p:spPr>
          <a:xfrm>
            <a:off x="9747504" y="1572768"/>
            <a:ext cx="169164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Javob va tavsiya</a:t>
            </a:r>
            <a:endParaRPr lang="en-US" sz="1800" dirty="0"/>
          </a:p>
        </p:txBody>
      </p:sp>
      <p:sp>
        <p:nvSpPr>
          <p:cNvPr id="26" name="Text 24"/>
          <p:cNvSpPr txBox="1"/>
          <p:nvPr/>
        </p:nvSpPr>
        <p:spPr>
          <a:xfrm>
            <a:off x="9198864" y="2121408"/>
            <a:ext cx="2194560" cy="86868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Natija, 3D ko’rinish, “nima qilish kerak” va matnli hisobot</a:t>
            </a:r>
            <a:endParaRPr lang="en-US" sz="1400" dirty="0"/>
          </a:p>
        </p:txBody>
      </p:sp>
      <p:pic>
        <p:nvPicPr>
          <p:cNvPr id="27" name="TermoLab bosh sahifasi" descr="TermoLab bosh sahifasi">    </p:cNvPr>
          <p:cNvPicPr>
            <a:picLocks noChangeAspect="1"/>
          </p:cNvPicPr>
          <p:nvPr/>
        </p:nvPicPr>
        <p:blipFill>
          <a:blip r:embed="rId2"/>
          <a:stretch>
            <a:fillRect/>
          </a:stretch>
        </p:blipFill>
        <p:spPr>
          <a:xfrm>
            <a:off x="548640" y="3291840"/>
            <a:ext cx="6675120" cy="3013075"/>
          </a:xfrm>
          <a:prstGeom prst="rect">
            <a:avLst/>
          </a:prstGeom>
        </p:spPr>
      </p:pic>
      <p:sp>
        <p:nvSpPr>
          <p:cNvPr id="28" name="Shape 25">
            <a:hlinkClick r:id="rId3" tooltip="TermoLab saytini ochish"/>
          </p:cNvPr>
          <p:cNvSpPr/>
          <p:nvPr/>
        </p:nvSpPr>
        <p:spPr>
          <a:xfrm>
            <a:off x="548640" y="3291840"/>
            <a:ext cx="6675120" cy="3013075"/>
          </a:xfrm>
          <a:prstGeom prst="rect">
            <a:avLst/>
          </a:prstGeom>
          <a:solidFill>
            <a:srgbClr val="FFFFFF">
              <a:alpha val="0"/>
            </a:srgbClr>
          </a:solidFill>
          <a:ln w="12700">
            <a:solidFill>
              <a:srgbClr val="FFFFFF">
                <a:alpha val="0"/>
              </a:srgbClr>
            </a:solidFill>
            <a:prstDash val="solid"/>
          </a:ln>
        </p:spPr>
      </p:sp>
      <p:sp>
        <p:nvSpPr>
          <p:cNvPr id="29" name="Ilmiy laboratoriya"/>
          <p:cNvSpPr/>
          <p:nvPr/>
        </p:nvSpPr>
        <p:spPr>
          <a:xfrm>
            <a:off x="7498080" y="3291840"/>
            <a:ext cx="4142232" cy="896112"/>
          </a:xfrm>
          <a:prstGeom prst="roundRect">
            <a:avLst>
              <a:gd name="adj" fmla="val 12245"/>
            </a:avLst>
          </a:prstGeom>
          <a:solidFill>
            <a:srgbClr val="F2F5F8"/>
          </a:solidFill>
          <a:ln w="12700">
            <a:solidFill>
              <a:srgbClr val="F2F5F8"/>
            </a:solidFill>
            <a:prstDash val="solid"/>
          </a:ln>
        </p:spPr>
      </p:sp>
      <p:sp>
        <p:nvSpPr>
          <p:cNvPr id="30" name="Text 27"/>
          <p:cNvSpPr txBox="1"/>
          <p:nvPr/>
        </p:nvSpPr>
        <p:spPr>
          <a:xfrm>
            <a:off x="7699248" y="3383280"/>
            <a:ext cx="3749040" cy="320040"/>
          </a:xfrm>
          <a:prstGeom prst="rect">
            <a:avLst/>
          </a:prstGeom>
          <a:noFill/>
          <a:ln/>
        </p:spPr>
        <p:txBody>
          <a:bodyPr wrap="square" lIns="0" tIns="0" rIns="0" bIns="0" rtlCol="0" anchor="t"/>
          <a:lstStyle/>
          <a:p>
            <a:pPr indent="0" marL="0">
              <a:buNone/>
            </a:pPr>
            <a:r>
              <a:rPr lang="en-US" sz="1600" b="1" dirty="0">
                <a:solidFill>
                  <a:srgbClr val="1F5FA8"/>
                </a:solidFill>
                <a:latin typeface="Calibri" pitchFamily="34" charset="0"/>
                <a:ea typeface="Calibri" pitchFamily="34" charset="-122"/>
                <a:cs typeface="Calibri" pitchFamily="34" charset="-120"/>
              </a:rPr>
              <a:t>Ilmiy laboratoriya</a:t>
            </a:r>
            <a:endParaRPr lang="en-US" sz="1600" dirty="0"/>
          </a:p>
        </p:txBody>
      </p:sp>
      <p:sp>
        <p:nvSpPr>
          <p:cNvPr id="31" name="Text 28"/>
          <p:cNvSpPr txBox="1"/>
          <p:nvPr/>
        </p:nvSpPr>
        <p:spPr>
          <a:xfrm>
            <a:off x="7699248" y="3712464"/>
            <a:ext cx="3749040" cy="438912"/>
          </a:xfrm>
          <a:prstGeom prst="rect">
            <a:avLst/>
          </a:prstGeom>
          <a:noFill/>
          <a:ln/>
        </p:spPr>
        <p:txBody>
          <a:bodyPr wrap="square" lIns="0" tIns="0" rIns="0" bIns="0" rtlCol="0" anchor="t"/>
          <a:lstStyle/>
          <a:p>
            <a:pPr indent="0" marL="0">
              <a:buNone/>
            </a:pPr>
            <a:r>
              <a:rPr lang="en-US" sz="1200" dirty="0">
                <a:solidFill>
                  <a:srgbClr val="56657A"/>
                </a:solidFill>
                <a:latin typeface="Calibri" pitchFamily="34" charset="0"/>
                <a:ea typeface="Calibri" pitchFamily="34" charset="-122"/>
                <a:cs typeface="Calibri" pitchFamily="34" charset="-120"/>
              </a:rPr>
              <a:t>sterjen, plastinka; I–III tur chegaraviy shartlar; sxema va yechish usulini tanlash</a:t>
            </a:r>
            <a:endParaRPr lang="en-US" sz="1200" dirty="0"/>
          </a:p>
        </p:txBody>
      </p:sp>
      <p:sp>
        <p:nvSpPr>
          <p:cNvPr id="32" name="Usullarni taqqoslash"/>
          <p:cNvSpPr/>
          <p:nvPr/>
        </p:nvSpPr>
        <p:spPr>
          <a:xfrm>
            <a:off x="7498080" y="4315968"/>
            <a:ext cx="4142232" cy="896112"/>
          </a:xfrm>
          <a:prstGeom prst="roundRect">
            <a:avLst>
              <a:gd name="adj" fmla="val 12245"/>
            </a:avLst>
          </a:prstGeom>
          <a:solidFill>
            <a:srgbClr val="F2F5F8"/>
          </a:solidFill>
          <a:ln w="12700">
            <a:solidFill>
              <a:srgbClr val="F2F5F8"/>
            </a:solidFill>
            <a:prstDash val="solid"/>
          </a:ln>
        </p:spPr>
      </p:sp>
      <p:sp>
        <p:nvSpPr>
          <p:cNvPr id="33" name="Text 30"/>
          <p:cNvSpPr txBox="1"/>
          <p:nvPr/>
        </p:nvSpPr>
        <p:spPr>
          <a:xfrm>
            <a:off x="7699248" y="4407408"/>
            <a:ext cx="3749040" cy="320040"/>
          </a:xfrm>
          <a:prstGeom prst="rect">
            <a:avLst/>
          </a:prstGeom>
          <a:noFill/>
          <a:ln/>
        </p:spPr>
        <p:txBody>
          <a:bodyPr wrap="square" lIns="0" tIns="0" rIns="0" bIns="0" rtlCol="0" anchor="t"/>
          <a:lstStyle/>
          <a:p>
            <a:pPr indent="0" marL="0">
              <a:buNone/>
            </a:pPr>
            <a:r>
              <a:rPr lang="en-US" sz="1600" b="1" dirty="0">
                <a:solidFill>
                  <a:srgbClr val="1F7A4A"/>
                </a:solidFill>
                <a:latin typeface="Calibri" pitchFamily="34" charset="0"/>
                <a:ea typeface="Calibri" pitchFamily="34" charset="-122"/>
                <a:cs typeface="Calibri" pitchFamily="34" charset="-120"/>
              </a:rPr>
              <a:t>Usullarni taqqoslash</a:t>
            </a:r>
            <a:endParaRPr lang="en-US" sz="1600" dirty="0"/>
          </a:p>
        </p:txBody>
      </p:sp>
      <p:sp>
        <p:nvSpPr>
          <p:cNvPr id="34" name="Text 31"/>
          <p:cNvSpPr txBox="1"/>
          <p:nvPr/>
        </p:nvSpPr>
        <p:spPr>
          <a:xfrm>
            <a:off x="7699248" y="4736592"/>
            <a:ext cx="3749040" cy="438912"/>
          </a:xfrm>
          <a:prstGeom prst="rect">
            <a:avLst/>
          </a:prstGeom>
          <a:noFill/>
          <a:ln/>
        </p:spPr>
        <p:txBody>
          <a:bodyPr wrap="square" lIns="0" tIns="0" rIns="0" bIns="0" rtlCol="0" anchor="t"/>
          <a:lstStyle/>
          <a:p>
            <a:pPr indent="0" marL="0">
              <a:buNone/>
            </a:pPr>
            <a:r>
              <a:rPr lang="en-US" sz="1200" dirty="0">
                <a:solidFill>
                  <a:srgbClr val="56657A"/>
                </a:solidFill>
                <a:latin typeface="Calibri" pitchFamily="34" charset="0"/>
                <a:ea typeface="Calibri" pitchFamily="34" charset="-122"/>
                <a:cs typeface="Calibri" pitchFamily="34" charset="-120"/>
              </a:rPr>
              <a:t>6 usul bir masalada: xato, tezlik va eng maqbuli</a:t>
            </a:r>
            <a:endParaRPr lang="en-US" sz="1200" dirty="0"/>
          </a:p>
        </p:txBody>
      </p:sp>
      <p:sp>
        <p:nvSpPr>
          <p:cNvPr id="35" name="8 ta amaliy soha"/>
          <p:cNvSpPr/>
          <p:nvPr/>
        </p:nvSpPr>
        <p:spPr>
          <a:xfrm>
            <a:off x="7498080" y="5340096"/>
            <a:ext cx="4142232" cy="896112"/>
          </a:xfrm>
          <a:prstGeom prst="roundRect">
            <a:avLst>
              <a:gd name="adj" fmla="val 12245"/>
            </a:avLst>
          </a:prstGeom>
          <a:solidFill>
            <a:srgbClr val="F2F5F8"/>
          </a:solidFill>
          <a:ln w="12700">
            <a:solidFill>
              <a:srgbClr val="F2F5F8"/>
            </a:solidFill>
            <a:prstDash val="solid"/>
          </a:ln>
        </p:spPr>
      </p:sp>
      <p:sp>
        <p:nvSpPr>
          <p:cNvPr id="36" name="Text 33"/>
          <p:cNvSpPr txBox="1"/>
          <p:nvPr/>
        </p:nvSpPr>
        <p:spPr>
          <a:xfrm>
            <a:off x="7699248" y="5431536"/>
            <a:ext cx="3749040" cy="320040"/>
          </a:xfrm>
          <a:prstGeom prst="rect">
            <a:avLst/>
          </a:prstGeom>
          <a:noFill/>
          <a:ln/>
        </p:spPr>
        <p:txBody>
          <a:bodyPr wrap="square" lIns="0" tIns="0" rIns="0" bIns="0" rtlCol="0" anchor="t"/>
          <a:lstStyle/>
          <a:p>
            <a:pPr indent="0" marL="0">
              <a:buNone/>
            </a:pPr>
            <a:r>
              <a:rPr lang="en-US" sz="1600" b="1" dirty="0">
                <a:solidFill>
                  <a:srgbClr val="C4401F"/>
                </a:solidFill>
                <a:latin typeface="Calibri" pitchFamily="34" charset="0"/>
                <a:ea typeface="Calibri" pitchFamily="34" charset="-122"/>
                <a:cs typeface="Calibri" pitchFamily="34" charset="-120"/>
              </a:rPr>
              <a:t>8 ta amaliy soha</a:t>
            </a:r>
            <a:endParaRPr lang="en-US" sz="1600" dirty="0"/>
          </a:p>
        </p:txBody>
      </p:sp>
      <p:sp>
        <p:nvSpPr>
          <p:cNvPr id="37" name="Text 34"/>
          <p:cNvSpPr txBox="1"/>
          <p:nvPr/>
        </p:nvSpPr>
        <p:spPr>
          <a:xfrm>
            <a:off x="7699248" y="5760720"/>
            <a:ext cx="3749040" cy="438912"/>
          </a:xfrm>
          <a:prstGeom prst="rect">
            <a:avLst/>
          </a:prstGeom>
          <a:noFill/>
          <a:ln/>
        </p:spPr>
        <p:txBody>
          <a:bodyPr wrap="square" lIns="0" tIns="0" rIns="0" bIns="0" rtlCol="0" anchor="t"/>
          <a:lstStyle/>
          <a:p>
            <a:pPr indent="0" marL="0">
              <a:buNone/>
            </a:pPr>
            <a:r>
              <a:rPr lang="en-US" sz="1200" dirty="0">
                <a:solidFill>
                  <a:srgbClr val="56657A"/>
                </a:solidFill>
                <a:latin typeface="Calibri" pitchFamily="34" charset="0"/>
                <a:ea typeface="Calibri" pitchFamily="34" charset="-122"/>
                <a:cs typeface="Calibri" pitchFamily="34" charset="-120"/>
              </a:rPr>
              <a:t>uy, quvur, tuxum, protsessor, payvand, beton, yong’in, konserva</a:t>
            </a:r>
            <a:endParaRPr lang="en-US" sz="12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Ilmiy laboratoriya: sterjenni o’zingiz sozlang</a:t>
            </a:r>
            <a:endParaRPr lang="en-US" sz="3200" dirty="0"/>
          </a:p>
        </p:txBody>
      </p:sp>
      <p:sp>
        <p:nvSpPr>
          <p:cNvPr id="3" name="Text 1">
            <a:hlinkClick r:id="rId1" tooltip=""/>
          </p:cNvPr>
          <p:cNvSpPr txBox="1"/>
          <p:nvPr/>
        </p:nvSpPr>
        <p:spPr>
          <a:xfrm>
            <a:off x="548640" y="6419088"/>
            <a:ext cx="5486400" cy="274320"/>
          </a:xfrm>
          <a:prstGeom prst="rect">
            <a:avLst/>
          </a:prstGeom>
          <a:noFill/>
          <a:ln/>
        </p:spPr>
        <p:txBody>
          <a:bodyPr wrap="square" lIns="0" tIns="0" rIns="0" bIns="0" rtlCol="0" anchor="t"/>
          <a:lstStyle/>
          <a:p>
            <a:pPr indent="0" marL="0">
              <a:buNone/>
            </a:pPr>
            <a:r>
              <a:rPr lang="en-US" sz="1100" u="sng" dirty="0">
                <a:solidFill>
                  <a:srgbClr val="1F5FA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ulugbekkamalov0829-web.github.io/termolab</a:t>
            </a:r>
            <a:endParaRPr lang="en-US" sz="1100" dirty="0"/>
          </a:p>
        </p:txBody>
      </p:sp>
      <p:pic>
        <p:nvPicPr>
          <p:cNvPr id="4" name="TermoLab ilmiy laboratoriyasi: mis sterjen" descr="TermoLab ilmiy laboratoriyasi: mis sterjen">    </p:cNvPr>
          <p:cNvPicPr>
            <a:picLocks noChangeAspect="1"/>
          </p:cNvPicPr>
          <p:nvPr/>
        </p:nvPicPr>
        <p:blipFill>
          <a:blip r:embed="rId2"/>
          <a:stretch>
            <a:fillRect/>
          </a:stretch>
        </p:blipFill>
        <p:spPr>
          <a:xfrm>
            <a:off x="548640" y="1280160"/>
            <a:ext cx="7110374" cy="4937760"/>
          </a:xfrm>
          <a:prstGeom prst="rect">
            <a:avLst/>
          </a:prstGeom>
        </p:spPr>
      </p:pic>
      <p:sp>
        <p:nvSpPr>
          <p:cNvPr id="5" name="Shape 2">
            <a:hlinkClick r:id="rId3" tooltip="TermoLab saytini ochish"/>
          </p:cNvPr>
          <p:cNvSpPr/>
          <p:nvPr/>
        </p:nvSpPr>
        <p:spPr>
          <a:xfrm>
            <a:off x="548640" y="1280160"/>
            <a:ext cx="7110374" cy="4937760"/>
          </a:xfrm>
          <a:prstGeom prst="rect">
            <a:avLst/>
          </a:prstGeom>
          <a:solidFill>
            <a:srgbClr val="FFFFFF">
              <a:alpha val="0"/>
            </a:srgbClr>
          </a:solidFill>
          <a:ln w="12700">
            <a:solidFill>
              <a:srgbClr val="FFFFFF">
                <a:alpha val="0"/>
              </a:srgbClr>
            </a:solidFill>
            <a:prstDash val="solid"/>
          </a:ln>
        </p:spPr>
      </p:sp>
      <p:sp>
        <p:nvSpPr>
          <p:cNvPr id="6" name="Sozlang"/>
          <p:cNvSpPr/>
          <p:nvPr/>
        </p:nvSpPr>
        <p:spPr>
          <a:xfrm>
            <a:off x="8001000" y="1280160"/>
            <a:ext cx="3639312" cy="1508760"/>
          </a:xfrm>
          <a:prstGeom prst="roundRect">
            <a:avLst>
              <a:gd name="adj" fmla="val 7273"/>
            </a:avLst>
          </a:prstGeom>
          <a:solidFill>
            <a:srgbClr val="F2F5F8"/>
          </a:solidFill>
          <a:ln w="12700">
            <a:solidFill>
              <a:srgbClr val="F2F5F8"/>
            </a:solidFill>
            <a:prstDash val="solid"/>
          </a:ln>
        </p:spPr>
      </p:sp>
      <p:sp>
        <p:nvSpPr>
          <p:cNvPr id="7" name="Text 4"/>
          <p:cNvSpPr txBox="1"/>
          <p:nvPr/>
        </p:nvSpPr>
        <p:spPr>
          <a:xfrm>
            <a:off x="8183880" y="1389888"/>
            <a:ext cx="3291840" cy="347472"/>
          </a:xfrm>
          <a:prstGeom prst="rect">
            <a:avLst/>
          </a:prstGeom>
          <a:noFill/>
          <a:ln/>
        </p:spPr>
        <p:txBody>
          <a:bodyPr wrap="square" lIns="0" tIns="0" rIns="0" bIns="0" rtlCol="0" anchor="t"/>
          <a:lstStyle/>
          <a:p>
            <a:pPr indent="0" marL="0">
              <a:buNone/>
            </a:pPr>
            <a:r>
              <a:rPr lang="en-US" sz="1700" b="1" dirty="0">
                <a:solidFill>
                  <a:srgbClr val="C4401F"/>
                </a:solidFill>
                <a:latin typeface="Calibri" pitchFamily="34" charset="0"/>
                <a:ea typeface="Calibri" pitchFamily="34" charset="-122"/>
                <a:cs typeface="Calibri" pitchFamily="34" charset="-120"/>
              </a:rPr>
              <a:t>Sozlang</a:t>
            </a:r>
            <a:endParaRPr lang="en-US" sz="1700" dirty="0"/>
          </a:p>
        </p:txBody>
      </p:sp>
      <p:sp>
        <p:nvSpPr>
          <p:cNvPr id="8" name="Text 5"/>
          <p:cNvSpPr txBox="1"/>
          <p:nvPr/>
        </p:nvSpPr>
        <p:spPr>
          <a:xfrm>
            <a:off x="8183880" y="1783080"/>
            <a:ext cx="3291840" cy="960120"/>
          </a:xfrm>
          <a:prstGeom prst="rect">
            <a:avLst/>
          </a:prstGeom>
          <a:noFill/>
          <a:ln/>
        </p:spPr>
        <p:txBody>
          <a:bodyPr wrap="square" lIns="0" tIns="0" rIns="0" bIns="0" rtlCol="0" anchor="t"/>
          <a:lstStyle/>
          <a:p>
            <a:pPr indent="0" marL="0">
              <a:buNone/>
            </a:pPr>
            <a:r>
              <a:rPr lang="en-US" sz="1300" dirty="0">
                <a:solidFill>
                  <a:srgbClr val="16212E"/>
                </a:solidFill>
                <a:latin typeface="Calibri" pitchFamily="34" charset="0"/>
                <a:ea typeface="Calibri" pitchFamily="34" charset="-122"/>
                <a:cs typeface="Calibri" pitchFamily="34" charset="-120"/>
              </a:rPr>
              <a:t>Material (mis, po’lat, beton…), uzunlik, boshlang’ich harorat, uchlaridagi shart: harorat, oqim yoki havo bilan almashinuv.</a:t>
            </a:r>
            <a:endParaRPr lang="en-US" sz="1300" dirty="0"/>
          </a:p>
        </p:txBody>
      </p:sp>
      <p:sp>
        <p:nvSpPr>
          <p:cNvPr id="9" name="Ishga tushiring"/>
          <p:cNvSpPr/>
          <p:nvPr/>
        </p:nvSpPr>
        <p:spPr>
          <a:xfrm>
            <a:off x="8001000" y="2944368"/>
            <a:ext cx="3639312" cy="1508760"/>
          </a:xfrm>
          <a:prstGeom prst="roundRect">
            <a:avLst>
              <a:gd name="adj" fmla="val 7273"/>
            </a:avLst>
          </a:prstGeom>
          <a:solidFill>
            <a:srgbClr val="F2F5F8"/>
          </a:solidFill>
          <a:ln w="12700">
            <a:solidFill>
              <a:srgbClr val="F2F5F8"/>
            </a:solidFill>
            <a:prstDash val="solid"/>
          </a:ln>
        </p:spPr>
      </p:sp>
      <p:sp>
        <p:nvSpPr>
          <p:cNvPr id="10" name="Text 7"/>
          <p:cNvSpPr txBox="1"/>
          <p:nvPr/>
        </p:nvSpPr>
        <p:spPr>
          <a:xfrm>
            <a:off x="8183880" y="3054096"/>
            <a:ext cx="3291840" cy="347472"/>
          </a:xfrm>
          <a:prstGeom prst="rect">
            <a:avLst/>
          </a:prstGeom>
          <a:noFill/>
          <a:ln/>
        </p:spPr>
        <p:txBody>
          <a:bodyPr wrap="square" lIns="0" tIns="0" rIns="0" bIns="0" rtlCol="0" anchor="t"/>
          <a:lstStyle/>
          <a:p>
            <a:pPr indent="0" marL="0">
              <a:buNone/>
            </a:pPr>
            <a:r>
              <a:rPr lang="en-US" sz="1700" b="1" dirty="0">
                <a:solidFill>
                  <a:srgbClr val="1F5FA8"/>
                </a:solidFill>
                <a:latin typeface="Calibri" pitchFamily="34" charset="0"/>
                <a:ea typeface="Calibri" pitchFamily="34" charset="-122"/>
                <a:cs typeface="Calibri" pitchFamily="34" charset="-120"/>
              </a:rPr>
              <a:t>Ishga tushiring</a:t>
            </a:r>
            <a:endParaRPr lang="en-US" sz="1700" dirty="0"/>
          </a:p>
        </p:txBody>
      </p:sp>
      <p:sp>
        <p:nvSpPr>
          <p:cNvPr id="11" name="Text 8"/>
          <p:cNvSpPr txBox="1"/>
          <p:nvPr/>
        </p:nvSpPr>
        <p:spPr>
          <a:xfrm>
            <a:off x="8183880" y="3447288"/>
            <a:ext cx="3291840" cy="960120"/>
          </a:xfrm>
          <a:prstGeom prst="rect">
            <a:avLst/>
          </a:prstGeom>
          <a:noFill/>
          <a:ln/>
        </p:spPr>
        <p:txBody>
          <a:bodyPr wrap="square" lIns="0" tIns="0" rIns="0" bIns="0" rtlCol="0" anchor="t"/>
          <a:lstStyle/>
          <a:p>
            <a:pPr indent="0" marL="0">
              <a:buNone/>
            </a:pPr>
            <a:r>
              <a:rPr lang="en-US" sz="1300" dirty="0">
                <a:solidFill>
                  <a:srgbClr val="16212E"/>
                </a:solidFill>
                <a:latin typeface="Calibri" pitchFamily="34" charset="0"/>
                <a:ea typeface="Calibri" pitchFamily="34" charset="-122"/>
                <a:cs typeface="Calibri" pitchFamily="34" charset="-120"/>
              </a:rPr>
              <a:t>“Boshlash” tugmasi: sterjenning rangi vaqt o’tishi bilan o’zgaradi; slayder bilan istalgan vaqtga o’ting.</a:t>
            </a:r>
            <a:endParaRPr lang="en-US" sz="1300" dirty="0"/>
          </a:p>
        </p:txBody>
      </p:sp>
      <p:sp>
        <p:nvSpPr>
          <p:cNvPr id="12" name="O’qing"/>
          <p:cNvSpPr/>
          <p:nvPr/>
        </p:nvSpPr>
        <p:spPr>
          <a:xfrm>
            <a:off x="8001000" y="4608576"/>
            <a:ext cx="3639312" cy="1508760"/>
          </a:xfrm>
          <a:prstGeom prst="roundRect">
            <a:avLst>
              <a:gd name="adj" fmla="val 7273"/>
            </a:avLst>
          </a:prstGeom>
          <a:solidFill>
            <a:srgbClr val="F2F5F8"/>
          </a:solidFill>
          <a:ln w="12700">
            <a:solidFill>
              <a:srgbClr val="F2F5F8"/>
            </a:solidFill>
            <a:prstDash val="solid"/>
          </a:ln>
        </p:spPr>
      </p:sp>
      <p:sp>
        <p:nvSpPr>
          <p:cNvPr id="13" name="Text 10"/>
          <p:cNvSpPr txBox="1"/>
          <p:nvPr/>
        </p:nvSpPr>
        <p:spPr>
          <a:xfrm>
            <a:off x="8183880" y="4718304"/>
            <a:ext cx="3291840" cy="347472"/>
          </a:xfrm>
          <a:prstGeom prst="rect">
            <a:avLst/>
          </a:prstGeom>
          <a:noFill/>
          <a:ln/>
        </p:spPr>
        <p:txBody>
          <a:bodyPr wrap="square" lIns="0" tIns="0" rIns="0" bIns="0" rtlCol="0" anchor="t"/>
          <a:lstStyle/>
          <a:p>
            <a:pPr indent="0" marL="0">
              <a:buNone/>
            </a:pPr>
            <a:r>
              <a:rPr lang="en-US" sz="1700" b="1" dirty="0">
                <a:solidFill>
                  <a:srgbClr val="1F7A4A"/>
                </a:solidFill>
                <a:latin typeface="Calibri" pitchFamily="34" charset="0"/>
                <a:ea typeface="Calibri" pitchFamily="34" charset="-122"/>
                <a:cs typeface="Calibri" pitchFamily="34" charset="-120"/>
              </a:rPr>
              <a:t>O’qing</a:t>
            </a:r>
            <a:endParaRPr lang="en-US" sz="1700" dirty="0"/>
          </a:p>
        </p:txBody>
      </p:sp>
      <p:sp>
        <p:nvSpPr>
          <p:cNvPr id="14" name="Text 11"/>
          <p:cNvSpPr txBox="1"/>
          <p:nvPr/>
        </p:nvSpPr>
        <p:spPr>
          <a:xfrm>
            <a:off x="8183880" y="5111496"/>
            <a:ext cx="3291840" cy="960120"/>
          </a:xfrm>
          <a:prstGeom prst="rect">
            <a:avLst/>
          </a:prstGeom>
          <a:noFill/>
          <a:ln/>
        </p:spPr>
        <p:txBody>
          <a:bodyPr wrap="square" lIns="0" tIns="0" rIns="0" bIns="0" rtlCol="0" anchor="t"/>
          <a:lstStyle/>
          <a:p>
            <a:pPr indent="0" marL="0">
              <a:buNone/>
            </a:pPr>
            <a:r>
              <a:rPr lang="en-US" sz="1300" dirty="0">
                <a:solidFill>
                  <a:srgbClr val="16212E"/>
                </a:solidFill>
                <a:latin typeface="Calibri" pitchFamily="34" charset="0"/>
                <a:ea typeface="Calibri" pitchFamily="34" charset="-122"/>
                <a:cs typeface="Calibri" pitchFamily="34" charset="-120"/>
              </a:rPr>
              <a:t>Matnli natija: eng issiq va sovuq joy, issiqlik oqimi, qachon barqaror holat qaror topishi.</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Sakkiz amaliy soha – savol sohaning o’z tilida</a:t>
            </a:r>
            <a:endParaRPr lang="en-US" sz="3200" dirty="0"/>
          </a:p>
        </p:txBody>
      </p:sp>
      <p:sp>
        <p:nvSpPr>
          <p:cNvPr id="3" name="Text 1">
            <a:hlinkClick r:id="rId1" tooltip=""/>
          </p:cNvPr>
          <p:cNvSpPr txBox="1"/>
          <p:nvPr/>
        </p:nvSpPr>
        <p:spPr>
          <a:xfrm>
            <a:off x="548640" y="6419088"/>
            <a:ext cx="5486400" cy="274320"/>
          </a:xfrm>
          <a:prstGeom prst="rect">
            <a:avLst/>
          </a:prstGeom>
          <a:noFill/>
          <a:ln/>
        </p:spPr>
        <p:txBody>
          <a:bodyPr wrap="square" lIns="0" tIns="0" rIns="0" bIns="0" rtlCol="0" anchor="t"/>
          <a:lstStyle/>
          <a:p>
            <a:pPr indent="0" marL="0">
              <a:buNone/>
            </a:pPr>
            <a:r>
              <a:rPr lang="en-US" sz="1100" u="sng" dirty="0">
                <a:solidFill>
                  <a:srgbClr val="1F5FA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ulugbekkamalov0829-web.github.io/termolab</a:t>
            </a:r>
            <a:endParaRPr lang="en-US" sz="1100" dirty="0"/>
          </a:p>
        </p:txBody>
      </p:sp>
      <p:sp>
        <p:nvSpPr>
          <p:cNvPr id="4" name="Uy devori"/>
          <p:cNvSpPr/>
          <p:nvPr/>
        </p:nvSpPr>
        <p:spPr>
          <a:xfrm>
            <a:off x="548640" y="1325880"/>
            <a:ext cx="2633472" cy="2240280"/>
          </a:xfrm>
          <a:prstGeom prst="roundRect">
            <a:avLst>
              <a:gd name="adj" fmla="val 4898"/>
            </a:avLst>
          </a:prstGeom>
          <a:solidFill>
            <a:srgbClr val="F2F5F8"/>
          </a:solidFill>
          <a:ln w="12700">
            <a:solidFill>
              <a:srgbClr val="F2F5F8"/>
            </a:solidFill>
            <a:prstDash val="solid"/>
          </a:ln>
        </p:spPr>
      </p:sp>
      <p:sp>
        <p:nvSpPr>
          <p:cNvPr id="5" name="Shape 3"/>
          <p:cNvSpPr/>
          <p:nvPr/>
        </p:nvSpPr>
        <p:spPr>
          <a:xfrm>
            <a:off x="749808" y="1508760"/>
            <a:ext cx="1417320" cy="329184"/>
          </a:xfrm>
          <a:prstGeom prst="roundRect">
            <a:avLst>
              <a:gd name="adj" fmla="val 22222"/>
            </a:avLst>
          </a:prstGeom>
          <a:solidFill>
            <a:srgbClr val="FDF3E1"/>
          </a:solidFill>
          <a:ln w="12700">
            <a:solidFill>
              <a:srgbClr val="FDF3E1"/>
            </a:solidFill>
            <a:prstDash val="solid"/>
          </a:ln>
        </p:spPr>
      </p:sp>
      <p:sp>
        <p:nvSpPr>
          <p:cNvPr id="6" name="Text 4"/>
          <p:cNvSpPr txBox="1"/>
          <p:nvPr/>
        </p:nvSpPr>
        <p:spPr>
          <a:xfrm>
            <a:off x="749808" y="1508760"/>
            <a:ext cx="1417320" cy="329184"/>
          </a:xfrm>
          <a:prstGeom prst="rect">
            <a:avLst/>
          </a:prstGeom>
          <a:noFill/>
          <a:ln/>
        </p:spPr>
        <p:txBody>
          <a:bodyPr wrap="square" lIns="0" tIns="0" rIns="0" bIns="0" rtlCol="0" anchor="ctr"/>
          <a:lstStyle/>
          <a:p>
            <a:pPr algn="ctr" indent="0" marL="0">
              <a:buNone/>
            </a:pPr>
            <a:r>
              <a:rPr lang="en-US" sz="1200" b="1" dirty="0">
                <a:solidFill>
                  <a:srgbClr val="C77F12"/>
                </a:solidFill>
                <a:latin typeface="Calibri" pitchFamily="34" charset="0"/>
                <a:ea typeface="Calibri" pitchFamily="34" charset="-122"/>
                <a:cs typeface="Calibri" pitchFamily="34" charset="-120"/>
              </a:rPr>
              <a:t>1D</a:t>
            </a:r>
            <a:endParaRPr lang="en-US" sz="1200" dirty="0"/>
          </a:p>
        </p:txBody>
      </p:sp>
      <p:sp>
        <p:nvSpPr>
          <p:cNvPr id="7" name="Text 5"/>
          <p:cNvSpPr txBox="1"/>
          <p:nvPr/>
        </p:nvSpPr>
        <p:spPr>
          <a:xfrm>
            <a:off x="749808" y="1965960"/>
            <a:ext cx="228600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Uy devori</a:t>
            </a:r>
            <a:endParaRPr lang="en-US" sz="1800" dirty="0"/>
          </a:p>
        </p:txBody>
      </p:sp>
      <p:sp>
        <p:nvSpPr>
          <p:cNvPr id="8" name="Text 6"/>
          <p:cNvSpPr txBox="1"/>
          <p:nvPr/>
        </p:nvSpPr>
        <p:spPr>
          <a:xfrm>
            <a:off x="749808" y="2423160"/>
            <a:ext cx="2286000" cy="105156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38 sm g’isht: 42.8 W/m². Tavsiya: 7 sm penoplast.</a:t>
            </a:r>
            <a:endParaRPr lang="en-US" sz="1400" dirty="0"/>
          </a:p>
        </p:txBody>
      </p:sp>
      <p:sp>
        <p:nvSpPr>
          <p:cNvPr id="9" name="Issiq suv quvuri"/>
          <p:cNvSpPr/>
          <p:nvPr/>
        </p:nvSpPr>
        <p:spPr>
          <a:xfrm>
            <a:off x="3364992" y="1325880"/>
            <a:ext cx="2633472" cy="2240280"/>
          </a:xfrm>
          <a:prstGeom prst="roundRect">
            <a:avLst>
              <a:gd name="adj" fmla="val 4898"/>
            </a:avLst>
          </a:prstGeom>
          <a:solidFill>
            <a:srgbClr val="F2F5F8"/>
          </a:solidFill>
          <a:ln w="12700">
            <a:solidFill>
              <a:srgbClr val="F2F5F8"/>
            </a:solidFill>
            <a:prstDash val="solid"/>
          </a:ln>
        </p:spPr>
      </p:sp>
      <p:sp>
        <p:nvSpPr>
          <p:cNvPr id="10" name="Shape 8"/>
          <p:cNvSpPr/>
          <p:nvPr/>
        </p:nvSpPr>
        <p:spPr>
          <a:xfrm>
            <a:off x="3566160" y="1508760"/>
            <a:ext cx="1417320" cy="329184"/>
          </a:xfrm>
          <a:prstGeom prst="roundRect">
            <a:avLst>
              <a:gd name="adj" fmla="val 22222"/>
            </a:avLst>
          </a:prstGeom>
          <a:solidFill>
            <a:srgbClr val="FDF3E1"/>
          </a:solidFill>
          <a:ln w="12700">
            <a:solidFill>
              <a:srgbClr val="FDF3E1"/>
            </a:solidFill>
            <a:prstDash val="solid"/>
          </a:ln>
        </p:spPr>
      </p:sp>
      <p:sp>
        <p:nvSpPr>
          <p:cNvPr id="11" name="Text 9"/>
          <p:cNvSpPr txBox="1"/>
          <p:nvPr/>
        </p:nvSpPr>
        <p:spPr>
          <a:xfrm>
            <a:off x="3566160" y="1508760"/>
            <a:ext cx="1417320" cy="329184"/>
          </a:xfrm>
          <a:prstGeom prst="rect">
            <a:avLst/>
          </a:prstGeom>
          <a:noFill/>
          <a:ln/>
        </p:spPr>
        <p:txBody>
          <a:bodyPr wrap="square" lIns="0" tIns="0" rIns="0" bIns="0" rtlCol="0" anchor="ctr"/>
          <a:lstStyle/>
          <a:p>
            <a:pPr algn="ctr" indent="0" marL="0">
              <a:buNone/>
            </a:pPr>
            <a:r>
              <a:rPr lang="en-US" sz="1200" b="1" dirty="0">
                <a:solidFill>
                  <a:srgbClr val="C77F12"/>
                </a:solidFill>
                <a:latin typeface="Calibri" pitchFamily="34" charset="0"/>
                <a:ea typeface="Calibri" pitchFamily="34" charset="-122"/>
                <a:cs typeface="Calibri" pitchFamily="34" charset="-120"/>
              </a:rPr>
              <a:t>1D silindr</a:t>
            </a:r>
            <a:endParaRPr lang="en-US" sz="1200" dirty="0"/>
          </a:p>
        </p:txBody>
      </p:sp>
      <p:sp>
        <p:nvSpPr>
          <p:cNvPr id="12" name="Text 10"/>
          <p:cNvSpPr txBox="1"/>
          <p:nvPr/>
        </p:nvSpPr>
        <p:spPr>
          <a:xfrm>
            <a:off x="3566160" y="1965960"/>
            <a:ext cx="228600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Issiq suv quvuri</a:t>
            </a:r>
            <a:endParaRPr lang="en-US" sz="1800" dirty="0"/>
          </a:p>
        </p:txBody>
      </p:sp>
      <p:sp>
        <p:nvSpPr>
          <p:cNvPr id="13" name="Text 11"/>
          <p:cNvSpPr txBox="1"/>
          <p:nvPr/>
        </p:nvSpPr>
        <p:spPr>
          <a:xfrm>
            <a:off x="3566160" y="2423160"/>
            <a:ext cx="2286000" cy="105156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Izolyatsiyasiz 381 W/m, 50 mm paxta bilan 27.7 W/m.</a:t>
            </a:r>
            <a:endParaRPr lang="en-US" sz="1400" dirty="0"/>
          </a:p>
        </p:txBody>
      </p:sp>
      <p:sp>
        <p:nvSpPr>
          <p:cNvPr id="14" name="Tuxum qaynatish"/>
          <p:cNvSpPr/>
          <p:nvPr/>
        </p:nvSpPr>
        <p:spPr>
          <a:xfrm>
            <a:off x="6181344" y="1325880"/>
            <a:ext cx="2633472" cy="2240280"/>
          </a:xfrm>
          <a:prstGeom prst="roundRect">
            <a:avLst>
              <a:gd name="adj" fmla="val 4898"/>
            </a:avLst>
          </a:prstGeom>
          <a:solidFill>
            <a:srgbClr val="F2F5F8"/>
          </a:solidFill>
          <a:ln w="12700">
            <a:solidFill>
              <a:srgbClr val="F2F5F8"/>
            </a:solidFill>
            <a:prstDash val="solid"/>
          </a:ln>
        </p:spPr>
      </p:sp>
      <p:sp>
        <p:nvSpPr>
          <p:cNvPr id="15" name="Shape 13"/>
          <p:cNvSpPr/>
          <p:nvPr/>
        </p:nvSpPr>
        <p:spPr>
          <a:xfrm>
            <a:off x="6382512" y="1508760"/>
            <a:ext cx="1417320" cy="329184"/>
          </a:xfrm>
          <a:prstGeom prst="roundRect">
            <a:avLst>
              <a:gd name="adj" fmla="val 22222"/>
            </a:avLst>
          </a:prstGeom>
          <a:solidFill>
            <a:srgbClr val="FDF3E1"/>
          </a:solidFill>
          <a:ln w="12700">
            <a:solidFill>
              <a:srgbClr val="FDF3E1"/>
            </a:solidFill>
            <a:prstDash val="solid"/>
          </a:ln>
        </p:spPr>
      </p:sp>
      <p:sp>
        <p:nvSpPr>
          <p:cNvPr id="16" name="Text 14"/>
          <p:cNvSpPr txBox="1"/>
          <p:nvPr/>
        </p:nvSpPr>
        <p:spPr>
          <a:xfrm>
            <a:off x="6382512" y="1508760"/>
            <a:ext cx="1417320" cy="329184"/>
          </a:xfrm>
          <a:prstGeom prst="rect">
            <a:avLst/>
          </a:prstGeom>
          <a:noFill/>
          <a:ln/>
        </p:spPr>
        <p:txBody>
          <a:bodyPr wrap="square" lIns="0" tIns="0" rIns="0" bIns="0" rtlCol="0" anchor="ctr"/>
          <a:lstStyle/>
          <a:p>
            <a:pPr algn="ctr" indent="0" marL="0">
              <a:buNone/>
            </a:pPr>
            <a:r>
              <a:rPr lang="en-US" sz="1200" b="1" dirty="0">
                <a:solidFill>
                  <a:srgbClr val="C77F12"/>
                </a:solidFill>
                <a:latin typeface="Calibri" pitchFamily="34" charset="0"/>
                <a:ea typeface="Calibri" pitchFamily="34" charset="-122"/>
                <a:cs typeface="Calibri" pitchFamily="34" charset="-120"/>
              </a:rPr>
              <a:t>1D shar</a:t>
            </a:r>
            <a:endParaRPr lang="en-US" sz="1200" dirty="0"/>
          </a:p>
        </p:txBody>
      </p:sp>
      <p:sp>
        <p:nvSpPr>
          <p:cNvPr id="17" name="Text 15"/>
          <p:cNvSpPr txBox="1"/>
          <p:nvPr/>
        </p:nvSpPr>
        <p:spPr>
          <a:xfrm>
            <a:off x="6382512" y="1965960"/>
            <a:ext cx="228600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Tuxum qaynatish</a:t>
            </a:r>
            <a:endParaRPr lang="en-US" sz="1800" dirty="0"/>
          </a:p>
        </p:txBody>
      </p:sp>
      <p:sp>
        <p:nvSpPr>
          <p:cNvPr id="18" name="Text 16"/>
          <p:cNvSpPr txBox="1"/>
          <p:nvPr/>
        </p:nvSpPr>
        <p:spPr>
          <a:xfrm>
            <a:off x="6382512" y="2423160"/>
            <a:ext cx="2286000" cy="105156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O’rtacha pishishi: 8.7 daqiqa (muzlatkichdan).</a:t>
            </a:r>
            <a:endParaRPr lang="en-US" sz="1400" dirty="0"/>
          </a:p>
        </p:txBody>
      </p:sp>
      <p:sp>
        <p:nvSpPr>
          <p:cNvPr id="19" name="Protsessor radiatori"/>
          <p:cNvSpPr/>
          <p:nvPr/>
        </p:nvSpPr>
        <p:spPr>
          <a:xfrm>
            <a:off x="8997696" y="1325880"/>
            <a:ext cx="2633472" cy="2240280"/>
          </a:xfrm>
          <a:prstGeom prst="roundRect">
            <a:avLst>
              <a:gd name="adj" fmla="val 4898"/>
            </a:avLst>
          </a:prstGeom>
          <a:solidFill>
            <a:srgbClr val="F2F5F8"/>
          </a:solidFill>
          <a:ln w="12700">
            <a:solidFill>
              <a:srgbClr val="F2F5F8"/>
            </a:solidFill>
            <a:prstDash val="solid"/>
          </a:ln>
        </p:spPr>
      </p:sp>
      <p:sp>
        <p:nvSpPr>
          <p:cNvPr id="20" name="Shape 18"/>
          <p:cNvSpPr/>
          <p:nvPr/>
        </p:nvSpPr>
        <p:spPr>
          <a:xfrm>
            <a:off x="9198864" y="1508760"/>
            <a:ext cx="1417320" cy="329184"/>
          </a:xfrm>
          <a:prstGeom prst="roundRect">
            <a:avLst>
              <a:gd name="adj" fmla="val 22222"/>
            </a:avLst>
          </a:prstGeom>
          <a:solidFill>
            <a:srgbClr val="E8F0FA"/>
          </a:solidFill>
          <a:ln w="12700">
            <a:solidFill>
              <a:srgbClr val="E8F0FA"/>
            </a:solidFill>
            <a:prstDash val="solid"/>
          </a:ln>
        </p:spPr>
      </p:sp>
      <p:sp>
        <p:nvSpPr>
          <p:cNvPr id="21" name="Text 19"/>
          <p:cNvSpPr txBox="1"/>
          <p:nvPr/>
        </p:nvSpPr>
        <p:spPr>
          <a:xfrm>
            <a:off x="9198864" y="1508760"/>
            <a:ext cx="1417320" cy="329184"/>
          </a:xfrm>
          <a:prstGeom prst="rect">
            <a:avLst/>
          </a:prstGeom>
          <a:noFill/>
          <a:ln/>
        </p:spPr>
        <p:txBody>
          <a:bodyPr wrap="square" lIns="0" tIns="0" rIns="0" bIns="0" rtlCol="0" anchor="ctr"/>
          <a:lstStyle/>
          <a:p>
            <a:pPr algn="ctr" indent="0" marL="0">
              <a:buNone/>
            </a:pPr>
            <a:r>
              <a:rPr lang="en-US" sz="1200" b="1" dirty="0">
                <a:solidFill>
                  <a:srgbClr val="1F5FA8"/>
                </a:solidFill>
                <a:latin typeface="Calibri" pitchFamily="34" charset="0"/>
                <a:ea typeface="Calibri" pitchFamily="34" charset="-122"/>
                <a:cs typeface="Calibri" pitchFamily="34" charset="-120"/>
              </a:rPr>
              <a:t>2D</a:t>
            </a:r>
            <a:endParaRPr lang="en-US" sz="1200" dirty="0"/>
          </a:p>
        </p:txBody>
      </p:sp>
      <p:sp>
        <p:nvSpPr>
          <p:cNvPr id="22" name="Text 20"/>
          <p:cNvSpPr txBox="1"/>
          <p:nvPr/>
        </p:nvSpPr>
        <p:spPr>
          <a:xfrm>
            <a:off x="9198864" y="1965960"/>
            <a:ext cx="228600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Protsessor radiatori</a:t>
            </a:r>
            <a:endParaRPr lang="en-US" sz="1800" dirty="0"/>
          </a:p>
        </p:txBody>
      </p:sp>
      <p:sp>
        <p:nvSpPr>
          <p:cNvPr id="23" name="Text 21"/>
          <p:cNvSpPr txBox="1"/>
          <p:nvPr/>
        </p:nvSpPr>
        <p:spPr>
          <a:xfrm>
            <a:off x="9198864" y="2423160"/>
            <a:ext cx="2286000" cy="105156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65 W → 88 °C. 56 W gacha 80 °C dan oshmaydi.</a:t>
            </a:r>
            <a:endParaRPr lang="en-US" sz="1400" dirty="0"/>
          </a:p>
        </p:txBody>
      </p:sp>
      <p:sp>
        <p:nvSpPr>
          <p:cNvPr id="24" name="Payvand choki"/>
          <p:cNvSpPr/>
          <p:nvPr/>
        </p:nvSpPr>
        <p:spPr>
          <a:xfrm>
            <a:off x="548640" y="3749040"/>
            <a:ext cx="2633472" cy="2240280"/>
          </a:xfrm>
          <a:prstGeom prst="roundRect">
            <a:avLst>
              <a:gd name="adj" fmla="val 4898"/>
            </a:avLst>
          </a:prstGeom>
          <a:solidFill>
            <a:srgbClr val="F2F5F8"/>
          </a:solidFill>
          <a:ln w="12700">
            <a:solidFill>
              <a:srgbClr val="F2F5F8"/>
            </a:solidFill>
            <a:prstDash val="solid"/>
          </a:ln>
        </p:spPr>
      </p:sp>
      <p:sp>
        <p:nvSpPr>
          <p:cNvPr id="25" name="Shape 23"/>
          <p:cNvSpPr/>
          <p:nvPr/>
        </p:nvSpPr>
        <p:spPr>
          <a:xfrm>
            <a:off x="749808" y="3931920"/>
            <a:ext cx="1417320" cy="329184"/>
          </a:xfrm>
          <a:prstGeom prst="roundRect">
            <a:avLst>
              <a:gd name="adj" fmla="val 22222"/>
            </a:avLst>
          </a:prstGeom>
          <a:solidFill>
            <a:srgbClr val="E8F0FA"/>
          </a:solidFill>
          <a:ln w="12700">
            <a:solidFill>
              <a:srgbClr val="E8F0FA"/>
            </a:solidFill>
            <a:prstDash val="solid"/>
          </a:ln>
        </p:spPr>
      </p:sp>
      <p:sp>
        <p:nvSpPr>
          <p:cNvPr id="26" name="Text 24"/>
          <p:cNvSpPr txBox="1"/>
          <p:nvPr/>
        </p:nvSpPr>
        <p:spPr>
          <a:xfrm>
            <a:off x="749808" y="3931920"/>
            <a:ext cx="1417320" cy="329184"/>
          </a:xfrm>
          <a:prstGeom prst="rect">
            <a:avLst/>
          </a:prstGeom>
          <a:noFill/>
          <a:ln/>
        </p:spPr>
        <p:txBody>
          <a:bodyPr wrap="square" lIns="0" tIns="0" rIns="0" bIns="0" rtlCol="0" anchor="ctr"/>
          <a:lstStyle/>
          <a:p>
            <a:pPr algn="ctr" indent="0" marL="0">
              <a:buNone/>
            </a:pPr>
            <a:r>
              <a:rPr lang="en-US" sz="1200" b="1" dirty="0">
                <a:solidFill>
                  <a:srgbClr val="1F5FA8"/>
                </a:solidFill>
                <a:latin typeface="Calibri" pitchFamily="34" charset="0"/>
                <a:ea typeface="Calibri" pitchFamily="34" charset="-122"/>
                <a:cs typeface="Calibri" pitchFamily="34" charset="-120"/>
              </a:rPr>
              <a:t>2D</a:t>
            </a:r>
            <a:endParaRPr lang="en-US" sz="1200" dirty="0"/>
          </a:p>
        </p:txBody>
      </p:sp>
      <p:sp>
        <p:nvSpPr>
          <p:cNvPr id="27" name="Text 25"/>
          <p:cNvSpPr txBox="1"/>
          <p:nvPr/>
        </p:nvSpPr>
        <p:spPr>
          <a:xfrm>
            <a:off x="749808" y="4389120"/>
            <a:ext cx="228600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Payvand choki</a:t>
            </a:r>
            <a:endParaRPr lang="en-US" sz="1800" dirty="0"/>
          </a:p>
        </p:txBody>
      </p:sp>
      <p:sp>
        <p:nvSpPr>
          <p:cNvPr id="28" name="Text 26"/>
          <p:cNvSpPr txBox="1"/>
          <p:nvPr/>
        </p:nvSpPr>
        <p:spPr>
          <a:xfrm>
            <a:off x="749808" y="4846320"/>
            <a:ext cx="2286000" cy="105156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t₈/₅ = 6.4 s – me’yorda; qizdirish ta’siri jadvali.</a:t>
            </a:r>
            <a:endParaRPr lang="en-US" sz="1400" dirty="0"/>
          </a:p>
        </p:txBody>
      </p:sp>
      <p:sp>
        <p:nvSpPr>
          <p:cNvPr id="29" name="Beton qotishi"/>
          <p:cNvSpPr/>
          <p:nvPr/>
        </p:nvSpPr>
        <p:spPr>
          <a:xfrm>
            <a:off x="3364992" y="3749040"/>
            <a:ext cx="2633472" cy="2240280"/>
          </a:xfrm>
          <a:prstGeom prst="roundRect">
            <a:avLst>
              <a:gd name="adj" fmla="val 4898"/>
            </a:avLst>
          </a:prstGeom>
          <a:solidFill>
            <a:srgbClr val="F2F5F8"/>
          </a:solidFill>
          <a:ln w="12700">
            <a:solidFill>
              <a:srgbClr val="F2F5F8"/>
            </a:solidFill>
            <a:prstDash val="solid"/>
          </a:ln>
        </p:spPr>
      </p:sp>
      <p:sp>
        <p:nvSpPr>
          <p:cNvPr id="30" name="Shape 28"/>
          <p:cNvSpPr/>
          <p:nvPr/>
        </p:nvSpPr>
        <p:spPr>
          <a:xfrm>
            <a:off x="3566160" y="3931920"/>
            <a:ext cx="1417320" cy="329184"/>
          </a:xfrm>
          <a:prstGeom prst="roundRect">
            <a:avLst>
              <a:gd name="adj" fmla="val 22222"/>
            </a:avLst>
          </a:prstGeom>
          <a:solidFill>
            <a:srgbClr val="FDF3E1"/>
          </a:solidFill>
          <a:ln w="12700">
            <a:solidFill>
              <a:srgbClr val="FDF3E1"/>
            </a:solidFill>
            <a:prstDash val="solid"/>
          </a:ln>
        </p:spPr>
      </p:sp>
      <p:sp>
        <p:nvSpPr>
          <p:cNvPr id="31" name="Text 29"/>
          <p:cNvSpPr txBox="1"/>
          <p:nvPr/>
        </p:nvSpPr>
        <p:spPr>
          <a:xfrm>
            <a:off x="3566160" y="3931920"/>
            <a:ext cx="1417320" cy="329184"/>
          </a:xfrm>
          <a:prstGeom prst="rect">
            <a:avLst/>
          </a:prstGeom>
          <a:noFill/>
          <a:ln/>
        </p:spPr>
        <p:txBody>
          <a:bodyPr wrap="square" lIns="0" tIns="0" rIns="0" bIns="0" rtlCol="0" anchor="ctr"/>
          <a:lstStyle/>
          <a:p>
            <a:pPr algn="ctr" indent="0" marL="0">
              <a:buNone/>
            </a:pPr>
            <a:r>
              <a:rPr lang="en-US" sz="1200" b="1" dirty="0">
                <a:solidFill>
                  <a:srgbClr val="C77F12"/>
                </a:solidFill>
                <a:latin typeface="Calibri" pitchFamily="34" charset="0"/>
                <a:ea typeface="Calibri" pitchFamily="34" charset="-122"/>
                <a:cs typeface="Calibri" pitchFamily="34" charset="-120"/>
              </a:rPr>
              <a:t>1D + manba</a:t>
            </a:r>
            <a:endParaRPr lang="en-US" sz="1200" dirty="0"/>
          </a:p>
        </p:txBody>
      </p:sp>
      <p:sp>
        <p:nvSpPr>
          <p:cNvPr id="32" name="Text 30"/>
          <p:cNvSpPr txBox="1"/>
          <p:nvPr/>
        </p:nvSpPr>
        <p:spPr>
          <a:xfrm>
            <a:off x="3566160" y="4389120"/>
            <a:ext cx="228600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Beton qotishi</a:t>
            </a:r>
            <a:endParaRPr lang="en-US" sz="1800" dirty="0"/>
          </a:p>
        </p:txBody>
      </p:sp>
      <p:sp>
        <p:nvSpPr>
          <p:cNvPr id="33" name="Text 31"/>
          <p:cNvSpPr txBox="1"/>
          <p:nvPr/>
        </p:nvSpPr>
        <p:spPr>
          <a:xfrm>
            <a:off x="3566160" y="4846320"/>
            <a:ext cx="2286000" cy="105156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1.2 m: farq 34.9 °C. 5 sm paxta bilan – 6.7 °C.</a:t>
            </a:r>
            <a:endParaRPr lang="en-US" sz="1400" dirty="0"/>
          </a:p>
        </p:txBody>
      </p:sp>
      <p:sp>
        <p:nvSpPr>
          <p:cNvPr id="34" name="Plita yong’inda"/>
          <p:cNvSpPr/>
          <p:nvPr/>
        </p:nvSpPr>
        <p:spPr>
          <a:xfrm>
            <a:off x="6181344" y="3749040"/>
            <a:ext cx="2633472" cy="2240280"/>
          </a:xfrm>
          <a:prstGeom prst="roundRect">
            <a:avLst>
              <a:gd name="adj" fmla="val 4898"/>
            </a:avLst>
          </a:prstGeom>
          <a:solidFill>
            <a:srgbClr val="F2F5F8"/>
          </a:solidFill>
          <a:ln w="12700">
            <a:solidFill>
              <a:srgbClr val="F2F5F8"/>
            </a:solidFill>
            <a:prstDash val="solid"/>
          </a:ln>
        </p:spPr>
      </p:sp>
      <p:sp>
        <p:nvSpPr>
          <p:cNvPr id="35" name="Shape 33"/>
          <p:cNvSpPr/>
          <p:nvPr/>
        </p:nvSpPr>
        <p:spPr>
          <a:xfrm>
            <a:off x="6382512" y="3931920"/>
            <a:ext cx="1417320" cy="329184"/>
          </a:xfrm>
          <a:prstGeom prst="roundRect">
            <a:avLst>
              <a:gd name="adj" fmla="val 22222"/>
            </a:avLst>
          </a:prstGeom>
          <a:solidFill>
            <a:srgbClr val="FDF3E1"/>
          </a:solidFill>
          <a:ln w="12700">
            <a:solidFill>
              <a:srgbClr val="FDF3E1"/>
            </a:solidFill>
            <a:prstDash val="solid"/>
          </a:ln>
        </p:spPr>
      </p:sp>
      <p:sp>
        <p:nvSpPr>
          <p:cNvPr id="36" name="Text 34"/>
          <p:cNvSpPr txBox="1"/>
          <p:nvPr/>
        </p:nvSpPr>
        <p:spPr>
          <a:xfrm>
            <a:off x="6382512" y="3931920"/>
            <a:ext cx="1417320" cy="329184"/>
          </a:xfrm>
          <a:prstGeom prst="rect">
            <a:avLst/>
          </a:prstGeom>
          <a:noFill/>
          <a:ln/>
        </p:spPr>
        <p:txBody>
          <a:bodyPr wrap="square" lIns="0" tIns="0" rIns="0" bIns="0" rtlCol="0" anchor="ctr"/>
          <a:lstStyle/>
          <a:p>
            <a:pPr algn="ctr" indent="0" marL="0">
              <a:buNone/>
            </a:pPr>
            <a:r>
              <a:rPr lang="en-US" sz="1200" b="1" dirty="0">
                <a:solidFill>
                  <a:srgbClr val="C77F12"/>
                </a:solidFill>
                <a:latin typeface="Calibri" pitchFamily="34" charset="0"/>
                <a:ea typeface="Calibri" pitchFamily="34" charset="-122"/>
                <a:cs typeface="Calibri" pitchFamily="34" charset="-120"/>
              </a:rPr>
              <a:t>1D nochiziqli</a:t>
            </a:r>
            <a:endParaRPr lang="en-US" sz="1200" dirty="0"/>
          </a:p>
        </p:txBody>
      </p:sp>
      <p:sp>
        <p:nvSpPr>
          <p:cNvPr id="37" name="Text 35"/>
          <p:cNvSpPr txBox="1"/>
          <p:nvPr/>
        </p:nvSpPr>
        <p:spPr>
          <a:xfrm>
            <a:off x="6382512" y="4389120"/>
            <a:ext cx="228600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Plita yong’inda</a:t>
            </a:r>
            <a:endParaRPr lang="en-US" sz="1800" dirty="0"/>
          </a:p>
        </p:txBody>
      </p:sp>
      <p:sp>
        <p:nvSpPr>
          <p:cNvPr id="38" name="Text 36"/>
          <p:cNvSpPr txBox="1"/>
          <p:nvPr/>
        </p:nvSpPr>
        <p:spPr>
          <a:xfrm>
            <a:off x="6382512" y="4846320"/>
            <a:ext cx="2286000" cy="105156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a = 25 mm → REI 60. REI 90 uchun a ≥ 30 mm.</a:t>
            </a:r>
            <a:endParaRPr lang="en-US" sz="1400" dirty="0"/>
          </a:p>
        </p:txBody>
      </p:sp>
      <p:sp>
        <p:nvSpPr>
          <p:cNvPr id="39" name="Konserva"/>
          <p:cNvSpPr/>
          <p:nvPr/>
        </p:nvSpPr>
        <p:spPr>
          <a:xfrm>
            <a:off x="8997696" y="3749040"/>
            <a:ext cx="2633472" cy="2240280"/>
          </a:xfrm>
          <a:prstGeom prst="roundRect">
            <a:avLst>
              <a:gd name="adj" fmla="val 4898"/>
            </a:avLst>
          </a:prstGeom>
          <a:solidFill>
            <a:srgbClr val="F2F5F8"/>
          </a:solidFill>
          <a:ln w="12700">
            <a:solidFill>
              <a:srgbClr val="F2F5F8"/>
            </a:solidFill>
            <a:prstDash val="solid"/>
          </a:ln>
        </p:spPr>
      </p:sp>
      <p:sp>
        <p:nvSpPr>
          <p:cNvPr id="40" name="Shape 38"/>
          <p:cNvSpPr/>
          <p:nvPr/>
        </p:nvSpPr>
        <p:spPr>
          <a:xfrm>
            <a:off x="9198864" y="3931920"/>
            <a:ext cx="1417320" cy="329184"/>
          </a:xfrm>
          <a:prstGeom prst="roundRect">
            <a:avLst>
              <a:gd name="adj" fmla="val 22222"/>
            </a:avLst>
          </a:prstGeom>
          <a:solidFill>
            <a:srgbClr val="E8F0FA"/>
          </a:solidFill>
          <a:ln w="12700">
            <a:solidFill>
              <a:srgbClr val="E8F0FA"/>
            </a:solidFill>
            <a:prstDash val="solid"/>
          </a:ln>
        </p:spPr>
      </p:sp>
      <p:sp>
        <p:nvSpPr>
          <p:cNvPr id="41" name="Text 39"/>
          <p:cNvSpPr txBox="1"/>
          <p:nvPr/>
        </p:nvSpPr>
        <p:spPr>
          <a:xfrm>
            <a:off x="9198864" y="3931920"/>
            <a:ext cx="1417320" cy="329184"/>
          </a:xfrm>
          <a:prstGeom prst="rect">
            <a:avLst/>
          </a:prstGeom>
          <a:noFill/>
          <a:ln/>
        </p:spPr>
        <p:txBody>
          <a:bodyPr wrap="square" lIns="0" tIns="0" rIns="0" bIns="0" rtlCol="0" anchor="ctr"/>
          <a:lstStyle/>
          <a:p>
            <a:pPr algn="ctr" indent="0" marL="0">
              <a:buNone/>
            </a:pPr>
            <a:r>
              <a:rPr lang="en-US" sz="1200" b="1" dirty="0">
                <a:solidFill>
                  <a:srgbClr val="1F5FA8"/>
                </a:solidFill>
                <a:latin typeface="Calibri" pitchFamily="34" charset="0"/>
                <a:ea typeface="Calibri" pitchFamily="34" charset="-122"/>
                <a:cs typeface="Calibri" pitchFamily="34" charset="-120"/>
              </a:rPr>
              <a:t>2D (r, z)</a:t>
            </a:r>
            <a:endParaRPr lang="en-US" sz="1200" dirty="0"/>
          </a:p>
        </p:txBody>
      </p:sp>
      <p:sp>
        <p:nvSpPr>
          <p:cNvPr id="42" name="Text 40"/>
          <p:cNvSpPr txBox="1"/>
          <p:nvPr/>
        </p:nvSpPr>
        <p:spPr>
          <a:xfrm>
            <a:off x="9198864" y="4389120"/>
            <a:ext cx="228600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Konserva</a:t>
            </a:r>
            <a:endParaRPr lang="en-US" sz="1800" dirty="0"/>
          </a:p>
        </p:txBody>
      </p:sp>
      <p:sp>
        <p:nvSpPr>
          <p:cNvPr id="43" name="Text 41"/>
          <p:cNvSpPr txBox="1"/>
          <p:nvPr/>
        </p:nvSpPr>
        <p:spPr>
          <a:xfrm>
            <a:off x="9198864" y="4846320"/>
            <a:ext cx="2286000" cy="105156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1 l go’sht, 100 °C: F₀ ≈ 0. Avtoklav 121 °C: 135 daqiqa.</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Dastur nima qilish kerakligini ham aytadi</a:t>
            </a:r>
            <a:endParaRPr lang="en-US" sz="3200" dirty="0"/>
          </a:p>
        </p:txBody>
      </p:sp>
      <p:sp>
        <p:nvSpPr>
          <p:cNvPr id="3" name="Text 1">
            <a:hlinkClick r:id="rId1" tooltip=""/>
          </p:cNvPr>
          <p:cNvSpPr txBox="1"/>
          <p:nvPr/>
        </p:nvSpPr>
        <p:spPr>
          <a:xfrm>
            <a:off x="548640" y="6419088"/>
            <a:ext cx="5486400" cy="274320"/>
          </a:xfrm>
          <a:prstGeom prst="rect">
            <a:avLst/>
          </a:prstGeom>
          <a:noFill/>
          <a:ln/>
        </p:spPr>
        <p:txBody>
          <a:bodyPr wrap="square" lIns="0" tIns="0" rIns="0" bIns="0" rtlCol="0" anchor="t"/>
          <a:lstStyle/>
          <a:p>
            <a:pPr indent="0" marL="0">
              <a:buNone/>
            </a:pPr>
            <a:r>
              <a:rPr lang="en-US" sz="1100" u="sng" dirty="0">
                <a:solidFill>
                  <a:srgbClr val="1F5FA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ulugbekkamalov0829-web.github.io/termolab</a:t>
            </a:r>
            <a:endParaRPr lang="en-US" sz="1100" dirty="0"/>
          </a:p>
        </p:txBody>
      </p:sp>
      <p:pic>
        <p:nvPicPr>
          <p:cNvPr id="4" name="Yong’in masalasi yechimi va Yevrokod 2 jadvali" descr="Yong’in masalasi yechimi va Yevrokod 2 jadvali">    </p:cNvPr>
          <p:cNvPicPr>
            <a:picLocks noChangeAspect="1"/>
          </p:cNvPicPr>
          <p:nvPr/>
        </p:nvPicPr>
        <p:blipFill>
          <a:blip r:embed="rId2"/>
          <a:stretch>
            <a:fillRect/>
          </a:stretch>
        </p:blipFill>
        <p:spPr>
          <a:xfrm>
            <a:off x="548640" y="1325880"/>
            <a:ext cx="6309360" cy="3131484"/>
          </a:xfrm>
          <a:prstGeom prst="rect">
            <a:avLst/>
          </a:prstGeom>
        </p:spPr>
      </p:pic>
      <p:sp>
        <p:nvSpPr>
          <p:cNvPr id="5" name="Teskari masala"/>
          <p:cNvSpPr/>
          <p:nvPr/>
        </p:nvSpPr>
        <p:spPr>
          <a:xfrm>
            <a:off x="7178040" y="1325880"/>
            <a:ext cx="4462272" cy="1216152"/>
          </a:xfrm>
          <a:prstGeom prst="roundRect">
            <a:avLst>
              <a:gd name="adj" fmla="val 9023"/>
            </a:avLst>
          </a:prstGeom>
          <a:solidFill>
            <a:srgbClr val="F2F5F8"/>
          </a:solidFill>
          <a:ln w="12700">
            <a:solidFill>
              <a:srgbClr val="F2F5F8"/>
            </a:solidFill>
            <a:prstDash val="solid"/>
          </a:ln>
        </p:spPr>
      </p:sp>
      <p:sp>
        <p:nvSpPr>
          <p:cNvPr id="6" name="Text 3"/>
          <p:cNvSpPr txBox="1"/>
          <p:nvPr/>
        </p:nvSpPr>
        <p:spPr>
          <a:xfrm>
            <a:off x="7388352" y="1444752"/>
            <a:ext cx="4069080" cy="347472"/>
          </a:xfrm>
          <a:prstGeom prst="rect">
            <a:avLst/>
          </a:prstGeom>
          <a:noFill/>
          <a:ln/>
        </p:spPr>
        <p:txBody>
          <a:bodyPr wrap="square" lIns="0" tIns="0" rIns="0" bIns="0" rtlCol="0" anchor="t"/>
          <a:lstStyle/>
          <a:p>
            <a:pPr indent="0" marL="0">
              <a:buNone/>
            </a:pPr>
            <a:r>
              <a:rPr lang="en-US" sz="1700" b="1" dirty="0">
                <a:solidFill>
                  <a:srgbClr val="C4401F"/>
                </a:solidFill>
                <a:latin typeface="Calibri" pitchFamily="34" charset="0"/>
                <a:ea typeface="Calibri" pitchFamily="34" charset="-122"/>
                <a:cs typeface="Calibri" pitchFamily="34" charset="-120"/>
              </a:rPr>
              <a:t>Teskari masala</a:t>
            </a:r>
            <a:endParaRPr lang="en-US" sz="1700" dirty="0"/>
          </a:p>
        </p:txBody>
      </p:sp>
      <p:sp>
        <p:nvSpPr>
          <p:cNvPr id="7" name="Text 4"/>
          <p:cNvSpPr txBox="1"/>
          <p:nvPr/>
        </p:nvSpPr>
        <p:spPr>
          <a:xfrm>
            <a:off x="7388352" y="1801368"/>
            <a:ext cx="4069080" cy="68580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Kerakli izolyatsiya qalinligi, himoya qatlami, qizdirish vaqti yoki ruxsat etilgan quvvatni o’zi topadi.</a:t>
            </a:r>
            <a:endParaRPr lang="en-US" sz="1400" dirty="0"/>
          </a:p>
        </p:txBody>
      </p:sp>
      <p:sp>
        <p:nvSpPr>
          <p:cNvPr id="8" name="Matnli hisobot"/>
          <p:cNvSpPr/>
          <p:nvPr/>
        </p:nvSpPr>
        <p:spPr>
          <a:xfrm>
            <a:off x="7178040" y="2697480"/>
            <a:ext cx="4462272" cy="1216152"/>
          </a:xfrm>
          <a:prstGeom prst="roundRect">
            <a:avLst>
              <a:gd name="adj" fmla="val 9023"/>
            </a:avLst>
          </a:prstGeom>
          <a:solidFill>
            <a:srgbClr val="F2F5F8"/>
          </a:solidFill>
          <a:ln w="12700">
            <a:solidFill>
              <a:srgbClr val="F2F5F8"/>
            </a:solidFill>
            <a:prstDash val="solid"/>
          </a:ln>
        </p:spPr>
      </p:sp>
      <p:sp>
        <p:nvSpPr>
          <p:cNvPr id="9" name="Text 6"/>
          <p:cNvSpPr txBox="1"/>
          <p:nvPr/>
        </p:nvSpPr>
        <p:spPr>
          <a:xfrm>
            <a:off x="7388352" y="2816352"/>
            <a:ext cx="4069080" cy="347472"/>
          </a:xfrm>
          <a:prstGeom prst="rect">
            <a:avLst/>
          </a:prstGeom>
          <a:noFill/>
          <a:ln/>
        </p:spPr>
        <p:txBody>
          <a:bodyPr wrap="square" lIns="0" tIns="0" rIns="0" bIns="0" rtlCol="0" anchor="t"/>
          <a:lstStyle/>
          <a:p>
            <a:pPr indent="0" marL="0">
              <a:buNone/>
            </a:pPr>
            <a:r>
              <a:rPr lang="en-US" sz="1700" b="1" dirty="0">
                <a:solidFill>
                  <a:srgbClr val="1F5FA8"/>
                </a:solidFill>
                <a:latin typeface="Calibri" pitchFamily="34" charset="0"/>
                <a:ea typeface="Calibri" pitchFamily="34" charset="-122"/>
                <a:cs typeface="Calibri" pitchFamily="34" charset="-120"/>
              </a:rPr>
              <a:t>Matnli hisobot</a:t>
            </a:r>
            <a:endParaRPr lang="en-US" sz="1700" dirty="0"/>
          </a:p>
        </p:txBody>
      </p:sp>
      <p:sp>
        <p:nvSpPr>
          <p:cNvPr id="10" name="Text 7"/>
          <p:cNvSpPr txBox="1"/>
          <p:nvPr/>
        </p:nvSpPr>
        <p:spPr>
          <a:xfrm>
            <a:off x="7388352" y="3172968"/>
            <a:ext cx="4069080" cy="68580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Berilganlar, natijalar, tavsiya va xulosa – bir tugma bilan nusxalanadi yoki .txt fayl bo’lib saqlanadi.</a:t>
            </a:r>
            <a:endParaRPr lang="en-US" sz="1400" dirty="0"/>
          </a:p>
        </p:txBody>
      </p:sp>
      <p:sp>
        <p:nvSpPr>
          <p:cNvPr id="11" name="Variantlarni taqqoslash"/>
          <p:cNvSpPr/>
          <p:nvPr/>
        </p:nvSpPr>
        <p:spPr>
          <a:xfrm>
            <a:off x="7178040" y="4069080"/>
            <a:ext cx="4462272" cy="1216152"/>
          </a:xfrm>
          <a:prstGeom prst="roundRect">
            <a:avLst>
              <a:gd name="adj" fmla="val 9023"/>
            </a:avLst>
          </a:prstGeom>
          <a:solidFill>
            <a:srgbClr val="F2F5F8"/>
          </a:solidFill>
          <a:ln w="12700">
            <a:solidFill>
              <a:srgbClr val="F2F5F8"/>
            </a:solidFill>
            <a:prstDash val="solid"/>
          </a:ln>
        </p:spPr>
      </p:sp>
      <p:sp>
        <p:nvSpPr>
          <p:cNvPr id="12" name="Text 9"/>
          <p:cNvSpPr txBox="1"/>
          <p:nvPr/>
        </p:nvSpPr>
        <p:spPr>
          <a:xfrm>
            <a:off x="7388352" y="4187952"/>
            <a:ext cx="4069080" cy="347472"/>
          </a:xfrm>
          <a:prstGeom prst="rect">
            <a:avLst/>
          </a:prstGeom>
          <a:noFill/>
          <a:ln/>
        </p:spPr>
        <p:txBody>
          <a:bodyPr wrap="square" lIns="0" tIns="0" rIns="0" bIns="0" rtlCol="0" anchor="t"/>
          <a:lstStyle/>
          <a:p>
            <a:pPr indent="0" marL="0">
              <a:buNone/>
            </a:pPr>
            <a:r>
              <a:rPr lang="en-US" sz="1700" b="1" dirty="0">
                <a:solidFill>
                  <a:srgbClr val="1F7A4A"/>
                </a:solidFill>
                <a:latin typeface="Calibri" pitchFamily="34" charset="0"/>
                <a:ea typeface="Calibri" pitchFamily="34" charset="-122"/>
                <a:cs typeface="Calibri" pitchFamily="34" charset="-120"/>
              </a:rPr>
              <a:t>Variantlarni taqqoslash</a:t>
            </a:r>
            <a:endParaRPr lang="en-US" sz="1700" dirty="0"/>
          </a:p>
        </p:txBody>
      </p:sp>
      <p:sp>
        <p:nvSpPr>
          <p:cNvPr id="13" name="Text 10"/>
          <p:cNvSpPr txBox="1"/>
          <p:nvPr/>
        </p:nvSpPr>
        <p:spPr>
          <a:xfrm>
            <a:off x="7388352" y="4544568"/>
            <a:ext cx="4069080" cy="68580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4 tagacha variant yonma-yon: qaysi biri foydaliroq – darhol ko’rinadi.</a:t>
            </a:r>
            <a:endParaRPr lang="en-US" sz="1400" dirty="0"/>
          </a:p>
        </p:txBody>
      </p:sp>
      <p:sp>
        <p:nvSpPr>
          <p:cNvPr id="14" name="Text 11"/>
          <p:cNvSpPr txBox="1"/>
          <p:nvPr/>
        </p:nvSpPr>
        <p:spPr>
          <a:xfrm>
            <a:off x="548640" y="4548804"/>
            <a:ext cx="6309360" cy="411480"/>
          </a:xfrm>
          <a:prstGeom prst="rect">
            <a:avLst/>
          </a:prstGeom>
          <a:noFill/>
          <a:ln/>
        </p:spPr>
        <p:txBody>
          <a:bodyPr wrap="square" lIns="0" tIns="0" rIns="0" bIns="0" rtlCol="0" anchor="t"/>
          <a:lstStyle/>
          <a:p>
            <a:pPr indent="0" marL="0">
              <a:buNone/>
            </a:pPr>
            <a:r>
              <a:rPr lang="en-US" sz="1200" i="1" dirty="0">
                <a:solidFill>
                  <a:srgbClr val="56657A"/>
                </a:solidFill>
                <a:latin typeface="Calibri" pitchFamily="34" charset="0"/>
                <a:ea typeface="Calibri" pitchFamily="34" charset="-122"/>
                <a:cs typeface="Calibri" pitchFamily="34" charset="-120"/>
              </a:rPr>
              <a:t>Yong’in masalasi: tavsiya va model natijalarining Yevrokod 2 jadvali bilan solishtiruvi</a:t>
            </a:r>
            <a:endParaRPr lang="en-US" sz="12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3D ko’rinish: natija real jism shaklida</a:t>
            </a:r>
            <a:endParaRPr lang="en-US" sz="3200" dirty="0"/>
          </a:p>
        </p:txBody>
      </p:sp>
      <p:sp>
        <p:nvSpPr>
          <p:cNvPr id="3" name="Text 1">
            <a:hlinkClick r:id="rId1" tooltip=""/>
          </p:cNvPr>
          <p:cNvSpPr txBox="1"/>
          <p:nvPr/>
        </p:nvSpPr>
        <p:spPr>
          <a:xfrm>
            <a:off x="548640" y="6419088"/>
            <a:ext cx="5486400" cy="274320"/>
          </a:xfrm>
          <a:prstGeom prst="rect">
            <a:avLst/>
          </a:prstGeom>
          <a:noFill/>
          <a:ln/>
        </p:spPr>
        <p:txBody>
          <a:bodyPr wrap="square" lIns="0" tIns="0" rIns="0" bIns="0" rtlCol="0" anchor="t"/>
          <a:lstStyle/>
          <a:p>
            <a:pPr indent="0" marL="0">
              <a:buNone/>
            </a:pPr>
            <a:r>
              <a:rPr lang="en-US" sz="1100" u="sng" dirty="0">
                <a:solidFill>
                  <a:srgbClr val="1F5FA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ulugbekkamalov0829-web.github.io/termolab</a:t>
            </a:r>
            <a:endParaRPr lang="en-US" sz="1100" dirty="0"/>
          </a:p>
        </p:txBody>
      </p:sp>
      <p:pic>
        <p:nvPicPr>
          <p:cNvPr id="4" name="Uy devori: xonadan ko’chaga harorat" descr="Uy devori: xonadan ko’chaga harorat">    </p:cNvPr>
          <p:cNvPicPr>
            <a:picLocks noChangeAspect="1"/>
          </p:cNvPicPr>
          <p:nvPr/>
        </p:nvPicPr>
        <p:blipFill>
          <a:blip r:embed="rId2"/>
          <a:stretch>
            <a:fillRect/>
          </a:stretch>
        </p:blipFill>
        <p:spPr>
          <a:xfrm>
            <a:off x="548640" y="1280160"/>
            <a:ext cx="5281099" cy="2103120"/>
          </a:xfrm>
          <a:prstGeom prst="rect">
            <a:avLst/>
          </a:prstGeom>
        </p:spPr>
      </p:pic>
      <p:sp>
        <p:nvSpPr>
          <p:cNvPr id="5" name="Text 2"/>
          <p:cNvSpPr txBox="1"/>
          <p:nvPr/>
        </p:nvSpPr>
        <p:spPr>
          <a:xfrm>
            <a:off x="548640" y="3429000"/>
            <a:ext cx="5468112" cy="320040"/>
          </a:xfrm>
          <a:prstGeom prst="rect">
            <a:avLst/>
          </a:prstGeom>
          <a:noFill/>
          <a:ln/>
        </p:spPr>
        <p:txBody>
          <a:bodyPr wrap="square" lIns="0" tIns="0" rIns="0" bIns="0" rtlCol="0" anchor="t"/>
          <a:lstStyle/>
          <a:p>
            <a:pPr indent="0" marL="0">
              <a:buNone/>
            </a:pPr>
            <a:r>
              <a:rPr lang="en-US" sz="1300" dirty="0">
                <a:solidFill>
                  <a:srgbClr val="56657A"/>
                </a:solidFill>
                <a:latin typeface="Calibri" pitchFamily="34" charset="0"/>
                <a:ea typeface="Calibri" pitchFamily="34" charset="-122"/>
                <a:cs typeface="Calibri" pitchFamily="34" charset="-120"/>
              </a:rPr>
              <a:t>Uy devori: xonadan ko’chaga harorat</a:t>
            </a:r>
            <a:endParaRPr lang="en-US" sz="1300" dirty="0"/>
          </a:p>
        </p:txBody>
      </p:sp>
      <p:pic>
        <p:nvPicPr>
          <p:cNvPr id="6" name="Radiator: “relyef” rejimida issiq nuqta" descr="Radiator: “relyef” rejimida issiq nuqta">    </p:cNvPr>
          <p:cNvPicPr>
            <a:picLocks noChangeAspect="1"/>
          </p:cNvPicPr>
          <p:nvPr/>
        </p:nvPicPr>
        <p:blipFill>
          <a:blip r:embed="rId3"/>
          <a:stretch>
            <a:fillRect/>
          </a:stretch>
        </p:blipFill>
        <p:spPr>
          <a:xfrm>
            <a:off x="6172200" y="1280160"/>
            <a:ext cx="5281099" cy="2103120"/>
          </a:xfrm>
          <a:prstGeom prst="rect">
            <a:avLst/>
          </a:prstGeom>
        </p:spPr>
      </p:pic>
      <p:sp>
        <p:nvSpPr>
          <p:cNvPr id="7" name="Text 3"/>
          <p:cNvSpPr txBox="1"/>
          <p:nvPr/>
        </p:nvSpPr>
        <p:spPr>
          <a:xfrm>
            <a:off x="6172200" y="3429000"/>
            <a:ext cx="5468112" cy="320040"/>
          </a:xfrm>
          <a:prstGeom prst="rect">
            <a:avLst/>
          </a:prstGeom>
          <a:noFill/>
          <a:ln/>
        </p:spPr>
        <p:txBody>
          <a:bodyPr wrap="square" lIns="0" tIns="0" rIns="0" bIns="0" rtlCol="0" anchor="t"/>
          <a:lstStyle/>
          <a:p>
            <a:pPr indent="0" marL="0">
              <a:buNone/>
            </a:pPr>
            <a:r>
              <a:rPr lang="en-US" sz="1300" dirty="0">
                <a:solidFill>
                  <a:srgbClr val="56657A"/>
                </a:solidFill>
                <a:latin typeface="Calibri" pitchFamily="34" charset="0"/>
                <a:ea typeface="Calibri" pitchFamily="34" charset="-122"/>
                <a:cs typeface="Calibri" pitchFamily="34" charset="-120"/>
              </a:rPr>
              <a:t>Radiator: “relyef” rejimida issiq nuqta</a:t>
            </a:r>
            <a:endParaRPr lang="en-US" sz="1300" dirty="0"/>
          </a:p>
        </p:txBody>
      </p:sp>
      <p:pic>
        <p:nvPicPr>
          <p:cNvPr id="8" name="Beton: markaz qizigan, sirt sovuq" descr="Beton: markaz qizigan, sirt sovuq">    </p:cNvPr>
          <p:cNvPicPr>
            <a:picLocks noChangeAspect="1"/>
          </p:cNvPicPr>
          <p:nvPr/>
        </p:nvPicPr>
        <p:blipFill>
          <a:blip r:embed="rId4"/>
          <a:stretch>
            <a:fillRect/>
          </a:stretch>
        </p:blipFill>
        <p:spPr>
          <a:xfrm>
            <a:off x="548640" y="3840480"/>
            <a:ext cx="5281099" cy="2103120"/>
          </a:xfrm>
          <a:prstGeom prst="rect">
            <a:avLst/>
          </a:prstGeom>
        </p:spPr>
      </p:pic>
      <p:sp>
        <p:nvSpPr>
          <p:cNvPr id="9" name="Text 4"/>
          <p:cNvSpPr txBox="1"/>
          <p:nvPr/>
        </p:nvSpPr>
        <p:spPr>
          <a:xfrm>
            <a:off x="548640" y="5989320"/>
            <a:ext cx="5468112" cy="320040"/>
          </a:xfrm>
          <a:prstGeom prst="rect">
            <a:avLst/>
          </a:prstGeom>
          <a:noFill/>
          <a:ln/>
        </p:spPr>
        <p:txBody>
          <a:bodyPr wrap="square" lIns="0" tIns="0" rIns="0" bIns="0" rtlCol="0" anchor="t"/>
          <a:lstStyle/>
          <a:p>
            <a:pPr indent="0" marL="0">
              <a:buNone/>
            </a:pPr>
            <a:r>
              <a:rPr lang="en-US" sz="1300" dirty="0">
                <a:solidFill>
                  <a:srgbClr val="56657A"/>
                </a:solidFill>
                <a:latin typeface="Calibri" pitchFamily="34" charset="0"/>
                <a:ea typeface="Calibri" pitchFamily="34" charset="-122"/>
                <a:cs typeface="Calibri" pitchFamily="34" charset="-120"/>
              </a:rPr>
              <a:t>Beton: markaz qizigan, sirt sovuq</a:t>
            </a:r>
            <a:endParaRPr lang="en-US" sz="1300" dirty="0"/>
          </a:p>
        </p:txBody>
      </p:sp>
      <p:pic>
        <p:nvPicPr>
          <p:cNvPr id="10" name="Konserva: kesimda sovuq markaz" descr="Konserva: kesimda sovuq markaz">    </p:cNvPr>
          <p:cNvPicPr>
            <a:picLocks noChangeAspect="1"/>
          </p:cNvPicPr>
          <p:nvPr/>
        </p:nvPicPr>
        <p:blipFill>
          <a:blip r:embed="rId5"/>
          <a:stretch>
            <a:fillRect/>
          </a:stretch>
        </p:blipFill>
        <p:spPr>
          <a:xfrm>
            <a:off x="6172200" y="3840480"/>
            <a:ext cx="5281099" cy="2103120"/>
          </a:xfrm>
          <a:prstGeom prst="rect">
            <a:avLst/>
          </a:prstGeom>
        </p:spPr>
      </p:pic>
      <p:sp>
        <p:nvSpPr>
          <p:cNvPr id="11" name="Text 5"/>
          <p:cNvSpPr txBox="1"/>
          <p:nvPr/>
        </p:nvSpPr>
        <p:spPr>
          <a:xfrm>
            <a:off x="6172200" y="5989320"/>
            <a:ext cx="5468112" cy="320040"/>
          </a:xfrm>
          <a:prstGeom prst="rect">
            <a:avLst/>
          </a:prstGeom>
          <a:noFill/>
          <a:ln/>
        </p:spPr>
        <p:txBody>
          <a:bodyPr wrap="square" lIns="0" tIns="0" rIns="0" bIns="0" rtlCol="0" anchor="t"/>
          <a:lstStyle/>
          <a:p>
            <a:pPr indent="0" marL="0">
              <a:buNone/>
            </a:pPr>
            <a:r>
              <a:rPr lang="en-US" sz="1300" dirty="0">
                <a:solidFill>
                  <a:srgbClr val="56657A"/>
                </a:solidFill>
                <a:latin typeface="Calibri" pitchFamily="34" charset="0"/>
                <a:ea typeface="Calibri" pitchFamily="34" charset="-122"/>
                <a:cs typeface="Calibri" pitchFamily="34" charset="-120"/>
              </a:rPr>
              <a:t>Konserva: kesimda sovuq markaz</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Natijalar ishonchli: uch xil tekshiruv</a:t>
            </a:r>
            <a:endParaRPr lang="en-US" sz="3200" dirty="0"/>
          </a:p>
        </p:txBody>
      </p:sp>
      <p:sp>
        <p:nvSpPr>
          <p:cNvPr id="3" name="Text 1">
            <a:hlinkClick r:id="rId1" tooltip=""/>
          </p:cNvPr>
          <p:cNvSpPr txBox="1"/>
          <p:nvPr/>
        </p:nvSpPr>
        <p:spPr>
          <a:xfrm>
            <a:off x="548640" y="6419088"/>
            <a:ext cx="5486400" cy="274320"/>
          </a:xfrm>
          <a:prstGeom prst="rect">
            <a:avLst/>
          </a:prstGeom>
          <a:noFill/>
          <a:ln/>
        </p:spPr>
        <p:txBody>
          <a:bodyPr wrap="square" lIns="0" tIns="0" rIns="0" bIns="0" rtlCol="0" anchor="t"/>
          <a:lstStyle/>
          <a:p>
            <a:pPr indent="0" marL="0">
              <a:buNone/>
            </a:pPr>
            <a:r>
              <a:rPr lang="en-US" sz="1100" u="sng" dirty="0">
                <a:solidFill>
                  <a:srgbClr val="1F5FA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ulugbekkamalov0829-web.github.io/termolab</a:t>
            </a:r>
            <a:endParaRPr lang="en-US" sz="1100" dirty="0"/>
          </a:p>
        </p:txBody>
      </p:sp>
      <p:sp>
        <p:nvSpPr>
          <p:cNvPr id="4" name="Aniq yechim bilan"/>
          <p:cNvSpPr/>
          <p:nvPr/>
        </p:nvSpPr>
        <p:spPr>
          <a:xfrm>
            <a:off x="548640" y="1325880"/>
            <a:ext cx="3593592" cy="2240280"/>
          </a:xfrm>
          <a:prstGeom prst="roundRect">
            <a:avLst>
              <a:gd name="adj" fmla="val 4898"/>
            </a:avLst>
          </a:prstGeom>
          <a:solidFill>
            <a:srgbClr val="F2F5F8"/>
          </a:solidFill>
          <a:ln w="12700">
            <a:solidFill>
              <a:srgbClr val="F2F5F8"/>
            </a:solidFill>
            <a:prstDash val="solid"/>
          </a:ln>
        </p:spPr>
      </p:sp>
      <p:sp>
        <p:nvSpPr>
          <p:cNvPr id="5" name="Shape 3"/>
          <p:cNvSpPr/>
          <p:nvPr/>
        </p:nvSpPr>
        <p:spPr>
          <a:xfrm>
            <a:off x="749808" y="1481328"/>
            <a:ext cx="420624" cy="420624"/>
          </a:xfrm>
          <a:prstGeom prst="ellipse">
            <a:avLst/>
          </a:prstGeom>
          <a:solidFill>
            <a:srgbClr val="1F5FA8"/>
          </a:solidFill>
          <a:ln w="12700">
            <a:solidFill>
              <a:srgbClr val="1F5FA8"/>
            </a:solidFill>
            <a:prstDash val="solid"/>
          </a:ln>
        </p:spPr>
      </p:sp>
      <p:sp>
        <p:nvSpPr>
          <p:cNvPr id="6" name="Text 4"/>
          <p:cNvSpPr txBox="1"/>
          <p:nvPr/>
        </p:nvSpPr>
        <p:spPr>
          <a:xfrm>
            <a:off x="749808" y="148132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298448" y="1517904"/>
            <a:ext cx="2743200" cy="365760"/>
          </a:xfrm>
          <a:prstGeom prst="rect">
            <a:avLst/>
          </a:prstGeom>
          <a:noFill/>
          <a:ln/>
        </p:spPr>
        <p:txBody>
          <a:bodyPr wrap="square" lIns="0" tIns="0" rIns="0" bIns="0" rtlCol="0" anchor="t"/>
          <a:lstStyle/>
          <a:p>
            <a:pPr indent="0" marL="0">
              <a:buNone/>
            </a:pPr>
            <a:r>
              <a:rPr lang="en-US" sz="1700" b="1" dirty="0">
                <a:solidFill>
                  <a:srgbClr val="1F5FA8"/>
                </a:solidFill>
                <a:latin typeface="Calibri" pitchFamily="34" charset="0"/>
                <a:ea typeface="Calibri" pitchFamily="34" charset="-122"/>
                <a:cs typeface="Calibri" pitchFamily="34" charset="-120"/>
              </a:rPr>
              <a:t>Aniq yechim bilan</a:t>
            </a:r>
            <a:endParaRPr lang="en-US" sz="1700" dirty="0"/>
          </a:p>
        </p:txBody>
      </p:sp>
      <p:sp>
        <p:nvSpPr>
          <p:cNvPr id="8" name="Text 6"/>
          <p:cNvSpPr txBox="1"/>
          <p:nvPr/>
        </p:nvSpPr>
        <p:spPr>
          <a:xfrm>
            <a:off x="749808" y="2057400"/>
            <a:ext cx="3200400" cy="146304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To’r 2 marta maydalansa xato 4 marta kamayadi – 2-tartibli aniqlik (p ≈ 2) 1D va 2D da tasdiqlandi. JavaScript va Python versiyalari bir xil natija beradi.</a:t>
            </a:r>
            <a:endParaRPr lang="en-US" sz="1400" dirty="0"/>
          </a:p>
        </p:txBody>
      </p:sp>
      <p:sp>
        <p:nvSpPr>
          <p:cNvPr id="9" name="Fizik formulalar bilan"/>
          <p:cNvSpPr/>
          <p:nvPr/>
        </p:nvSpPr>
        <p:spPr>
          <a:xfrm>
            <a:off x="4297680" y="1325880"/>
            <a:ext cx="3593592" cy="2240280"/>
          </a:xfrm>
          <a:prstGeom prst="roundRect">
            <a:avLst>
              <a:gd name="adj" fmla="val 4898"/>
            </a:avLst>
          </a:prstGeom>
          <a:solidFill>
            <a:srgbClr val="F2F5F8"/>
          </a:solidFill>
          <a:ln w="12700">
            <a:solidFill>
              <a:srgbClr val="F2F5F8"/>
            </a:solidFill>
            <a:prstDash val="solid"/>
          </a:ln>
        </p:spPr>
      </p:sp>
      <p:sp>
        <p:nvSpPr>
          <p:cNvPr id="10" name="Shape 8"/>
          <p:cNvSpPr/>
          <p:nvPr/>
        </p:nvSpPr>
        <p:spPr>
          <a:xfrm>
            <a:off x="4498848" y="1481328"/>
            <a:ext cx="420624" cy="420624"/>
          </a:xfrm>
          <a:prstGeom prst="ellipse">
            <a:avLst/>
          </a:prstGeom>
          <a:solidFill>
            <a:srgbClr val="1F7A4A"/>
          </a:solidFill>
          <a:ln w="12700">
            <a:solidFill>
              <a:srgbClr val="1F7A4A"/>
            </a:solidFill>
            <a:prstDash val="solid"/>
          </a:ln>
        </p:spPr>
      </p:sp>
      <p:sp>
        <p:nvSpPr>
          <p:cNvPr id="11" name="Text 9"/>
          <p:cNvSpPr txBox="1"/>
          <p:nvPr/>
        </p:nvSpPr>
        <p:spPr>
          <a:xfrm>
            <a:off x="4498848" y="148132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5047488" y="1517904"/>
            <a:ext cx="2743200" cy="365760"/>
          </a:xfrm>
          <a:prstGeom prst="rect">
            <a:avLst/>
          </a:prstGeom>
          <a:noFill/>
          <a:ln/>
        </p:spPr>
        <p:txBody>
          <a:bodyPr wrap="square" lIns="0" tIns="0" rIns="0" bIns="0" rtlCol="0" anchor="t"/>
          <a:lstStyle/>
          <a:p>
            <a:pPr indent="0" marL="0">
              <a:buNone/>
            </a:pPr>
            <a:r>
              <a:rPr lang="en-US" sz="1700" b="1" dirty="0">
                <a:solidFill>
                  <a:srgbClr val="1F7A4A"/>
                </a:solidFill>
                <a:latin typeface="Calibri" pitchFamily="34" charset="0"/>
                <a:ea typeface="Calibri" pitchFamily="34" charset="-122"/>
                <a:cs typeface="Calibri" pitchFamily="34" charset="-120"/>
              </a:rPr>
              <a:t>Fizik formulalar bilan</a:t>
            </a:r>
            <a:endParaRPr lang="en-US" sz="1700" dirty="0"/>
          </a:p>
        </p:txBody>
      </p:sp>
      <p:sp>
        <p:nvSpPr>
          <p:cNvPr id="13" name="Text 11"/>
          <p:cNvSpPr txBox="1"/>
          <p:nvPr/>
        </p:nvSpPr>
        <p:spPr>
          <a:xfrm>
            <a:off x="4498848" y="2057400"/>
            <a:ext cx="3200400" cy="146304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Devor 78.38 W/m², qatlamli devor 9.3713 W/m², izolyatsiyali quvur 28.7883 W/m – analitik formula bilan to’liq mos.</a:t>
            </a:r>
            <a:endParaRPr lang="en-US" sz="1400" dirty="0"/>
          </a:p>
        </p:txBody>
      </p:sp>
      <p:sp>
        <p:nvSpPr>
          <p:cNvPr id="14" name="Me’yor bilan"/>
          <p:cNvSpPr/>
          <p:nvPr/>
        </p:nvSpPr>
        <p:spPr>
          <a:xfrm>
            <a:off x="8046720" y="1325880"/>
            <a:ext cx="3593592" cy="2240280"/>
          </a:xfrm>
          <a:prstGeom prst="roundRect">
            <a:avLst>
              <a:gd name="adj" fmla="val 4898"/>
            </a:avLst>
          </a:prstGeom>
          <a:solidFill>
            <a:srgbClr val="F2F5F8"/>
          </a:solidFill>
          <a:ln w="12700">
            <a:solidFill>
              <a:srgbClr val="F2F5F8"/>
            </a:solidFill>
            <a:prstDash val="solid"/>
          </a:ln>
        </p:spPr>
      </p:sp>
      <p:sp>
        <p:nvSpPr>
          <p:cNvPr id="15" name="Shape 13"/>
          <p:cNvSpPr/>
          <p:nvPr/>
        </p:nvSpPr>
        <p:spPr>
          <a:xfrm>
            <a:off x="8247888" y="1481328"/>
            <a:ext cx="420624" cy="420624"/>
          </a:xfrm>
          <a:prstGeom prst="ellipse">
            <a:avLst/>
          </a:prstGeom>
          <a:solidFill>
            <a:srgbClr val="C4401F"/>
          </a:solidFill>
          <a:ln w="12700">
            <a:solidFill>
              <a:srgbClr val="C4401F"/>
            </a:solidFill>
            <a:prstDash val="solid"/>
          </a:ln>
        </p:spPr>
      </p:sp>
      <p:sp>
        <p:nvSpPr>
          <p:cNvPr id="16" name="Text 14"/>
          <p:cNvSpPr txBox="1"/>
          <p:nvPr/>
        </p:nvSpPr>
        <p:spPr>
          <a:xfrm>
            <a:off x="8247888" y="148132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txBox="1"/>
          <p:nvPr/>
        </p:nvSpPr>
        <p:spPr>
          <a:xfrm>
            <a:off x="8796528" y="1517904"/>
            <a:ext cx="2743200" cy="365760"/>
          </a:xfrm>
          <a:prstGeom prst="rect">
            <a:avLst/>
          </a:prstGeom>
          <a:noFill/>
          <a:ln/>
        </p:spPr>
        <p:txBody>
          <a:bodyPr wrap="square" lIns="0" tIns="0" rIns="0" bIns="0" rtlCol="0" anchor="t"/>
          <a:lstStyle/>
          <a:p>
            <a:pPr indent="0" marL="0">
              <a:buNone/>
            </a:pPr>
            <a:r>
              <a:rPr lang="en-US" sz="1700" b="1" dirty="0">
                <a:solidFill>
                  <a:srgbClr val="C4401F"/>
                </a:solidFill>
                <a:latin typeface="Calibri" pitchFamily="34" charset="0"/>
                <a:ea typeface="Calibri" pitchFamily="34" charset="-122"/>
                <a:cs typeface="Calibri" pitchFamily="34" charset="-120"/>
              </a:rPr>
              <a:t>Me’yor bilan</a:t>
            </a:r>
            <a:endParaRPr lang="en-US" sz="1700" dirty="0"/>
          </a:p>
        </p:txBody>
      </p:sp>
      <p:sp>
        <p:nvSpPr>
          <p:cNvPr id="18" name="Text 16"/>
          <p:cNvSpPr txBox="1"/>
          <p:nvPr/>
        </p:nvSpPr>
        <p:spPr>
          <a:xfrm>
            <a:off x="8247888" y="2057400"/>
            <a:ext cx="3200400" cy="146304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Yong’in modeli Yevrokod 2 (EN 1992-1-2) jadvaliga mos: REI 90 uchun a = 30 mm, h = 100 mm.</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11091672" cy="914400"/>
        </p:xfrm>
        <a:graphic>
          <a:graphicData uri="http://schemas.openxmlformats.org/drawingml/2006/table">
            <a:tbl>
              <a:tblPr/>
              <a:tblGrid>
                <a:gridCol w="3044952"/>
                <a:gridCol w="2011680"/>
                <a:gridCol w="2011680"/>
                <a:gridCol w="2011680"/>
                <a:gridCol w="2011680"/>
              </a:tblGrid>
              <a:tr h="384048">
                <a:tc>
                  <a:txBody>
                    <a:bodyPr/>
                    <a:lstStyle/>
                    <a:p>
                      <a:pPr algn="ctr" indent="0" marL="0">
                        <a:buNone/>
                      </a:pPr>
                      <a:r>
                        <a:rPr lang="en-US" sz="1400" b="1" dirty="0">
                          <a:solidFill>
                            <a:srgbClr val="1B2A3A"/>
                          </a:solidFill>
                          <a:latin typeface="Calibri" pitchFamily="34" charset="0"/>
                          <a:ea typeface="Calibri" pitchFamily="34" charset="-122"/>
                          <a:cs typeface="Calibri" pitchFamily="34" charset="-120"/>
                        </a:rPr>
                        <a:t>Yong’inga chidamlilik</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DCE6F2"/>
                    </a:solidFill>
                  </a:tcPr>
                </a:tc>
                <a:tc>
                  <a:txBody>
                    <a:bodyPr/>
                    <a:lstStyle/>
                    <a:p>
                      <a:pPr algn="ctr" indent="0" marL="0">
                        <a:buNone/>
                      </a:pPr>
                      <a:r>
                        <a:rPr lang="en-US" sz="1400" b="1" dirty="0">
                          <a:solidFill>
                            <a:srgbClr val="1B2A3A"/>
                          </a:solidFill>
                          <a:latin typeface="Calibri" pitchFamily="34" charset="0"/>
                          <a:ea typeface="Calibri" pitchFamily="34" charset="-122"/>
                          <a:cs typeface="Calibri" pitchFamily="34" charset="-120"/>
                        </a:rPr>
                        <a:t>a, mm (model)</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DCE6F2"/>
                    </a:solidFill>
                  </a:tcPr>
                </a:tc>
                <a:tc>
                  <a:txBody>
                    <a:bodyPr/>
                    <a:lstStyle/>
                    <a:p>
                      <a:pPr algn="ctr" indent="0" marL="0">
                        <a:buNone/>
                      </a:pPr>
                      <a:r>
                        <a:rPr lang="en-US" sz="1400" b="1" dirty="0">
                          <a:solidFill>
                            <a:srgbClr val="1B2A3A"/>
                          </a:solidFill>
                          <a:latin typeface="Calibri" pitchFamily="34" charset="0"/>
                          <a:ea typeface="Calibri" pitchFamily="34" charset="-122"/>
                          <a:cs typeface="Calibri" pitchFamily="34" charset="-120"/>
                        </a:rPr>
                        <a:t>a, mm (EC2)</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DCE6F2"/>
                    </a:solidFill>
                  </a:tcPr>
                </a:tc>
                <a:tc>
                  <a:txBody>
                    <a:bodyPr/>
                    <a:lstStyle/>
                    <a:p>
                      <a:pPr algn="ctr" indent="0" marL="0">
                        <a:buNone/>
                      </a:pPr>
                      <a:r>
                        <a:rPr lang="en-US" sz="1400" b="1" dirty="0">
                          <a:solidFill>
                            <a:srgbClr val="1B2A3A"/>
                          </a:solidFill>
                          <a:latin typeface="Calibri" pitchFamily="34" charset="0"/>
                          <a:ea typeface="Calibri" pitchFamily="34" charset="-122"/>
                          <a:cs typeface="Calibri" pitchFamily="34" charset="-120"/>
                        </a:rPr>
                        <a:t>h, mm (model)</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DCE6F2"/>
                    </a:solidFill>
                  </a:tcPr>
                </a:tc>
                <a:tc>
                  <a:txBody>
                    <a:bodyPr/>
                    <a:lstStyle/>
                    <a:p>
                      <a:pPr algn="ctr" indent="0" marL="0">
                        <a:buNone/>
                      </a:pPr>
                      <a:r>
                        <a:rPr lang="en-US" sz="1400" b="1" dirty="0">
                          <a:solidFill>
                            <a:srgbClr val="1B2A3A"/>
                          </a:solidFill>
                          <a:latin typeface="Calibri" pitchFamily="34" charset="0"/>
                          <a:ea typeface="Calibri" pitchFamily="34" charset="-122"/>
                          <a:cs typeface="Calibri" pitchFamily="34" charset="-120"/>
                        </a:rPr>
                        <a:t>h, mm (EC2)</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DCE6F2"/>
                    </a:solidFill>
                  </a:tcPr>
                </a:tc>
              </a:tr>
              <a:tr h="384048">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REI 60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80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80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r>
              <a:tr h="384048">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REI 90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r>
              <a:tr h="384048">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REI 120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38</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40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120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120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r>
              <a:tr h="384048">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REI 180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55</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140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150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r>
            </a:tbl>
          </a:graphicData>
        </a:graphic>
      </p:graphicFrame>
      <p:sp>
        <p:nvSpPr>
          <p:cNvPr id="20" name="Text 17"/>
          <p:cNvSpPr txBox="1"/>
          <p:nvPr/>
        </p:nvSpPr>
        <p:spPr>
          <a:xfrm>
            <a:off x="548640" y="5806440"/>
            <a:ext cx="10972800" cy="365760"/>
          </a:xfrm>
          <a:prstGeom prst="rect">
            <a:avLst/>
          </a:prstGeom>
          <a:noFill/>
          <a:ln/>
        </p:spPr>
        <p:txBody>
          <a:bodyPr wrap="square" lIns="0" tIns="0" rIns="0" bIns="0" rtlCol="0" anchor="t"/>
          <a:lstStyle/>
          <a:p>
            <a:pPr indent="0" marL="0">
              <a:buNone/>
            </a:pPr>
            <a:r>
              <a:rPr lang="en-US" sz="1300" dirty="0">
                <a:solidFill>
                  <a:srgbClr val="56657A"/>
                </a:solidFill>
                <a:latin typeface="Calibri" pitchFamily="34" charset="0"/>
                <a:ea typeface="Calibri" pitchFamily="34" charset="-122"/>
                <a:cs typeface="Calibri" pitchFamily="34" charset="-120"/>
              </a:rPr>
              <a:t>a – armatura o’qigacha masofa (500 °C mezoni), h – plita qalinligi (yuqori yuza +140 °C mezoni).</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Saytdan foydalanish: olti qadam</a:t>
            </a:r>
            <a:endParaRPr lang="en-US" sz="3200" dirty="0"/>
          </a:p>
        </p:txBody>
      </p:sp>
      <p:sp>
        <p:nvSpPr>
          <p:cNvPr id="3" name="Text 1">
            <a:hlinkClick r:id="rId1" tooltip=""/>
          </p:cNvPr>
          <p:cNvSpPr txBox="1"/>
          <p:nvPr/>
        </p:nvSpPr>
        <p:spPr>
          <a:xfrm>
            <a:off x="548640" y="6419088"/>
            <a:ext cx="5486400" cy="274320"/>
          </a:xfrm>
          <a:prstGeom prst="rect">
            <a:avLst/>
          </a:prstGeom>
          <a:noFill/>
          <a:ln/>
        </p:spPr>
        <p:txBody>
          <a:bodyPr wrap="square" lIns="0" tIns="0" rIns="0" bIns="0" rtlCol="0" anchor="t"/>
          <a:lstStyle/>
          <a:p>
            <a:pPr indent="0" marL="0">
              <a:buNone/>
            </a:pPr>
            <a:r>
              <a:rPr lang="en-US" sz="1100" u="sng" dirty="0">
                <a:solidFill>
                  <a:srgbClr val="1F5FA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ulugbekkamalov0829-web.github.io/termolab</a:t>
            </a:r>
            <a:endParaRPr lang="en-US" sz="1100" dirty="0"/>
          </a:p>
        </p:txBody>
      </p:sp>
      <p:sp>
        <p:nvSpPr>
          <p:cNvPr id="4" name="Shape 2"/>
          <p:cNvSpPr/>
          <p:nvPr/>
        </p:nvSpPr>
        <p:spPr>
          <a:xfrm>
            <a:off x="548640" y="1417320"/>
            <a:ext cx="420624" cy="420624"/>
          </a:xfrm>
          <a:prstGeom prst="ellipse">
            <a:avLst/>
          </a:prstGeom>
          <a:solidFill>
            <a:srgbClr val="C4401F"/>
          </a:solidFill>
          <a:ln w="12700">
            <a:solidFill>
              <a:srgbClr val="C4401F"/>
            </a:solidFill>
            <a:prstDash val="solid"/>
          </a:ln>
        </p:spPr>
      </p:sp>
      <p:sp>
        <p:nvSpPr>
          <p:cNvPr id="5" name="Text 3"/>
          <p:cNvSpPr txBox="1"/>
          <p:nvPr/>
        </p:nvSpPr>
        <p:spPr>
          <a:xfrm>
            <a:off x="548640" y="141732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115568" y="1371600"/>
            <a:ext cx="2926080" cy="868680"/>
          </a:xfrm>
          <a:prstGeom prst="rect">
            <a:avLst/>
          </a:prstGeom>
          <a:noFill/>
          <a:ln/>
        </p:spPr>
        <p:txBody>
          <a:bodyPr wrap="square" lIns="0" tIns="0" rIns="0" bIns="0" rtlCol="0" anchor="t"/>
          <a:lstStyle/>
          <a:p>
            <a:pPr indent="0" marL="0">
              <a:buNone/>
            </a:pPr>
            <a:r>
              <a:rPr lang="en-US" sz="1500" dirty="0">
                <a:solidFill>
                  <a:srgbClr val="16212E"/>
                </a:solidFill>
                <a:latin typeface="Calibri" pitchFamily="34" charset="0"/>
                <a:ea typeface="Calibri" pitchFamily="34" charset="-122"/>
                <a:cs typeface="Calibri" pitchFamily="34" charset="-120"/>
              </a:rPr>
              <a:t>Saytni oching – telefon yoki kompyuterda, o’rnatish shart emas</a:t>
            </a:r>
            <a:endParaRPr lang="en-US" sz="1500" dirty="0"/>
          </a:p>
        </p:txBody>
      </p:sp>
      <p:sp>
        <p:nvSpPr>
          <p:cNvPr id="7" name="Shape 5"/>
          <p:cNvSpPr/>
          <p:nvPr/>
        </p:nvSpPr>
        <p:spPr>
          <a:xfrm>
            <a:off x="4206240" y="1417320"/>
            <a:ext cx="420624" cy="420624"/>
          </a:xfrm>
          <a:prstGeom prst="ellipse">
            <a:avLst/>
          </a:prstGeom>
          <a:solidFill>
            <a:srgbClr val="C4401F"/>
          </a:solidFill>
          <a:ln w="12700">
            <a:solidFill>
              <a:srgbClr val="C4401F"/>
            </a:solidFill>
            <a:prstDash val="solid"/>
          </a:ln>
        </p:spPr>
      </p:sp>
      <p:sp>
        <p:nvSpPr>
          <p:cNvPr id="8" name="Text 6"/>
          <p:cNvSpPr txBox="1"/>
          <p:nvPr/>
        </p:nvSpPr>
        <p:spPr>
          <a:xfrm>
            <a:off x="4206240" y="141732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4773168" y="1371600"/>
            <a:ext cx="2926080" cy="868680"/>
          </a:xfrm>
          <a:prstGeom prst="rect">
            <a:avLst/>
          </a:prstGeom>
          <a:noFill/>
          <a:ln/>
        </p:spPr>
        <p:txBody>
          <a:bodyPr wrap="square" lIns="0" tIns="0" rIns="0" bIns="0" rtlCol="0" anchor="t"/>
          <a:lstStyle/>
          <a:p>
            <a:pPr indent="0" marL="0">
              <a:buNone/>
            </a:pPr>
            <a:r>
              <a:rPr lang="en-US" sz="1500" dirty="0">
                <a:solidFill>
                  <a:srgbClr val="16212E"/>
                </a:solidFill>
                <a:latin typeface="Calibri" pitchFamily="34" charset="0"/>
                <a:ea typeface="Calibri" pitchFamily="34" charset="-122"/>
                <a:cs typeface="Calibri" pitchFamily="34" charset="-120"/>
              </a:rPr>
              <a:t>Sohani tanlang: devor, quvur, beton, konserva…</a:t>
            </a:r>
            <a:endParaRPr lang="en-US" sz="1500" dirty="0"/>
          </a:p>
        </p:txBody>
      </p:sp>
      <p:sp>
        <p:nvSpPr>
          <p:cNvPr id="10" name="Shape 8"/>
          <p:cNvSpPr/>
          <p:nvPr/>
        </p:nvSpPr>
        <p:spPr>
          <a:xfrm>
            <a:off x="548640" y="2468880"/>
            <a:ext cx="420624" cy="420624"/>
          </a:xfrm>
          <a:prstGeom prst="ellipse">
            <a:avLst/>
          </a:prstGeom>
          <a:solidFill>
            <a:srgbClr val="C4401F"/>
          </a:solidFill>
          <a:ln w="12700">
            <a:solidFill>
              <a:srgbClr val="C4401F"/>
            </a:solidFill>
            <a:prstDash val="solid"/>
          </a:ln>
        </p:spPr>
      </p:sp>
      <p:sp>
        <p:nvSpPr>
          <p:cNvPr id="11" name="Text 9"/>
          <p:cNvSpPr txBox="1"/>
          <p:nvPr/>
        </p:nvSpPr>
        <p:spPr>
          <a:xfrm>
            <a:off x="548640" y="24688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2" name="Text 10"/>
          <p:cNvSpPr txBox="1"/>
          <p:nvPr/>
        </p:nvSpPr>
        <p:spPr>
          <a:xfrm>
            <a:off x="1115568" y="2423160"/>
            <a:ext cx="2926080" cy="868680"/>
          </a:xfrm>
          <a:prstGeom prst="rect">
            <a:avLst/>
          </a:prstGeom>
          <a:noFill/>
          <a:ln/>
        </p:spPr>
        <p:txBody>
          <a:bodyPr wrap="square" lIns="0" tIns="0" rIns="0" bIns="0" rtlCol="0" anchor="t"/>
          <a:lstStyle/>
          <a:p>
            <a:pPr indent="0" marL="0">
              <a:buNone/>
            </a:pPr>
            <a:r>
              <a:rPr lang="en-US" sz="1500" dirty="0">
                <a:solidFill>
                  <a:srgbClr val="16212E"/>
                </a:solidFill>
                <a:latin typeface="Calibri" pitchFamily="34" charset="0"/>
                <a:ea typeface="Calibri" pitchFamily="34" charset="-122"/>
                <a:cs typeface="Calibri" pitchFamily="34" charset="-120"/>
              </a:rPr>
              <a:t>Qiymatlarni kiriting – natija darhol qayta hisoblanadi</a:t>
            </a:r>
            <a:endParaRPr lang="en-US" sz="1500" dirty="0"/>
          </a:p>
        </p:txBody>
      </p:sp>
      <p:sp>
        <p:nvSpPr>
          <p:cNvPr id="13" name="Shape 11"/>
          <p:cNvSpPr/>
          <p:nvPr/>
        </p:nvSpPr>
        <p:spPr>
          <a:xfrm>
            <a:off x="4206240" y="2468880"/>
            <a:ext cx="420624" cy="420624"/>
          </a:xfrm>
          <a:prstGeom prst="ellipse">
            <a:avLst/>
          </a:prstGeom>
          <a:solidFill>
            <a:srgbClr val="C4401F"/>
          </a:solidFill>
          <a:ln w="12700">
            <a:solidFill>
              <a:srgbClr val="C4401F"/>
            </a:solidFill>
            <a:prstDash val="solid"/>
          </a:ln>
        </p:spPr>
      </p:sp>
      <p:sp>
        <p:nvSpPr>
          <p:cNvPr id="14" name="Text 12"/>
          <p:cNvSpPr txBox="1"/>
          <p:nvPr/>
        </p:nvSpPr>
        <p:spPr>
          <a:xfrm>
            <a:off x="4206240" y="24688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5" name="Text 13"/>
          <p:cNvSpPr txBox="1"/>
          <p:nvPr/>
        </p:nvSpPr>
        <p:spPr>
          <a:xfrm>
            <a:off x="4773168" y="2423160"/>
            <a:ext cx="2926080" cy="868680"/>
          </a:xfrm>
          <a:prstGeom prst="rect">
            <a:avLst/>
          </a:prstGeom>
          <a:noFill/>
          <a:ln/>
        </p:spPr>
        <p:txBody>
          <a:bodyPr wrap="square" lIns="0" tIns="0" rIns="0" bIns="0" rtlCol="0" anchor="t"/>
          <a:lstStyle/>
          <a:p>
            <a:pPr indent="0" marL="0">
              <a:buNone/>
            </a:pPr>
            <a:r>
              <a:rPr lang="en-US" sz="1500" dirty="0">
                <a:solidFill>
                  <a:srgbClr val="16212E"/>
                </a:solidFill>
                <a:latin typeface="Calibri" pitchFamily="34" charset="0"/>
                <a:ea typeface="Calibri" pitchFamily="34" charset="-122"/>
                <a:cs typeface="Calibri" pitchFamily="34" charset="-120"/>
              </a:rPr>
              <a:t>Javobni o’qing: yashil – me’yorda, qizil – xavfli</a:t>
            </a:r>
            <a:endParaRPr lang="en-US" sz="1500" dirty="0"/>
          </a:p>
        </p:txBody>
      </p:sp>
      <p:sp>
        <p:nvSpPr>
          <p:cNvPr id="16" name="Shape 14"/>
          <p:cNvSpPr/>
          <p:nvPr/>
        </p:nvSpPr>
        <p:spPr>
          <a:xfrm>
            <a:off x="548640" y="3520440"/>
            <a:ext cx="420624" cy="420624"/>
          </a:xfrm>
          <a:prstGeom prst="ellipse">
            <a:avLst/>
          </a:prstGeom>
          <a:solidFill>
            <a:srgbClr val="C4401F"/>
          </a:solidFill>
          <a:ln w="12700">
            <a:solidFill>
              <a:srgbClr val="C4401F"/>
            </a:solidFill>
            <a:prstDash val="solid"/>
          </a:ln>
        </p:spPr>
      </p:sp>
      <p:sp>
        <p:nvSpPr>
          <p:cNvPr id="17" name="Text 15"/>
          <p:cNvSpPr txBox="1"/>
          <p:nvPr/>
        </p:nvSpPr>
        <p:spPr>
          <a:xfrm>
            <a:off x="548640" y="35204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18" name="Text 16"/>
          <p:cNvSpPr txBox="1"/>
          <p:nvPr/>
        </p:nvSpPr>
        <p:spPr>
          <a:xfrm>
            <a:off x="1115568" y="3474720"/>
            <a:ext cx="2926080" cy="868680"/>
          </a:xfrm>
          <a:prstGeom prst="rect">
            <a:avLst/>
          </a:prstGeom>
          <a:noFill/>
          <a:ln/>
        </p:spPr>
        <p:txBody>
          <a:bodyPr wrap="square" lIns="0" tIns="0" rIns="0" bIns="0" rtlCol="0" anchor="t"/>
          <a:lstStyle/>
          <a:p>
            <a:pPr indent="0" marL="0">
              <a:buNone/>
            </a:pPr>
            <a:r>
              <a:rPr lang="en-US" sz="1500" dirty="0">
                <a:solidFill>
                  <a:srgbClr val="16212E"/>
                </a:solidFill>
                <a:latin typeface="Calibri" pitchFamily="34" charset="0"/>
                <a:ea typeface="Calibri" pitchFamily="34" charset="-122"/>
                <a:cs typeface="Calibri" pitchFamily="34" charset="-120"/>
              </a:rPr>
              <a:t>“Yechim va tavsiya”da nima qilish kerakligini ko’ring</a:t>
            </a:r>
            <a:endParaRPr lang="en-US" sz="1500" dirty="0"/>
          </a:p>
        </p:txBody>
      </p:sp>
      <p:sp>
        <p:nvSpPr>
          <p:cNvPr id="19" name="Shape 17"/>
          <p:cNvSpPr/>
          <p:nvPr/>
        </p:nvSpPr>
        <p:spPr>
          <a:xfrm>
            <a:off x="4206240" y="3520440"/>
            <a:ext cx="420624" cy="420624"/>
          </a:xfrm>
          <a:prstGeom prst="ellipse">
            <a:avLst/>
          </a:prstGeom>
          <a:solidFill>
            <a:srgbClr val="C4401F"/>
          </a:solidFill>
          <a:ln w="12700">
            <a:solidFill>
              <a:srgbClr val="C4401F"/>
            </a:solidFill>
            <a:prstDash val="solid"/>
          </a:ln>
        </p:spPr>
      </p:sp>
      <p:sp>
        <p:nvSpPr>
          <p:cNvPr id="20" name="Text 18"/>
          <p:cNvSpPr txBox="1"/>
          <p:nvPr/>
        </p:nvSpPr>
        <p:spPr>
          <a:xfrm>
            <a:off x="4206240" y="35204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1" name="Text 19"/>
          <p:cNvSpPr txBox="1"/>
          <p:nvPr/>
        </p:nvSpPr>
        <p:spPr>
          <a:xfrm>
            <a:off x="4773168" y="3474720"/>
            <a:ext cx="2926080" cy="868680"/>
          </a:xfrm>
          <a:prstGeom prst="rect">
            <a:avLst/>
          </a:prstGeom>
          <a:noFill/>
          <a:ln/>
        </p:spPr>
        <p:txBody>
          <a:bodyPr wrap="square" lIns="0" tIns="0" rIns="0" bIns="0" rtlCol="0" anchor="t"/>
          <a:lstStyle/>
          <a:p>
            <a:pPr indent="0" marL="0">
              <a:buNone/>
            </a:pPr>
            <a:r>
              <a:rPr lang="en-US" sz="1500" dirty="0">
                <a:solidFill>
                  <a:srgbClr val="16212E"/>
                </a:solidFill>
                <a:latin typeface="Calibri" pitchFamily="34" charset="0"/>
                <a:ea typeface="Calibri" pitchFamily="34" charset="-122"/>
                <a:cs typeface="Calibri" pitchFamily="34" charset="-120"/>
              </a:rPr>
              <a:t>“Hisobot”ni nusxalang yoki yuklab oling</a:t>
            </a:r>
            <a:endParaRPr lang="en-US" sz="1500" dirty="0"/>
          </a:p>
        </p:txBody>
      </p:sp>
      <p:sp>
        <p:nvSpPr>
          <p:cNvPr id="22" name="Havola"/>
          <p:cNvSpPr/>
          <p:nvPr/>
        </p:nvSpPr>
        <p:spPr>
          <a:xfrm>
            <a:off x="548640" y="4617720"/>
            <a:ext cx="6949440" cy="1463040"/>
          </a:xfrm>
          <a:prstGeom prst="roundRect">
            <a:avLst>
              <a:gd name="adj" fmla="val 7500"/>
            </a:avLst>
          </a:prstGeom>
          <a:solidFill>
            <a:srgbClr val="E8F0FA"/>
          </a:solidFill>
          <a:ln w="12700">
            <a:solidFill>
              <a:srgbClr val="E8F0FA"/>
            </a:solidFill>
            <a:prstDash val="solid"/>
          </a:ln>
        </p:spPr>
      </p:sp>
      <p:sp>
        <p:nvSpPr>
          <p:cNvPr id="23" name="Shape 21">
            <a:hlinkClick r:id="rId2" tooltip="TermoLab saytini ochish"/>
          </p:cNvPr>
          <p:cNvSpPr/>
          <p:nvPr/>
        </p:nvSpPr>
        <p:spPr>
          <a:xfrm>
            <a:off x="548640" y="4617720"/>
            <a:ext cx="6949440" cy="1463040"/>
          </a:xfrm>
          <a:prstGeom prst="rect">
            <a:avLst/>
          </a:prstGeom>
          <a:solidFill>
            <a:srgbClr val="FFFFFF">
              <a:alpha val="0"/>
            </a:srgbClr>
          </a:solidFill>
          <a:ln w="12700">
            <a:solidFill>
              <a:srgbClr val="FFFFFF">
                <a:alpha val="0"/>
              </a:srgbClr>
            </a:solidFill>
            <a:prstDash val="solid"/>
          </a:ln>
        </p:spPr>
      </p:sp>
      <p:sp>
        <p:nvSpPr>
          <p:cNvPr id="24" name="Text 22"/>
          <p:cNvSpPr txBox="1"/>
          <p:nvPr/>
        </p:nvSpPr>
        <p:spPr>
          <a:xfrm>
            <a:off x="777240" y="4736592"/>
            <a:ext cx="6400800" cy="32004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Sayt manzili</a:t>
            </a:r>
            <a:endParaRPr lang="en-US" sz="1400" dirty="0"/>
          </a:p>
        </p:txBody>
      </p:sp>
      <p:sp>
        <p:nvSpPr>
          <p:cNvPr id="25" name="Text 23">
            <a:hlinkClick r:id="rId3" tooltip=""/>
          </p:cNvPr>
          <p:cNvSpPr txBox="1"/>
          <p:nvPr/>
        </p:nvSpPr>
        <p:spPr>
          <a:xfrm>
            <a:off x="777240" y="5074920"/>
            <a:ext cx="6583680" cy="457200"/>
          </a:xfrm>
          <a:prstGeom prst="rect">
            <a:avLst/>
          </a:prstGeom>
          <a:noFill/>
          <a:ln/>
        </p:spPr>
        <p:txBody>
          <a:bodyPr wrap="square" lIns="0" tIns="0" rIns="0" bIns="0" rtlCol="0" anchor="t"/>
          <a:lstStyle/>
          <a:p>
            <a:pPr indent="0" marL="0">
              <a:buNone/>
            </a:pPr>
            <a:r>
              <a:rPr lang="en-US" sz="1900" b="1" u="sng" dirty="0">
                <a:solidFill>
                  <a:srgbClr val="1F5FA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https://ulugbekkamalov0829-web.github.io/termolab/</a:t>
            </a:r>
            <a:endParaRPr lang="en-US" sz="1900" dirty="0"/>
          </a:p>
        </p:txBody>
      </p:sp>
      <p:sp>
        <p:nvSpPr>
          <p:cNvPr id="26" name="Text 24">
            <a:hlinkClick r:id="rId4" tooltip=""/>
          </p:cNvPr>
          <p:cNvSpPr txBox="1"/>
          <p:nvPr/>
        </p:nvSpPr>
        <p:spPr>
          <a:xfrm>
            <a:off x="777240" y="5577840"/>
            <a:ext cx="6400800" cy="365760"/>
          </a:xfrm>
          <a:prstGeom prst="rect">
            <a:avLst/>
          </a:prstGeom>
          <a:noFill/>
          <a:ln/>
        </p:spPr>
        <p:txBody>
          <a:bodyPr wrap="square" lIns="0" tIns="0" rIns="0" bIns="0" rtlCol="0" anchor="t"/>
          <a:lstStyle/>
          <a:p>
            <a:pPr indent="0" marL="0">
              <a:buNone/>
            </a:pPr>
            <a:r>
              <a:rPr lang="en-US" sz="1400" u="sng" dirty="0">
                <a:solidFill>
                  <a:srgbClr val="56657A"/>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Kod: github.com/ulugbekkamalov0829-web/termolab</a:t>
            </a:r>
            <a:endParaRPr lang="en-US" sz="1400" dirty="0"/>
          </a:p>
        </p:txBody>
      </p:sp>
      <p:pic>
        <p:nvPicPr>
          <p:cNvPr id="27" name="Matnli hisobot namunasi" descr="Matnli hisobot namunasi">    </p:cNvPr>
          <p:cNvPicPr>
            <a:picLocks noChangeAspect="1"/>
          </p:cNvPicPr>
          <p:nvPr/>
        </p:nvPicPr>
        <p:blipFill>
          <a:blip r:embed="rId5"/>
          <a:stretch>
            <a:fillRect/>
          </a:stretch>
        </p:blipFill>
        <p:spPr>
          <a:xfrm>
            <a:off x="8871886" y="1280160"/>
            <a:ext cx="1760379" cy="4846320"/>
          </a:xfrm>
          <a:prstGeom prst="rect">
            <a:avLst/>
          </a:prstGeom>
        </p:spPr>
      </p:pic>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Xulosa</a:t>
            </a:r>
            <a:endParaRPr lang="en-US" sz="3200" dirty="0"/>
          </a:p>
        </p:txBody>
      </p:sp>
      <p:sp>
        <p:nvSpPr>
          <p:cNvPr id="3" name="Text 1">
            <a:hlinkClick r:id="rId1" tooltip=""/>
          </p:cNvPr>
          <p:cNvSpPr txBox="1"/>
          <p:nvPr/>
        </p:nvSpPr>
        <p:spPr>
          <a:xfrm>
            <a:off x="548640" y="6419088"/>
            <a:ext cx="5486400" cy="274320"/>
          </a:xfrm>
          <a:prstGeom prst="rect">
            <a:avLst/>
          </a:prstGeom>
          <a:noFill/>
          <a:ln/>
        </p:spPr>
        <p:txBody>
          <a:bodyPr wrap="square" lIns="0" tIns="0" rIns="0" bIns="0" rtlCol="0" anchor="t"/>
          <a:lstStyle/>
          <a:p>
            <a:pPr indent="0" marL="0">
              <a:buNone/>
            </a:pPr>
            <a:r>
              <a:rPr lang="en-US" sz="1100" u="sng" dirty="0">
                <a:solidFill>
                  <a:srgbClr val="1F5FA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ulugbekkamalov0829-web.github.io/termolab</a:t>
            </a:r>
            <a:endParaRPr lang="en-US" sz="1100" dirty="0"/>
          </a:p>
        </p:txBody>
      </p:sp>
      <p:sp>
        <p:nvSpPr>
          <p:cNvPr id="4" name="Text 2"/>
          <p:cNvSpPr txBox="1"/>
          <p:nvPr/>
        </p:nvSpPr>
        <p:spPr>
          <a:xfrm>
            <a:off x="548640" y="1280160"/>
            <a:ext cx="5486400" cy="365760"/>
          </a:xfrm>
          <a:prstGeom prst="rect">
            <a:avLst/>
          </a:prstGeom>
          <a:noFill/>
          <a:ln/>
        </p:spPr>
        <p:txBody>
          <a:bodyPr wrap="square" lIns="0" tIns="0" rIns="0" bIns="0" rtlCol="0" anchor="t"/>
          <a:lstStyle/>
          <a:p>
            <a:pPr indent="0" marL="0">
              <a:buNone/>
            </a:pPr>
            <a:r>
              <a:rPr lang="en-US" sz="1800" b="1" dirty="0">
                <a:solidFill>
                  <a:srgbClr val="1F7A4A"/>
                </a:solidFill>
                <a:latin typeface="Calibri" pitchFamily="34" charset="0"/>
                <a:ea typeface="Calibri" pitchFamily="34" charset="-122"/>
                <a:cs typeface="Calibri" pitchFamily="34" charset="-120"/>
              </a:rPr>
              <a:t>Nima qildik</a:t>
            </a:r>
            <a:endParaRPr lang="en-US" sz="1800" dirty="0"/>
          </a:p>
        </p:txBody>
      </p:sp>
      <p:sp>
        <p:nvSpPr>
          <p:cNvPr id="5" name="Text 3"/>
          <p:cNvSpPr txBox="1"/>
          <p:nvPr/>
        </p:nvSpPr>
        <p:spPr>
          <a:xfrm>
            <a:off x="548640" y="1737360"/>
            <a:ext cx="5486400" cy="31089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6212E"/>
                </a:solidFill>
                <a:latin typeface="Calibri" pitchFamily="34" charset="0"/>
                <a:ea typeface="Calibri" pitchFamily="34" charset="-122"/>
                <a:cs typeface="Calibri" pitchFamily="34" charset="-120"/>
              </a:rPr>
              <a:t>Sterjenda issiqlik tarqalishi masalasini 6 ta sonli usulda yechdik</a:t>
            </a:r>
            <a:endParaRPr lang="en-US" sz="1500" dirty="0"/>
          </a:p>
          <a:p>
            <a:pPr marL="342900" indent="-342900">
              <a:spcAft>
                <a:spcPts val="800"/>
              </a:spcAft>
              <a:buSzPct val="100000"/>
              <a:buChar char="•"/>
            </a:pPr>
            <a:r>
              <a:rPr lang="en-US" sz="1500" dirty="0">
                <a:solidFill>
                  <a:srgbClr val="16212E"/>
                </a:solidFill>
                <a:latin typeface="Calibri" pitchFamily="34" charset="0"/>
                <a:ea typeface="Calibri" pitchFamily="34" charset="-122"/>
                <a:cs typeface="Calibri" pitchFamily="34" charset="-120"/>
              </a:rPr>
              <a:t>Aniq yechim bilan solishtirib, xato va tezlikni o’lchadik</a:t>
            </a:r>
            <a:endParaRPr lang="en-US" sz="1500" dirty="0"/>
          </a:p>
          <a:p>
            <a:pPr marL="342900" indent="-342900">
              <a:spcAft>
                <a:spcPts val="800"/>
              </a:spcAft>
              <a:buSzPct val="100000"/>
              <a:buChar char="•"/>
            </a:pPr>
            <a:r>
              <a:rPr lang="en-US" sz="1500" dirty="0">
                <a:solidFill>
                  <a:srgbClr val="16212E"/>
                </a:solidFill>
                <a:latin typeface="Calibri" pitchFamily="34" charset="0"/>
                <a:ea typeface="Calibri" pitchFamily="34" charset="-122"/>
                <a:cs typeface="Calibri" pitchFamily="34" charset="-120"/>
              </a:rPr>
              <a:t>Eng maqbul: 1D da Krank–Nikolson + haydash, 2D da ADI + haydash</a:t>
            </a:r>
            <a:endParaRPr lang="en-US" sz="1500" dirty="0"/>
          </a:p>
          <a:p>
            <a:pPr marL="342900" indent="-342900">
              <a:spcAft>
                <a:spcPts val="800"/>
              </a:spcAft>
              <a:buSzPct val="100000"/>
              <a:buChar char="•"/>
            </a:pPr>
            <a:r>
              <a:rPr lang="en-US" sz="1500" dirty="0">
                <a:solidFill>
                  <a:srgbClr val="16212E"/>
                </a:solidFill>
                <a:latin typeface="Calibri" pitchFamily="34" charset="0"/>
                <a:ea typeface="Calibri" pitchFamily="34" charset="-122"/>
                <a:cs typeface="Calibri" pitchFamily="34" charset="-120"/>
              </a:rPr>
              <a:t>Usullarni TermoLab veb-dasturiga joyladik: 8 amaliy soha, 3D, tavsiya va hisobot</a:t>
            </a:r>
            <a:endParaRPr lang="en-US" sz="1500" dirty="0"/>
          </a:p>
          <a:p>
            <a:pPr marL="342900" indent="-342900">
              <a:spcAft>
                <a:spcPts val="800"/>
              </a:spcAft>
              <a:buSzPct val="100000"/>
              <a:buChar char="•"/>
            </a:pPr>
            <a:r>
              <a:rPr lang="en-US" sz="1500" dirty="0">
                <a:solidFill>
                  <a:srgbClr val="16212E"/>
                </a:solidFill>
                <a:latin typeface="Calibri" pitchFamily="34" charset="0"/>
                <a:ea typeface="Calibri" pitchFamily="34" charset="-122"/>
                <a:cs typeface="Calibri" pitchFamily="34" charset="-120"/>
              </a:rPr>
              <a:t>Natijalar uch xil tekshirildi, jumladan Yevrokod 2 bilan</a:t>
            </a:r>
            <a:endParaRPr lang="en-US" sz="1500" dirty="0"/>
          </a:p>
        </p:txBody>
      </p:sp>
      <p:sp>
        <p:nvSpPr>
          <p:cNvPr id="6" name="Text 4"/>
          <p:cNvSpPr txBox="1"/>
          <p:nvPr/>
        </p:nvSpPr>
        <p:spPr>
          <a:xfrm>
            <a:off x="6400800" y="1280160"/>
            <a:ext cx="5212080" cy="365760"/>
          </a:xfrm>
          <a:prstGeom prst="rect">
            <a:avLst/>
          </a:prstGeom>
          <a:noFill/>
          <a:ln/>
        </p:spPr>
        <p:txBody>
          <a:bodyPr wrap="square" lIns="0" tIns="0" rIns="0" bIns="0" rtlCol="0" anchor="t"/>
          <a:lstStyle/>
          <a:p>
            <a:pPr indent="0" marL="0">
              <a:buNone/>
            </a:pPr>
            <a:r>
              <a:rPr lang="en-US" sz="1800" b="1" dirty="0">
                <a:solidFill>
                  <a:srgbClr val="C4401F"/>
                </a:solidFill>
                <a:latin typeface="Calibri" pitchFamily="34" charset="0"/>
                <a:ea typeface="Calibri" pitchFamily="34" charset="-122"/>
                <a:cs typeface="Calibri" pitchFamily="34" charset="-120"/>
              </a:rPr>
              <a:t>Keyingi bosqich</a:t>
            </a:r>
            <a:endParaRPr lang="en-US" sz="1800" dirty="0"/>
          </a:p>
        </p:txBody>
      </p:sp>
      <p:sp>
        <p:nvSpPr>
          <p:cNvPr id="7" name="Text 5"/>
          <p:cNvSpPr txBox="1"/>
          <p:nvPr/>
        </p:nvSpPr>
        <p:spPr>
          <a:xfrm>
            <a:off x="6400800" y="1737360"/>
            <a:ext cx="5239512" cy="31089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6212E"/>
                </a:solidFill>
                <a:latin typeface="Calibri" pitchFamily="34" charset="0"/>
                <a:ea typeface="Calibri" pitchFamily="34" charset="-122"/>
                <a:cs typeface="Calibri" pitchFamily="34" charset="-120"/>
              </a:rPr>
              <a:t>Faza o’zgarishi: tuproq va oziq-ovqat muzlashi</a:t>
            </a:r>
            <a:endParaRPr lang="en-US" sz="1500" dirty="0"/>
          </a:p>
          <a:p>
            <a:pPr marL="342900" indent="-342900">
              <a:spcAft>
                <a:spcPts val="800"/>
              </a:spcAft>
              <a:buSzPct val="100000"/>
              <a:buChar char="•"/>
            </a:pPr>
            <a:r>
              <a:rPr lang="en-US" sz="1500" dirty="0">
                <a:solidFill>
                  <a:srgbClr val="16212E"/>
                </a:solidFill>
                <a:latin typeface="Calibri" pitchFamily="34" charset="0"/>
                <a:ea typeface="Calibri" pitchFamily="34" charset="-122"/>
                <a:cs typeface="Calibri" pitchFamily="34" charset="-120"/>
              </a:rPr>
              <a:t>Murakkab 3D shakllar (chekli elementlar usuli)</a:t>
            </a:r>
            <a:endParaRPr lang="en-US" sz="1500" dirty="0"/>
          </a:p>
          <a:p>
            <a:pPr marL="342900" indent="-342900">
              <a:spcAft>
                <a:spcPts val="800"/>
              </a:spcAft>
              <a:buSzPct val="100000"/>
              <a:buChar char="•"/>
            </a:pPr>
            <a:r>
              <a:rPr lang="en-US" sz="1500" dirty="0">
                <a:solidFill>
                  <a:srgbClr val="16212E"/>
                </a:solidFill>
                <a:latin typeface="Calibri" pitchFamily="34" charset="0"/>
                <a:ea typeface="Calibri" pitchFamily="34" charset="-122"/>
                <a:cs typeface="Calibri" pitchFamily="34" charset="-120"/>
              </a:rPr>
              <a:t>O’zbekiston qurilish me’yorlari (ShNQ) bilan solishtirish</a:t>
            </a:r>
            <a:endParaRPr lang="en-US" sz="1500" dirty="0"/>
          </a:p>
          <a:p>
            <a:pPr marL="342900" indent="-342900">
              <a:spcAft>
                <a:spcPts val="800"/>
              </a:spcAft>
              <a:buSzPct val="100000"/>
              <a:buChar char="•"/>
            </a:pPr>
            <a:r>
              <a:rPr lang="en-US" sz="1500" dirty="0">
                <a:solidFill>
                  <a:srgbClr val="16212E"/>
                </a:solidFill>
                <a:latin typeface="Calibri" pitchFamily="34" charset="0"/>
                <a:ea typeface="Calibri" pitchFamily="34" charset="-122"/>
                <a:cs typeface="Calibri" pitchFamily="34" charset="-120"/>
              </a:rPr>
              <a:t>Rus va ingliz tillari, mobil ilova</a:t>
            </a:r>
            <a:endParaRPr lang="en-US" sz="1500" dirty="0"/>
          </a:p>
        </p:txBody>
      </p:sp>
      <p:sp>
        <p:nvSpPr>
          <p:cNvPr id="8" name="Yakuniy havola"/>
          <p:cNvSpPr/>
          <p:nvPr/>
        </p:nvSpPr>
        <p:spPr>
          <a:xfrm>
            <a:off x="548640" y="4846320"/>
            <a:ext cx="11091672" cy="1280160"/>
          </a:xfrm>
          <a:prstGeom prst="roundRect">
            <a:avLst>
              <a:gd name="adj" fmla="val 8571"/>
            </a:avLst>
          </a:prstGeom>
          <a:solidFill>
            <a:srgbClr val="E8F0FA"/>
          </a:solidFill>
          <a:ln w="12700">
            <a:solidFill>
              <a:srgbClr val="E8F0FA"/>
            </a:solidFill>
            <a:prstDash val="solid"/>
          </a:ln>
        </p:spPr>
      </p:sp>
      <p:sp>
        <p:nvSpPr>
          <p:cNvPr id="9" name="Shape 7">
            <a:hlinkClick r:id="rId2" tooltip="TermoLab saytini ochish"/>
          </p:cNvPr>
          <p:cNvSpPr/>
          <p:nvPr/>
        </p:nvSpPr>
        <p:spPr>
          <a:xfrm>
            <a:off x="548640" y="4846320"/>
            <a:ext cx="11091672" cy="1280160"/>
          </a:xfrm>
          <a:prstGeom prst="rect">
            <a:avLst/>
          </a:prstGeom>
          <a:solidFill>
            <a:srgbClr val="FFFFFF">
              <a:alpha val="0"/>
            </a:srgbClr>
          </a:solidFill>
          <a:ln w="12700">
            <a:solidFill>
              <a:srgbClr val="FFFFFF">
                <a:alpha val="0"/>
              </a:srgbClr>
            </a:solidFill>
            <a:prstDash val="solid"/>
          </a:ln>
        </p:spPr>
      </p:sp>
      <p:sp>
        <p:nvSpPr>
          <p:cNvPr id="10" name="Text 8"/>
          <p:cNvSpPr txBox="1"/>
          <p:nvPr/>
        </p:nvSpPr>
        <p:spPr>
          <a:xfrm>
            <a:off x="777240" y="4983480"/>
            <a:ext cx="1051560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Rahmat! Dasturni hozir sinab ko’ring (bosing):</a:t>
            </a:r>
            <a:endParaRPr lang="en-US" sz="1800" dirty="0"/>
          </a:p>
        </p:txBody>
      </p:sp>
      <p:sp>
        <p:nvSpPr>
          <p:cNvPr id="11" name="Text 9">
            <a:hlinkClick r:id="rId3" tooltip="TermoLab saytini ochish"/>
          </p:cNvPr>
          <p:cNvSpPr txBox="1"/>
          <p:nvPr/>
        </p:nvSpPr>
        <p:spPr>
          <a:xfrm>
            <a:off x="777240" y="5440680"/>
            <a:ext cx="10515600" cy="502920"/>
          </a:xfrm>
          <a:prstGeom prst="rect">
            <a:avLst/>
          </a:prstGeom>
          <a:noFill/>
          <a:ln/>
        </p:spPr>
        <p:txBody>
          <a:bodyPr wrap="square" lIns="0" tIns="0" rIns="0" bIns="0" rtlCol="0" anchor="t"/>
          <a:lstStyle/>
          <a:p>
            <a:pPr indent="0" marL="0">
              <a:buNone/>
            </a:pPr>
            <a:r>
              <a:rPr lang="en-US" sz="2400" b="1" u="sng" dirty="0">
                <a:solidFill>
                  <a:srgbClr val="1F5FA8"/>
                </a:solidFill>
                <a:latin typeface="Calibri" pitchFamily="34" charset="0"/>
                <a:ea typeface="Calibri" pitchFamily="34" charset="-122"/>
                <a:cs typeface="Calibri" pitchFamily="34" charset="-120"/>
                <a:hlinkClick r:id="rId3" invalidUrl="" action="" tgtFrame="" tooltip="TermoLab saytini ochish" history="1" highlightClick="0" endSnd="0">
                  <a:extLst>
                    <a:ext uri="{A12FA001-AC4F-418D-AE19-62706E023703}">
                      <ahyp:hlinkClr xmlns:ahyp="http://schemas.microsoft.com/office/drawing/2018/hyperlinkcolor" val="tx"/>
                    </a:ext>
                  </a:extLst>
                </a:hlinkClick>
              </a:rPr>
              <a:t>https://ulugbekkamalov0829-web.github.io/termolab/</a:t>
            </a:r>
            <a:endParaRPr lang="en-US" sz="2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TermoLab">
  <a:themeElements>
    <a:clrScheme name="TermoLab">
      <a:dk1>
        <a:srgbClr val="16212E"/>
      </a:dk1>
      <a:lt1>
        <a:srgbClr val="FFFFFF"/>
      </a:lt1>
      <a:dk2>
        <a:srgbClr val="3D4B5C"/>
      </a:dk2>
      <a:lt2>
        <a:srgbClr val="F2F5F8"/>
      </a:lt2>
      <a:accent1>
        <a:srgbClr val="C4401F"/>
      </a:accent1>
      <a:accent2>
        <a:srgbClr val="1F5FA8"/>
      </a:accent2>
      <a:accent3>
        <a:srgbClr val="1F7A4A"/>
      </a:accent3>
      <a:accent4>
        <a:srgbClr val="C77F12"/>
      </a:accent4>
      <a:accent5>
        <a:srgbClr val="B3261E"/>
      </a:accent5>
      <a:accent6>
        <a:srgbClr val="7A8797"/>
      </a:accent6>
      <a:hlink>
        <a:srgbClr val="1F5FA8"/>
      </a:hlink>
      <a:folHlink>
        <a:srgbClr val="6D4C9F"/>
      </a:folHlink>
    </a:clrScheme>
    <a:fontScheme name="TermoLab">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Sterjenda issiqlik tarqalishi: usullar va TermoLab dasturi</dc:title>
  <dc:subject>StudEXPO-2026, UBS</dc:subject>
  <dc:creator>Kamalov Ulug’bek</dc:creator>
  <cp:lastModifiedBy>Kamalov Ulug’bek</cp:lastModifiedBy>
  <cp:revision>1</cp:revision>
  <dcterms:created xsi:type="dcterms:W3CDTF">2026-10-23T01:06:19Z</dcterms:created>
  <dcterms:modified xsi:type="dcterms:W3CDTF">2026-10-23T01:06:19Z</dcterms:modified>
</cp:coreProperties>
</file>