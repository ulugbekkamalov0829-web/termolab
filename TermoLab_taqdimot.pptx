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rish" id="{9ba559cb-335e-5f04-e96e-48f15e544e6e}">
          <p14:sldIdLst>
            <p14:sldId id="256"/>
            <p14:sldId id="257"/>
            <p14:sldId id="258"/>
          </p14:sldIdLst>
        </p14:section>
        <p14:section name="Yechim" id="{43bb1e6c-8060-6f56-8285-5a086b061bcd}">
          <p14:sldIdLst>
            <p14:sldId id="259"/>
          </p14:sldIdLst>
        </p14:section>
        <p14:section name="Usullar" id="{b0bc626c-3549-b4a4-6f63-c4858c71aefb}">
          <p14:sldIdLst>
            <p14:sldId id="260"/>
            <p14:sldId id="261"/>
            <p14:sldId id="262"/>
          </p14:sldIdLst>
        </p14:section>
        <p14:section name="Usullarni taqqoslash" id="{8af8f6fb-a152-580d-530c-8a833bb88df6}">
          <p14:sldIdLst>
            <p14:sldId id="263"/>
            <p14:sldId id="264"/>
          </p14:sldIdLst>
        </p14:section>
        <p14:section name="Amaliy natijalar" id="{ce42e027-2037-56f2-7a72-f198dfca6b61}">
          <p14:sldIdLst>
            <p14:sldId id="265"/>
            <p14:sldId id="266"/>
            <p14:sldId id="267"/>
          </p14:sldIdLst>
        </p14:section>
        <p14:section name="Ishonchlilik" id="{421386d8-303b-8fb7-c42e-446564cca9d4}">
          <p14:sldIdLst>
            <p14:sldId id="268"/>
          </p14:sldIdLst>
        </p14:section>
        <p14:section name="Foydalanish" id="{14fa3d66-b6a8-dc08-ff70-24e368fde5a0}">
          <p14:sldIdLst>
            <p14:sldId id="269"/>
            <p14:sldId id="270"/>
          </p14:sldIdLst>
        </p14:section>
        <p14:section name="Xulosa" id="{e003c19a-a9c9-20d6-e927-50d000a2177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6212E"/>
                </a:solidFill>
                <a:latin typeface="+mn-lt"/>
              </a:defRPr>
            </a:pPr>
            <a:r>
              <a:rPr sz="1400" b="0" i="0" u="none" strike="noStrike">
                <a:solidFill>
                  <a:srgbClr val="16212E"/>
                </a:solidFill>
                <a:latin typeface="+mn-lt"/>
              </a:rPr>
              <a:t>1D: hisoblash vaqti, ms (kam – yaxshi)</a:t>
            </a:r>
          </a:p>
        </c:rich>
      </c:tx>
      <c:layout/>
      <c:overlay val="0"/>
    </c:title>
    <c:autoTitleDeleted val="0"/>
    <c:plotArea>
      <c:layout/>
      <c:barChart>
        <c:barDir val="bar"/>
        <c:grouping val="clustered"/>
        <c:varyColors val="0"/>
        <c:ser>
          <c:idx val="0"/>
          <c:order val="0"/>
          <c:tx>
            <c:strRef>
              <c:f>Sheet1!$B$1</c:f>
              <c:strCache>
                <c:ptCount val="1"/>
                <c:pt idx="0">
                  <c:v>Hisoblash vaqti, ms</c:v>
                </c:pt>
              </c:strCache>
            </c:strRef>
          </c:tx>
          <c:spPr>
            <a:solidFill>
              <a:srgbClr val="C77F12"/>
            </a:solidFill>
            <a:effectLst/>
          </c:spPr>
          <c:invertIfNegative val="0"/>
          <c:dLbls>
            <c:numFmt formatCode="#,##0" sourceLinked="0"/>
            <c:txPr>
              <a:bodyPr/>
              <a:lstStyle/>
              <a:p>
                <a:pPr>
                  <a:defRPr b="0" i="0" strike="noStrike" sz="1200" u="none">
                    <a:solidFill>
                      <a:srgbClr val="16212E"/>
                    </a:solidFill>
                    <a:latin typeface="+mn-lt"/>
                  </a:defRPr>
                </a:pPr>
              </a:p>
            </c:txPr>
            <c:showLegendKey val="0"/>
            <c:showVal val="1"/>
            <c:showCatName val="0"/>
            <c:showSerName val="0"/>
            <c:showPercent val="0"/>
            <c:showBubbleSize val="0"/>
            <c:showLeaderLines val="0"/>
          </c:dLbls>
          <c:dPt>
            <c:idx val="0"/>
            <c:invertIfNegative val="0"/>
            <c:bubble3D val="0"/>
            <c:spPr>
              <a:solidFill>
                <a:srgbClr val="C77F12"/>
              </a:solidFill>
              <a:effectLst/>
            </c:spPr>
          </c:dPt>
          <c:dPt>
            <c:idx val="1"/>
            <c:invertIfNegative val="0"/>
            <c:bubble3D val="0"/>
            <c:spPr>
              <a:solidFill>
                <a:srgbClr val="6AA585"/>
              </a:solidFill>
              <a:effectLst/>
            </c:spPr>
          </c:dPt>
          <c:dPt>
            <c:idx val="2"/>
            <c:invertIfNegative val="0"/>
            <c:bubble3D val="0"/>
            <c:spPr>
              <a:solidFill>
                <a:srgbClr val="6AA585"/>
              </a:solidFill>
              <a:effectLst/>
            </c:spPr>
          </c:dPt>
          <c:dPt>
            <c:idx val="3"/>
            <c:invertIfNegative val="0"/>
            <c:bubble3D val="0"/>
            <c:spPr>
              <a:solidFill>
                <a:srgbClr val="C77F12"/>
              </a:solidFill>
              <a:effectLst/>
            </c:spPr>
          </c:dPt>
          <c:dPt>
            <c:idx val="4"/>
            <c:invertIfNegative val="0"/>
            <c:bubble3D val="0"/>
            <c:spPr>
              <a:solidFill>
                <a:srgbClr val="1F7A4A"/>
              </a:solidFill>
              <a:effectLst/>
            </c:spPr>
          </c:dPt>
          <c:cat>
            <c:multiLvlStrRef>
              <c:f>Sheet1!$A$2:$A$6</c:f>
              <c:multiLvlStrCache>
                <c:ptCount val="5"/>
                <c:lvl>
                  <c:pt idx="0">
                    <c:v>Oshkormas + Zeydel</c:v>
                  </c:pt>
                  <c:pt idx="1">
                    <c:v>Krank–Nikolson + Zeydel</c:v>
                  </c:pt>
                  <c:pt idx="2">
                    <c:v>Oshkor (τ = 0.125 s)</c:v>
                  </c:pt>
                  <c:pt idx="3">
                    <c:v>Oshkormas + haydash</c:v>
                  </c:pt>
                  <c:pt idx="4">
                    <c:v>Krank–Nikolson + haydash</c:v>
                  </c:pt>
                </c:lvl>
              </c:multiLvlStrCache>
            </c:multiLvlStrRef>
          </c:cat>
          <c:val>
            <c:numRef>
              <c:f>Sheet1!$B$2:$B$6</c:f>
              <c:numCache>
                <c:formatCode>General</c:formatCode>
                <c:ptCount val="5"/>
                <c:pt idx="0">
                  <c:v>35.9</c:v>
                </c:pt>
                <c:pt idx="1">
                  <c:v>21.6</c:v>
                </c:pt>
                <c:pt idx="2">
                  <c:v>14.8</c:v>
                </c:pt>
                <c:pt idx="3">
                  <c:v>2</c:v>
                </c:pt>
                <c:pt idx="4">
                  <c:v>0.31</c:v>
                </c:pt>
              </c:numCache>
            </c:numRef>
          </c:val>
        </c:ser>
        <c:dLbls>
          <c:numFmt formatCode="#,##0" sourceLinked="0"/>
          <c:txPr>
            <a:bodyPr/>
            <a:lstStyle/>
            <a:p>
              <a:pPr>
                <a:defRPr b="0" i="0" strike="noStrike" sz="1200" u="none">
                  <a:solidFill>
                    <a:srgbClr val="1621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D4B5C"/>
                </a:solidFill>
                <a:latin typeface="+mn-lt"/>
              </a:defRPr>
            </a:pPr>
            <a:endParaRPr lang="en-US"/>
          </a:p>
        </c:txPr>
        <c:crossAx val="2094734552"/>
        <c:crosses val="autoZero"/>
        <c:auto val="1"/>
        <c:lblAlgn val="ctr"/>
        <c:noMultiLvlLbl val="1"/>
      </c:catAx>
      <c:valAx>
        <c:axId val="2094734552"/>
        <c:scaling>
          <c:logBase val="10"/>
          <c:orientation val="minMax"/>
          <c:min val="0.1"/>
        </c:scaling>
        <c:delete val="0"/>
        <c:axPos val="b"/>
        <c:majorGridlines>
          <c:spPr>
            <a:ln w="9525" cap="flat">
              <a:solidFill>
                <a:srgbClr val="E3E8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665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hurmatli hakamlar! Mening loyiham – TermoLab. Bu issiqlik qanday tarqalishini hisoblaydigan va natija asosida amaliy tavsiya beradigan veb-ilova, ya’ni virtual laboratoriya. Sayt ochiq, uni hozir telefoningizda ochib ko’rishingiz mumkin – havola slaydda. O’ngda konserva bankasining 3D modeli: ranglar harorat, ko’k markaz – eng sekin isiydigan joy.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 bu kerak? Issiqlik har kuni pul va xavfsizlik bilan bog’liq. Birinchi raqam: oddiy 38 santimetrli g’isht devor bir qishda 5 ming kilovatt-soatdan ortiq issiqlik yo’qotadi, 7 santimetr penoplast buning katta qismini tejaydi. Ikkinchisi – yong’in: armatura ustidagi beton 25 millimetr bo’lsa, plita 90 daqiqa emas, 76 daqiqa chidaydi. Uchinchisi – oziq-ovqat xavfsizligi: uyda qaynoq suvda tayyorlangan go’sht konservasi botulizmdan himoyalanmaydi. To’rtinchisi – qalin beton qotayotganda ichi qizib, sirti sovib darz ketadi. Bularning barchasi bitta fizik qonun – issiqlik o’tkazuvchanlik tenglamasi bilan hisoblanadi.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masalalar avval qanday yechilgan? Birinchidan, tajriba – lekin u qimmat va har doim ham mumkin emas, binoni yoqib sinab bo’lmaydi. Ikkinchidan, analitik formulalar – ular faqat eng oddiy shakllar uchun. Uchinchidan, ANSYS va COMSOL kabi professional dasturlar – kuchli, lekin litsenziyasi minglab dollar va o’rganish uchun oylar kerak. Darslik dasturlari esa faqat bitta masalani ko’rsatadi. TermoLab bo’shliqni to’ldiradi: bepul, brauzerda ishlaydi, o’zbek tilida, va eng muhimi – faqat harorat emas, “nima qilish kerak” degan tavsiya beradi. Kamchiligini ham ochiq aytaman: hozircha 1D va 2D masalalar, murakkab 3D shakllar keyingi bosqichda.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Bizning yechim to’rt qadamdan iborat. Foydalanuvchi o’z sohasini tanlaydi va o’zi biladigan qiymatlarni kiritadi – devor materiali, quvur diametri, protsessor quvvati. Dastur buni matematik modelga aylantiradi, eng mos sonli usul bilan yechadi va javob beradi: raqam, 3D rasm, tavsiya va matnli hisobot. Sayt uch qismdan iborat: sakkizta amaliy soha – oddiy foydalanuvchi uchun; ilmiy laboratoriya – talaba va olim uchun; va usullarni taqqoslash hamda tekshiruv – natijaga ishonch uchun.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Hamma masalalar asosida bitta tenglama yotadi – energiyaning saqlanish qonuni va Furye qonuni. Harorat vaqt bo’yicha o’zgarishi issiqlik oqimi, ichki manba va sirtdan sovishga bog’liq. Chegarada uch xil shart bo’ladi: harorat berilgan, issiqlik oqimi berilgan yoki havo bilan almashinuv. Men ularni bitta umumiy formula bilan yozdim – bu dasturni sodda va universal qiladi. Bir xil tenglama devor, quvur, tuxum yoki radiator uchun ishlaydi – faqat shakl va koeffitsientlar o’zgaradi.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Kompyuter tenglamani to’g’ridan-to’g’ri yecha olmaydi, shuning uchun jismni to’rga bo’lamiz va hosilalarni ayirmalar bilan almashtiramiz. Bitta parametr θ uchta sxemani beradi. Oshkor sxema eng oddiy, lekin Furye soni yarimdan oshsa yechim “portlaydi”. Oshkormas sxema har doim turg’un, lekin aniqligi birinchi tartibli. Krank–Nikolson ham turg’un, ham ikkinchi tartibli aniq. Har qadamda hosil bo’ladigan sistemani uch usulda yechish mumkin: haydash, Zeydel va SOR. Qaysi biri eng yaxshi? Buni keyingi slaydlarda tajribada ko’rsataman.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Oddiy usul hamma masalaga yetmaydi, shuning uchun har bir murakkab holga mos usul tanladim. Ikki o’lchovli masalada – o’zgaruvchan yo’nalishlar usuli. Ishlash jarayonida muhim narsani aniqladim: chegaradagi issiqlik oqimini x va y yo’nalishlarga noto’g’ri bo’lsak, aniqlik ikkinchi tartibdan birinchiga tushib qoladi. Buni tuzatdim va test bilan isbotladim. Ko’p qatlamli devor va quvur uchun chekli hajmlar usuli. Yong’inda beton xossalari harorat bilan o’zgaradi va olov nurlanish bilan isitadi – bu nochiziqli masala, uni Yevrokod 2 bo’yicha yechdim. Konserva bankasi uchun esa Nyuman usuli: ikki o’lchovli yechim ikki bir o’lchovli yechimning ko’paytmasi sifatida aniq topiladi.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eng qiziq qism. Bitta masalani – po’lat sterjenning sovishini – oltita usul bilan bir vaqtda yechdim. Bu masalaning aniq javobi ma’lum, shuning uchun har bir usulning xatosini o’lchash mumkin. Videoni ko’ring: oshkor sxema katta qadamda darhol “portlaydi” – qizil chiziq. Kichik qadamda u aniq, lekin 4800 qadam kerak. Oshkormas sxema turg’un, lekin xatosi 0.45 gradus. Krank–Nikolson bilan haydash usuli esa xatoni 0.014 gradusga tushiradi va eng tez ishlaydi. (Videoni ishga tushiring – 30 soniya.)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Natija jadvalda. Bir o’lchovli masalada Krank–Nikolson va haydash usuli 0.3 millisekundda talab qilingan aniqlikni beradi – oshkor sxemadan 48 marta, Zeydel iteratsiyasidan 69 marta tez. Ikki o’lchovli masalada g’olib – o’zgaruvchan yo’nalishlar usuli: 37 millisekund, Krank–Nikolson bilan SOR esa 245 millisekund. Sabab uchta: turg’unlik, ikkinchi tartibli aniqlik va iteratsiyasiz yechish. Shuning uchun dasturim amaliy masalalarda aynan shu usullardan foydalanadi. Bu taqqoslashni saytning “Usullarni taqqoslash” bo’limida har kim o’zi takrorlashi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Endi amaliy qism. Saytda sakkizta real masala bor va har birida qiymatlar sohaning o’z tilida kiritiladi: quruvchi devor materiali va qalinligini, elektronik protsessor quvvatini, uy bekasi tuxum o’lchamini tanlaydi. Dastur har birida nega masala bir yoki ikki o’lchovli ekanini ham tushuntiradi: devor juda keng, issiqlik faqat qalinlik bo’ylab oqadi – bu 1D; radiatorda issiqlik nuqtadan har tomonga tarqaladi – bu 2D. Yangi qo’shilgan uchta soha: beton qotishi, yong’indagi plita va konserva sterilizatsiyasi.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Oddiy dasturlar “harorat qancha?” degan savolga javob beradi. Odamga esa “nima qilishim kerak?” degan javob kerak. Shuning uchun TermoLab teskari masalani ham yechadi. Masalan, yong’in masalasida dastur aytadi: 90 daqiqa chidashi uchun armaturagacha kamida 30 millimetr beton bo’lishi kerak. Jadvalda modelim natijasi Yevropa me’yori – Yevrokod 2 bilan yonma-yon: deyarli bir xil. Natijani matnli hisobot sifatida nusxalab, Telegram yoki Word’ga qo’yish mumkin. Bir nechta variantni saqlab, yonma-yon solishtirish ham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Natija real jism shaklida 3D ko’rinadi. 3D rasm uchun hech qanday tashqi kutubxona ishlatmadim – perspektiv proyeksiya, chuqurlik bo’yicha saralash va yoritishni o’zim yozdim, shuning uchun sayt internetsiz ham ishlaydi. Modelni aylantirish, yaqinlashtirish, harorat zonalarini yoqish mumkin, kursorni olib borsangiz o’sha nuqtaning aniq harorati chiqadi. Vaqt bo’yicha animatsiya isish va sovish jarayonini ko’rsatadi.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Hisoblash dasturiga ishonish uchun u tekshirilishi kerak. Men uch xil tekshiruv qildim. Birinchisi – javobi oldindan ma’lum masala: to’rni ikki marta maydalaganda xato to’rt marta kamayadi, ya’ni ikkinchi tartibli aniqlik. Ikkinchisi – darslikdagi aniq formulalar: devor, qatlamli devor va quvur uchun natija to’rt-besh raqamgacha mos. Uchinchisi – Yevropa yong’in me’yori: modelim REI 90 uchun 30 millimetr va 100 millimetr beradi, me’yorda ham aynan shunday.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Saytdan foydalanish juda oddiy. Saytni oching, o’z sohangizni tanlang, qiymatlarni kiriting – natija darhol chiqadi, hech qanday tugma bosish shart emas. Yashil kartochka – me’yorda, qizil – xavfli. Pastda dastur nima qilish kerakligini aytadi, eng oxirida esa matnli hisobot – uni nusxalab yuborish mumkin. O’ngda hisobot namunasi. Sayt telefonda ham ishlaydi, internet bo’lmasa ham faylni ochib ishlatish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Kimga foyda beradi? Talaba va o’qituvchi uchun – sonli usullarni formulada emas, jonli tajribada ko’radi. Quruvchi va muhandis uchun – izolyatsiya, beton va yong’inga chidamlilikni tez baholash vositasi. Uy egasi uchun – issiqlikni tejash va oziq-ovqat xavfsizligi bo’yicha tushunarli maslahat. Dasturchi uchun – ochiq kod. Ilova bepul, tashqi kutubxonasiz ishlaydi, o’zbek tilida va kodi to’liq ochiq.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Xulosa qilib aytganda: men issiqlik tarqalishining umumiy modelini qurdim, oltita sonli usulni taqqoslab, eng maqbulini aniqladim va uni sakkizta real masalaga qo’lladim. Natijalar uch xil usulda, jumladan Yevropa me’yori bilan tekshirildi. Keyingi bosqichda muzlash kabi faza o’zgarishini, murakkab 3D shakllarni va O’zbekiston qurilish me’yorlari bilan solishtirishni qo’shmoqchiman. E’tiboringiz uchun rahmat! Saytni hozir telefoningizda ochib ko’rishingiz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6400800" cy="1188720"/>
          </a:xfrm>
          <a:prstGeom prst="rect">
            <a:avLst/>
          </a:prstGeom>
          <a:noFill/>
          <a:ln/>
        </p:spPr>
        <p:txBody>
          <a:bodyPr wrap="square" rtlCol="0"/>
          <a:lstStyle>
            <a:lvl1pPr indent="0" marL="0">
              <a:buNone/>
              <a:defRPr lang="en-US" sz="6000" b="1" dirty="0">
                <a:solidFill>
                  <a:schemeClr val="tx1"/>
                </a:solidFill>
              </a:defRPr>
            </a:lvl1pPr>
          </a:lstStyle>
          <a:p>
            <a:pPr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100" dirty="0">
                <a:solidFill>
                  <a:schemeClr val="accent2"/>
                </a:solidFill>
                <a:latin typeface="Calibri" pitchFamily="34" charset="0"/>
                <a:ea typeface="Calibri" pitchFamily="34" charset="-122"/>
                <a:cs typeface="Calibri" pitchFamily="34" charset="-120"/>
              </a:rPr>
              <a:t>ulugbekkamalov0829-web.github.io/termolab</a:t>
            </a:r>
            <a:endParaRPr lang="en-US" sz="1100" dirty="0"/>
          </a:p>
        </p:txBody>
      </p:sp>
      <p:sp>
        <p:nvSpPr>
          <p:cNvPr id="4" name="Text 1"/>
          <p:cNvSpPr/>
          <p:nvPr/>
        </p:nvSpPr>
        <p:spPr>
          <a:xfrm>
            <a:off x="5669280" y="6419088"/>
            <a:ext cx="5394960" cy="274320"/>
          </a:xfrm>
          <a:prstGeom prst="rect">
            <a:avLst/>
          </a:prstGeom>
          <a:noFill/>
          <a:ln/>
        </p:spPr>
        <p:txBody>
          <a:bodyPr wrap="square" lIns="0" tIns="0" rIns="0" bIns="0" rtlCol="0" anchor="ctr"/>
          <a:lstStyle/>
          <a:p>
            <a:pPr algn="r" indent="0" marL="0">
              <a:buNone/>
            </a:pPr>
            <a:r>
              <a:rPr lang="en-US" sz="1100" dirty="0">
                <a:solidFill>
                  <a:schemeClr val="accent6"/>
                </a:solidFill>
                <a:latin typeface="Calibri" pitchFamily="34" charset="0"/>
                <a:ea typeface="Calibri" pitchFamily="34" charset="-122"/>
                <a:cs typeface="Calibri" pitchFamily="34" charset="-120"/>
              </a:rPr>
              <a:t>TermoLab · StudEXPO-2026</a:t>
            </a:r>
            <a:endParaRPr lang="en-US" sz="11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hyperlink" Target="https://github.com/ulugbekkamalov0829-web/termolab" TargetMode="External"/><Relationship Id="rId3" Type="http://schemas.openxmlformats.org/officeDocument/2006/relationships/image" Target="../media/image-14-1.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ulugbekkamalov0829-web.github.io/termolab/" TargetMode="Externa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6583680" cy="365760"/>
          </a:xfrm>
          <a:prstGeom prst="rect">
            <a:avLst/>
          </a:prstGeom>
          <a:noFill/>
          <a:ln/>
        </p:spPr>
        <p:txBody>
          <a:bodyPr wrap="square" lIns="0" tIns="0" rIns="0" bIns="0" rtlCol="0" anchor="t"/>
          <a:lstStyle/>
          <a:p>
            <a:pPr indent="0" marL="0">
              <a:buNone/>
            </a:pPr>
            <a:r>
              <a:rPr lang="en-US" sz="1300" b="1" spc="100" kern="0" dirty="0">
                <a:solidFill>
                  <a:srgbClr val="C4401F"/>
                </a:solidFill>
                <a:latin typeface="Calibri" pitchFamily="34" charset="0"/>
                <a:ea typeface="Calibri" pitchFamily="34" charset="-122"/>
                <a:cs typeface="Calibri" pitchFamily="34" charset="-120"/>
              </a:rPr>
              <a:t>STUDEXPO-2026 · UBS, NAMANGAN · 1-SEKSIYA: DASTURLASH VA VEB-ILOVALAR</a:t>
            </a:r>
            <a:endParaRPr lang="en-US" sz="1300" dirty="0"/>
          </a:p>
        </p:txBody>
      </p:sp>
      <p:sp>
        <p:nvSpPr>
          <p:cNvPr id="3" name="Text 0"/>
          <p:cNvSpPr/>
          <p:nvPr>
            <p:ph idx="100" type="title" hasCustomPrompt="1"/>
          </p:nvPr>
        </p:nvSpPr>
        <p:spPr>
          <a:xfrm>
            <a:off x="548640" y="1417320"/>
            <a:ext cx="6400800" cy="1188720"/>
          </a:xfrm>
          <a:prstGeom prst="rect">
            <a:avLst/>
          </a:prstGeom>
          <a:noFill/>
          <a:ln/>
        </p:spPr>
        <p:txBody>
          <a:bodyPr wrap="square" lIns="0" tIns="0" rIns="0" bIns="0" rtlCol="0" anchor="b"/>
          <a:lstStyle/>
          <a:p>
            <a:pPr indent="0" marL="0">
              <a:buNone/>
            </a:pPr>
            <a:r>
              <a:rPr lang="en-US" sz="6000" b="1" dirty="0">
                <a:solidFill>
                  <a:schemeClr val="tx1"/>
                </a:solidFill>
              </a:rPr>
              <a:t>TermoLab</a:t>
            </a:r>
            <a:endParaRPr lang="en-US" sz="6000" dirty="0"/>
          </a:p>
        </p:txBody>
      </p:sp>
      <p:sp>
        <p:nvSpPr>
          <p:cNvPr id="4" name="Text 2"/>
          <p:cNvSpPr txBox="1"/>
          <p:nvPr/>
        </p:nvSpPr>
        <p:spPr>
          <a:xfrm>
            <a:off x="548640" y="2743200"/>
            <a:ext cx="6217920" cy="914400"/>
          </a:xfrm>
          <a:prstGeom prst="rect">
            <a:avLst/>
          </a:prstGeom>
          <a:noFill/>
          <a:ln/>
        </p:spPr>
        <p:txBody>
          <a:bodyPr wrap="square" lIns="0" tIns="0" rIns="0" bIns="0" rtlCol="0" anchor="t"/>
          <a:lstStyle/>
          <a:p>
            <a:pPr indent="0" marL="0">
              <a:buNone/>
            </a:pPr>
            <a:r>
              <a:rPr lang="en-US" sz="2200" dirty="0">
                <a:solidFill>
                  <a:srgbClr val="56657A"/>
                </a:solidFill>
                <a:latin typeface="Calibri" pitchFamily="34" charset="0"/>
                <a:ea typeface="Calibri" pitchFamily="34" charset="-122"/>
                <a:cs typeface="Calibri" pitchFamily="34" charset="-120"/>
              </a:rPr>
              <a:t>Issiqlik qanday tarqalishini hisoblaydigan va amaliy tavsiya beradigan virtual laboratoriya</a:t>
            </a:r>
            <a:endParaRPr lang="en-US" sz="2200" dirty="0"/>
          </a:p>
        </p:txBody>
      </p:sp>
      <p:sp>
        <p:nvSpPr>
          <p:cNvPr id="5" name="Text 3"/>
          <p:cNvSpPr txBox="1"/>
          <p:nvPr/>
        </p:nvSpPr>
        <p:spPr>
          <a:xfrm>
            <a:off x="548640" y="3977640"/>
            <a:ext cx="6217920" cy="685800"/>
          </a:xfrm>
          <a:prstGeom prst="rect">
            <a:avLst/>
          </a:prstGeom>
          <a:noFill/>
          <a:ln/>
        </p:spPr>
        <p:txBody>
          <a:bodyPr wrap="square" lIns="0" tIns="0" rIns="0" bIns="0" rtlCol="0" anchor="t"/>
          <a:lstStyle/>
          <a:p>
            <a:pPr indent="0" marL="0">
              <a:buNone/>
            </a:pPr>
            <a:r>
              <a:rPr lang="en-US" sz="1600" b="1" dirty="0">
                <a:solidFill>
                  <a:srgbClr val="16212E"/>
                </a:solidFill>
                <a:latin typeface="Calibri" pitchFamily="34" charset="0"/>
                <a:ea typeface="Calibri" pitchFamily="34" charset="-122"/>
                <a:cs typeface="Calibri" pitchFamily="34" charset="-120"/>
              </a:rPr>
              <a:t>Kamalov Ulug’bek</a:t>
            </a:r>
            <a:endParaRPr lang="en-US" sz="1600" dirty="0"/>
          </a:p>
          <a:p>
            <a:pPr indent="0" marL="0">
              <a:buNone/>
            </a:pPr>
            <a:r>
              <a:rPr lang="en-US" sz="1600" dirty="0">
                <a:solidFill>
                  <a:srgbClr val="16212E"/>
                </a:solidFill>
                <a:latin typeface="Calibri" pitchFamily="34" charset="0"/>
                <a:ea typeface="Calibri" pitchFamily="34" charset="-122"/>
                <a:cs typeface="Calibri" pitchFamily="34" charset="-120"/>
              </a:rPr>
              <a:t>Axborot tizimlari va texnologiyalari, 3-kurs</a:t>
            </a:r>
            <a:endParaRPr lang="en-US" sz="1600" dirty="0"/>
          </a:p>
        </p:txBody>
      </p:sp>
      <p:sp>
        <p:nvSpPr>
          <p:cNvPr id="6" name="Sayt havolasi"/>
          <p:cNvSpPr/>
          <p:nvPr/>
        </p:nvSpPr>
        <p:spPr>
          <a:xfrm>
            <a:off x="548640" y="4983480"/>
            <a:ext cx="6035040" cy="1051560"/>
          </a:xfrm>
          <a:prstGeom prst="roundRect">
            <a:avLst>
              <a:gd name="adj" fmla="val 10435"/>
            </a:avLst>
          </a:prstGeom>
          <a:solidFill>
            <a:srgbClr val="E8F0FA"/>
          </a:solidFill>
          <a:ln w="12700">
            <a:solidFill>
              <a:srgbClr val="E8F0FA"/>
            </a:solidFill>
            <a:prstDash val="solid"/>
          </a:ln>
        </p:spPr>
      </p:sp>
      <p:sp>
        <p:nvSpPr>
          <p:cNvPr id="7" name="Text 5"/>
          <p:cNvSpPr txBox="1"/>
          <p:nvPr/>
        </p:nvSpPr>
        <p:spPr>
          <a:xfrm>
            <a:off x="777240" y="5120640"/>
            <a:ext cx="5669280" cy="32004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Saytni oching – telefon yoki kompyuterda:</a:t>
            </a:r>
            <a:endParaRPr lang="en-US" sz="1400" dirty="0"/>
          </a:p>
        </p:txBody>
      </p:sp>
      <p:sp>
        <p:nvSpPr>
          <p:cNvPr id="8" name="Text 6">
            <a:hlinkClick r:id="rId1" tooltip=""/>
          </p:cNvPr>
          <p:cNvSpPr txBox="1"/>
          <p:nvPr/>
        </p:nvSpPr>
        <p:spPr>
          <a:xfrm>
            <a:off x="777240" y="5440680"/>
            <a:ext cx="5669280" cy="457200"/>
          </a:xfrm>
          <a:prstGeom prst="rect">
            <a:avLst/>
          </a:prstGeom>
          <a:noFill/>
          <a:ln/>
        </p:spPr>
        <p:txBody>
          <a:bodyPr wrap="square" lIns="0" tIns="0" rIns="0" bIns="0" rtlCol="0" anchor="t"/>
          <a:lstStyle/>
          <a:p>
            <a:pPr indent="0" marL="0">
              <a:buNone/>
            </a:pPr>
            <a:r>
              <a:rPr lang="en-US" sz="2100" b="1"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2100" dirty="0"/>
          </a:p>
        </p:txBody>
      </p:sp>
      <p:pic>
        <p:nvPicPr>
          <p:cNvPr id="9" name="Konserva bankasi ichidagi harorat 3D" descr="Konserva bankasi ichidagi harorat 3D">    </p:cNvPr>
          <p:cNvPicPr>
            <a:picLocks noChangeAspect="1"/>
          </p:cNvPicPr>
          <p:nvPr/>
        </p:nvPicPr>
        <p:blipFill>
          <a:blip r:embed="rId2"/>
          <a:stretch>
            <a:fillRect/>
          </a:stretch>
        </p:blipFill>
        <p:spPr>
          <a:xfrm>
            <a:off x="7086600" y="868680"/>
            <a:ext cx="4572000" cy="1820732"/>
          </a:xfrm>
          <a:prstGeom prst="rect">
            <a:avLst/>
          </a:prstGeom>
        </p:spPr>
      </p:pic>
      <p:sp>
        <p:nvSpPr>
          <p:cNvPr id="10" name="Text 7"/>
          <p:cNvSpPr txBox="1"/>
          <p:nvPr/>
        </p:nvSpPr>
        <p:spPr>
          <a:xfrm>
            <a:off x="7086600" y="5806440"/>
            <a:ext cx="4572000" cy="365760"/>
          </a:xfrm>
          <a:prstGeom prst="rect">
            <a:avLst/>
          </a:prstGeom>
          <a:noFill/>
          <a:ln/>
        </p:spPr>
        <p:txBody>
          <a:bodyPr wrap="square" lIns="0" tIns="0" rIns="0" bIns="0" rtlCol="0" anchor="t"/>
          <a:lstStyle/>
          <a:p>
            <a:pPr indent="0" marL="0">
              <a:buNone/>
            </a:pPr>
            <a:r>
              <a:rPr lang="en-US" sz="1200" i="1" dirty="0">
                <a:solidFill>
                  <a:srgbClr val="56657A"/>
                </a:solidFill>
                <a:latin typeface="Calibri" pitchFamily="34" charset="0"/>
                <a:ea typeface="Calibri" pitchFamily="34" charset="-122"/>
                <a:cs typeface="Calibri" pitchFamily="34" charset="-120"/>
              </a:rPr>
              <a:t>3D: konserva bankasi ichidagi harorat – markaz eng sekin isiydi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Issiqlik – har bir sohada pul va xavfsizlik masalasi</a:t>
            </a:r>
            <a:endParaRPr lang="en-US" sz="3200" dirty="0"/>
          </a:p>
        </p:txBody>
      </p:sp>
      <p:sp>
        <p:nvSpPr>
          <p:cNvPr id="3" name="Text 1"/>
          <p:cNvSpPr txBox="1"/>
          <p:nvPr/>
        </p:nvSpPr>
        <p:spPr>
          <a:xfrm>
            <a:off x="548640" y="1234440"/>
            <a:ext cx="10972800" cy="365760"/>
          </a:xfrm>
          <a:prstGeom prst="rect">
            <a:avLst/>
          </a:prstGeom>
          <a:noFill/>
          <a:ln/>
        </p:spPr>
        <p:txBody>
          <a:bodyPr wrap="square" lIns="0" tIns="0" rIns="0" bIns="0" rtlCol="0" anchor="t"/>
          <a:lstStyle/>
          <a:p>
            <a:pPr indent="0" marL="0">
              <a:buNone/>
            </a:pPr>
            <a:r>
              <a:rPr lang="en-US" sz="1600" dirty="0">
                <a:solidFill>
                  <a:srgbClr val="56657A"/>
                </a:solidFill>
                <a:latin typeface="Calibri" pitchFamily="34" charset="0"/>
                <a:ea typeface="Calibri" pitchFamily="34" charset="-122"/>
                <a:cs typeface="Calibri" pitchFamily="34" charset="-120"/>
              </a:rPr>
              <a:t>Quyidagi raqamlarning barchasi TermoLab’da hisoblangan:</a:t>
            </a:r>
            <a:endParaRPr lang="en-US" sz="1600" dirty="0"/>
          </a:p>
        </p:txBody>
      </p:sp>
      <p:sp>
        <p:nvSpPr>
          <p:cNvPr id="4" name="Raqam Uy"/>
          <p:cNvSpPr/>
          <p:nvPr/>
        </p:nvSpPr>
        <p:spPr>
          <a:xfrm>
            <a:off x="548640" y="1783080"/>
            <a:ext cx="2606040" cy="3246120"/>
          </a:xfrm>
          <a:prstGeom prst="roundRect">
            <a:avLst>
              <a:gd name="adj" fmla="val 4211"/>
            </a:avLst>
          </a:prstGeom>
          <a:solidFill>
            <a:srgbClr val="F2F5F8"/>
          </a:solidFill>
          <a:ln w="12700">
            <a:solidFill>
              <a:srgbClr val="F2F5F8"/>
            </a:solidFill>
            <a:prstDash val="solid"/>
          </a:ln>
        </p:spPr>
      </p:sp>
      <p:sp>
        <p:nvSpPr>
          <p:cNvPr id="5" name="Text 3"/>
          <p:cNvSpPr txBox="1"/>
          <p:nvPr/>
        </p:nvSpPr>
        <p:spPr>
          <a:xfrm>
            <a:off x="777240" y="1965960"/>
            <a:ext cx="2194560" cy="274320"/>
          </a:xfrm>
          <a:prstGeom prst="rect">
            <a:avLst/>
          </a:prstGeom>
          <a:noFill/>
          <a:ln/>
        </p:spPr>
        <p:txBody>
          <a:bodyPr wrap="square" lIns="0" tIns="0" rIns="0" bIns="0" rtlCol="0" anchor="t"/>
          <a:lstStyle/>
          <a:p>
            <a:pPr indent="0" marL="0">
              <a:buNone/>
            </a:pPr>
            <a:r>
              <a:rPr lang="en-US" sz="1200" b="1" spc="100" kern="0" dirty="0">
                <a:solidFill>
                  <a:srgbClr val="C4401F"/>
                </a:solidFill>
                <a:latin typeface="Calibri" pitchFamily="34" charset="0"/>
                <a:ea typeface="Calibri" pitchFamily="34" charset="-122"/>
                <a:cs typeface="Calibri" pitchFamily="34" charset="-120"/>
              </a:rPr>
              <a:t>UY</a:t>
            </a:r>
            <a:endParaRPr lang="en-US" sz="1200" dirty="0"/>
          </a:p>
        </p:txBody>
      </p:sp>
      <p:sp>
        <p:nvSpPr>
          <p:cNvPr id="6" name="Text 4"/>
          <p:cNvSpPr txBox="1"/>
          <p:nvPr/>
        </p:nvSpPr>
        <p:spPr>
          <a:xfrm>
            <a:off x="777240" y="2286000"/>
            <a:ext cx="2240280" cy="731520"/>
          </a:xfrm>
          <a:prstGeom prst="rect">
            <a:avLst/>
          </a:prstGeom>
          <a:noFill/>
          <a:ln/>
        </p:spPr>
        <p:txBody>
          <a:bodyPr wrap="square" lIns="0" tIns="0" rIns="0" bIns="0" rtlCol="0" anchor="t"/>
          <a:lstStyle/>
          <a:p>
            <a:pPr indent="0" marL="0">
              <a:buNone/>
            </a:pPr>
            <a:r>
              <a:rPr lang="en-US" sz="3400" b="1" dirty="0">
                <a:solidFill>
                  <a:srgbClr val="C4401F"/>
                </a:solidFill>
                <a:latin typeface="Cambria" pitchFamily="34" charset="0"/>
                <a:ea typeface="Cambria" pitchFamily="34" charset="-122"/>
                <a:cs typeface="Cambria" pitchFamily="34" charset="-120"/>
              </a:rPr>
              <a:t>5 236 kWh</a:t>
            </a:r>
            <a:endParaRPr lang="en-US" sz="3400" dirty="0"/>
          </a:p>
        </p:txBody>
      </p:sp>
      <p:sp>
        <p:nvSpPr>
          <p:cNvPr id="7" name="Text 5"/>
          <p:cNvSpPr txBox="1"/>
          <p:nvPr/>
        </p:nvSpPr>
        <p:spPr>
          <a:xfrm>
            <a:off x="777240" y="3108960"/>
            <a:ext cx="2194560" cy="17830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38 sm g’isht devor bir isitish mavsumida yo’qotadigan issiqlik. 7 sm penoplast qo’shilsa 3 767 kWh tejaladi.</a:t>
            </a:r>
            <a:endParaRPr lang="en-US" sz="1500" dirty="0"/>
          </a:p>
        </p:txBody>
      </p:sp>
      <p:sp>
        <p:nvSpPr>
          <p:cNvPr id="8" name="Raqam Yong’in"/>
          <p:cNvSpPr/>
          <p:nvPr/>
        </p:nvSpPr>
        <p:spPr>
          <a:xfrm>
            <a:off x="3364992" y="1783080"/>
            <a:ext cx="2606040" cy="3246120"/>
          </a:xfrm>
          <a:prstGeom prst="roundRect">
            <a:avLst>
              <a:gd name="adj" fmla="val 4211"/>
            </a:avLst>
          </a:prstGeom>
          <a:solidFill>
            <a:srgbClr val="F2F5F8"/>
          </a:solidFill>
          <a:ln w="12700">
            <a:solidFill>
              <a:srgbClr val="F2F5F8"/>
            </a:solidFill>
            <a:prstDash val="solid"/>
          </a:ln>
        </p:spPr>
      </p:sp>
      <p:sp>
        <p:nvSpPr>
          <p:cNvPr id="9" name="Text 7"/>
          <p:cNvSpPr txBox="1"/>
          <p:nvPr/>
        </p:nvSpPr>
        <p:spPr>
          <a:xfrm>
            <a:off x="3593592" y="1965960"/>
            <a:ext cx="2194560" cy="274320"/>
          </a:xfrm>
          <a:prstGeom prst="rect">
            <a:avLst/>
          </a:prstGeom>
          <a:noFill/>
          <a:ln/>
        </p:spPr>
        <p:txBody>
          <a:bodyPr wrap="square" lIns="0" tIns="0" rIns="0" bIns="0" rtlCol="0" anchor="t"/>
          <a:lstStyle/>
          <a:p>
            <a:pPr indent="0" marL="0">
              <a:buNone/>
            </a:pPr>
            <a:r>
              <a:rPr lang="en-US" sz="1200" b="1" spc="100" kern="0" dirty="0">
                <a:solidFill>
                  <a:srgbClr val="B3261E"/>
                </a:solidFill>
                <a:latin typeface="Calibri" pitchFamily="34" charset="0"/>
                <a:ea typeface="Calibri" pitchFamily="34" charset="-122"/>
                <a:cs typeface="Calibri" pitchFamily="34" charset="-120"/>
              </a:rPr>
              <a:t>YONG’IN</a:t>
            </a:r>
            <a:endParaRPr lang="en-US" sz="1200" dirty="0"/>
          </a:p>
        </p:txBody>
      </p:sp>
      <p:sp>
        <p:nvSpPr>
          <p:cNvPr id="10" name="Text 8"/>
          <p:cNvSpPr txBox="1"/>
          <p:nvPr/>
        </p:nvSpPr>
        <p:spPr>
          <a:xfrm>
            <a:off x="3593592" y="2286000"/>
            <a:ext cx="2240280" cy="731520"/>
          </a:xfrm>
          <a:prstGeom prst="rect">
            <a:avLst/>
          </a:prstGeom>
          <a:noFill/>
          <a:ln/>
        </p:spPr>
        <p:txBody>
          <a:bodyPr wrap="square" lIns="0" tIns="0" rIns="0" bIns="0" rtlCol="0" anchor="t"/>
          <a:lstStyle/>
          <a:p>
            <a:pPr indent="0" marL="0">
              <a:buNone/>
            </a:pPr>
            <a:r>
              <a:rPr lang="en-US" sz="3400" b="1" dirty="0">
                <a:solidFill>
                  <a:srgbClr val="B3261E"/>
                </a:solidFill>
                <a:latin typeface="Cambria" pitchFamily="34" charset="0"/>
                <a:ea typeface="Cambria" pitchFamily="34" charset="-122"/>
                <a:cs typeface="Cambria" pitchFamily="34" charset="-120"/>
              </a:rPr>
              <a:t>76 daqiqa</a:t>
            </a:r>
            <a:endParaRPr lang="en-US" sz="3400" dirty="0"/>
          </a:p>
        </p:txBody>
      </p:sp>
      <p:sp>
        <p:nvSpPr>
          <p:cNvPr id="11" name="Text 9"/>
          <p:cNvSpPr txBox="1"/>
          <p:nvPr/>
        </p:nvSpPr>
        <p:spPr>
          <a:xfrm>
            <a:off x="3593592" y="3108960"/>
            <a:ext cx="2194560" cy="17830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Himoya qatlami 25 mm bo’lgan plitada armatura 500 °C ga qiziydi – 90 daqiqalik talab bajarilmaydi.</a:t>
            </a:r>
            <a:endParaRPr lang="en-US" sz="1500" dirty="0"/>
          </a:p>
        </p:txBody>
      </p:sp>
      <p:sp>
        <p:nvSpPr>
          <p:cNvPr id="12" name="Raqam Oziq-ovqat"/>
          <p:cNvSpPr/>
          <p:nvPr/>
        </p:nvSpPr>
        <p:spPr>
          <a:xfrm>
            <a:off x="6181344" y="1783080"/>
            <a:ext cx="2606040" cy="3246120"/>
          </a:xfrm>
          <a:prstGeom prst="roundRect">
            <a:avLst>
              <a:gd name="adj" fmla="val 4211"/>
            </a:avLst>
          </a:prstGeom>
          <a:solidFill>
            <a:srgbClr val="F2F5F8"/>
          </a:solidFill>
          <a:ln w="12700">
            <a:solidFill>
              <a:srgbClr val="F2F5F8"/>
            </a:solidFill>
            <a:prstDash val="solid"/>
          </a:ln>
        </p:spPr>
      </p:sp>
      <p:sp>
        <p:nvSpPr>
          <p:cNvPr id="13" name="Text 11"/>
          <p:cNvSpPr txBox="1"/>
          <p:nvPr/>
        </p:nvSpPr>
        <p:spPr>
          <a:xfrm>
            <a:off x="6409944" y="1965960"/>
            <a:ext cx="2194560" cy="274320"/>
          </a:xfrm>
          <a:prstGeom prst="rect">
            <a:avLst/>
          </a:prstGeom>
          <a:noFill/>
          <a:ln/>
        </p:spPr>
        <p:txBody>
          <a:bodyPr wrap="square" lIns="0" tIns="0" rIns="0" bIns="0" rtlCol="0" anchor="t"/>
          <a:lstStyle/>
          <a:p>
            <a:pPr indent="0" marL="0">
              <a:buNone/>
            </a:pPr>
            <a:r>
              <a:rPr lang="en-US" sz="1200" b="1" spc="100" kern="0" dirty="0">
                <a:solidFill>
                  <a:srgbClr val="C77F12"/>
                </a:solidFill>
                <a:latin typeface="Calibri" pitchFamily="34" charset="0"/>
                <a:ea typeface="Calibri" pitchFamily="34" charset="-122"/>
                <a:cs typeface="Calibri" pitchFamily="34" charset="-120"/>
              </a:rPr>
              <a:t>OZIQ-OVQAT</a:t>
            </a:r>
            <a:endParaRPr lang="en-US" sz="1200" dirty="0"/>
          </a:p>
        </p:txBody>
      </p:sp>
      <p:sp>
        <p:nvSpPr>
          <p:cNvPr id="14" name="Text 12"/>
          <p:cNvSpPr txBox="1"/>
          <p:nvPr/>
        </p:nvSpPr>
        <p:spPr>
          <a:xfrm>
            <a:off x="6409944" y="2286000"/>
            <a:ext cx="2240280" cy="731520"/>
          </a:xfrm>
          <a:prstGeom prst="rect">
            <a:avLst/>
          </a:prstGeom>
          <a:noFill/>
          <a:ln/>
        </p:spPr>
        <p:txBody>
          <a:bodyPr wrap="square" lIns="0" tIns="0" rIns="0" bIns="0" rtlCol="0" anchor="t"/>
          <a:lstStyle/>
          <a:p>
            <a:pPr indent="0" marL="0">
              <a:buNone/>
            </a:pPr>
            <a:r>
              <a:rPr lang="en-US" sz="3400" b="1" dirty="0">
                <a:solidFill>
                  <a:srgbClr val="C77F12"/>
                </a:solidFill>
                <a:latin typeface="Cambria" pitchFamily="34" charset="0"/>
                <a:ea typeface="Cambria" pitchFamily="34" charset="-122"/>
                <a:cs typeface="Cambria" pitchFamily="34" charset="-120"/>
              </a:rPr>
              <a:t>F₀ ≈ 0</a:t>
            </a:r>
            <a:endParaRPr lang="en-US" sz="3400" dirty="0"/>
          </a:p>
        </p:txBody>
      </p:sp>
      <p:sp>
        <p:nvSpPr>
          <p:cNvPr id="15" name="Text 13"/>
          <p:cNvSpPr txBox="1"/>
          <p:nvPr/>
        </p:nvSpPr>
        <p:spPr>
          <a:xfrm>
            <a:off x="6409944" y="3108960"/>
            <a:ext cx="2194560" cy="17830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Uyda qaynoq suvda (100 °C) tayyorlangan go’sht konservasi botulizmdan himoyalanmaydi.</a:t>
            </a:r>
            <a:endParaRPr lang="en-US" sz="1500" dirty="0"/>
          </a:p>
        </p:txBody>
      </p:sp>
      <p:sp>
        <p:nvSpPr>
          <p:cNvPr id="16" name="Raqam Qurilish"/>
          <p:cNvSpPr/>
          <p:nvPr/>
        </p:nvSpPr>
        <p:spPr>
          <a:xfrm>
            <a:off x="8997696" y="1783080"/>
            <a:ext cx="2606040" cy="3246120"/>
          </a:xfrm>
          <a:prstGeom prst="roundRect">
            <a:avLst>
              <a:gd name="adj" fmla="val 4211"/>
            </a:avLst>
          </a:prstGeom>
          <a:solidFill>
            <a:srgbClr val="F2F5F8"/>
          </a:solidFill>
          <a:ln w="12700">
            <a:solidFill>
              <a:srgbClr val="F2F5F8"/>
            </a:solidFill>
            <a:prstDash val="solid"/>
          </a:ln>
        </p:spPr>
      </p:sp>
      <p:sp>
        <p:nvSpPr>
          <p:cNvPr id="17" name="Text 15"/>
          <p:cNvSpPr txBox="1"/>
          <p:nvPr/>
        </p:nvSpPr>
        <p:spPr>
          <a:xfrm>
            <a:off x="9226296" y="1965960"/>
            <a:ext cx="2194560" cy="274320"/>
          </a:xfrm>
          <a:prstGeom prst="rect">
            <a:avLst/>
          </a:prstGeom>
          <a:noFill/>
          <a:ln/>
        </p:spPr>
        <p:txBody>
          <a:bodyPr wrap="square" lIns="0" tIns="0" rIns="0" bIns="0" rtlCol="0" anchor="t"/>
          <a:lstStyle/>
          <a:p>
            <a:pPr indent="0" marL="0">
              <a:buNone/>
            </a:pPr>
            <a:r>
              <a:rPr lang="en-US" sz="1200" b="1" spc="100" kern="0" dirty="0">
                <a:solidFill>
                  <a:srgbClr val="1F5FA8"/>
                </a:solidFill>
                <a:latin typeface="Calibri" pitchFamily="34" charset="0"/>
                <a:ea typeface="Calibri" pitchFamily="34" charset="-122"/>
                <a:cs typeface="Calibri" pitchFamily="34" charset="-120"/>
              </a:rPr>
              <a:t>QURILISH</a:t>
            </a:r>
            <a:endParaRPr lang="en-US" sz="1200" dirty="0"/>
          </a:p>
        </p:txBody>
      </p:sp>
      <p:sp>
        <p:nvSpPr>
          <p:cNvPr id="18" name="Text 16"/>
          <p:cNvSpPr txBox="1"/>
          <p:nvPr/>
        </p:nvSpPr>
        <p:spPr>
          <a:xfrm>
            <a:off x="9226296" y="2286000"/>
            <a:ext cx="2240280" cy="731520"/>
          </a:xfrm>
          <a:prstGeom prst="rect">
            <a:avLst/>
          </a:prstGeom>
          <a:noFill/>
          <a:ln/>
        </p:spPr>
        <p:txBody>
          <a:bodyPr wrap="square" lIns="0" tIns="0" rIns="0" bIns="0" rtlCol="0" anchor="t"/>
          <a:lstStyle/>
          <a:p>
            <a:pPr indent="0" marL="0">
              <a:buNone/>
            </a:pPr>
            <a:r>
              <a:rPr lang="en-US" sz="3400" b="1" dirty="0">
                <a:solidFill>
                  <a:srgbClr val="1F5FA8"/>
                </a:solidFill>
                <a:latin typeface="Cambria" pitchFamily="34" charset="0"/>
                <a:ea typeface="Cambria" pitchFamily="34" charset="-122"/>
                <a:cs typeface="Cambria" pitchFamily="34" charset="-120"/>
              </a:rPr>
              <a:t>34.9 °C</a:t>
            </a:r>
            <a:endParaRPr lang="en-US" sz="3400" dirty="0"/>
          </a:p>
        </p:txBody>
      </p:sp>
      <p:sp>
        <p:nvSpPr>
          <p:cNvPr id="19" name="Text 17"/>
          <p:cNvSpPr txBox="1"/>
          <p:nvPr/>
        </p:nvSpPr>
        <p:spPr>
          <a:xfrm>
            <a:off x="9226296" y="3108960"/>
            <a:ext cx="2194560" cy="17830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1.2 m qalin beton qotayotganda markaz va sirt farqi – 20 °C dan oshsa darz ketadi.</a:t>
            </a:r>
            <a:endParaRPr lang="en-US" sz="1500" dirty="0"/>
          </a:p>
        </p:txBody>
      </p:sp>
      <p:sp>
        <p:nvSpPr>
          <p:cNvPr id="20" name="Xulosa"/>
          <p:cNvSpPr/>
          <p:nvPr/>
        </p:nvSpPr>
        <p:spPr>
          <a:xfrm>
            <a:off x="548640" y="5303520"/>
            <a:ext cx="11091672" cy="868680"/>
          </a:xfrm>
          <a:prstGeom prst="roundRect">
            <a:avLst>
              <a:gd name="adj" fmla="val 12632"/>
            </a:avLst>
          </a:prstGeom>
          <a:solidFill>
            <a:srgbClr val="E8F0FA"/>
          </a:solidFill>
          <a:ln w="12700">
            <a:solidFill>
              <a:srgbClr val="E8F0FA"/>
            </a:solidFill>
            <a:prstDash val="solid"/>
          </a:ln>
        </p:spPr>
      </p:sp>
      <p:sp>
        <p:nvSpPr>
          <p:cNvPr id="21" name="Text 19"/>
          <p:cNvSpPr txBox="1"/>
          <p:nvPr/>
        </p:nvSpPr>
        <p:spPr>
          <a:xfrm>
            <a:off x="777240" y="5440680"/>
            <a:ext cx="10607040" cy="640080"/>
          </a:xfrm>
          <a:prstGeom prst="rect">
            <a:avLst/>
          </a:prstGeom>
          <a:noFill/>
          <a:ln/>
        </p:spPr>
        <p:txBody>
          <a:bodyPr wrap="square" lIns="0" tIns="0" rIns="0" bIns="0" rtlCol="0" anchor="ctr"/>
          <a:lstStyle/>
          <a:p>
            <a:pPr indent="0" marL="0">
              <a:buNone/>
            </a:pPr>
            <a:r>
              <a:rPr lang="en-US" sz="1700" dirty="0">
                <a:solidFill>
                  <a:srgbClr val="16212E"/>
                </a:solidFill>
                <a:latin typeface="Calibri" pitchFamily="34" charset="0"/>
                <a:ea typeface="Calibri" pitchFamily="34" charset="-122"/>
                <a:cs typeface="Calibri" pitchFamily="34" charset="-120"/>
              </a:rPr>
              <a:t>Bu savollarning barchasiga javob bitta – </a:t>
            </a:r>
            <a:pPr indent="0" marL="0">
              <a:buNone/>
            </a:pPr>
            <a:r>
              <a:rPr lang="en-US" sz="1700" b="1" dirty="0">
                <a:solidFill>
                  <a:srgbClr val="16212E"/>
                </a:solidFill>
                <a:latin typeface="Calibri" pitchFamily="34" charset="0"/>
                <a:ea typeface="Calibri" pitchFamily="34" charset="-122"/>
                <a:cs typeface="Calibri" pitchFamily="34" charset="-120"/>
              </a:rPr>
              <a:t>issiqlik o’tkazuvchanlik tenglamasini yechish. </a:t>
            </a:r>
            <a:pPr indent="0" marL="0">
              <a:buNone/>
            </a:pPr>
            <a:r>
              <a:rPr lang="en-US" sz="1700" dirty="0">
                <a:solidFill>
                  <a:srgbClr val="16212E"/>
                </a:solidFill>
                <a:latin typeface="Calibri" pitchFamily="34" charset="0"/>
                <a:ea typeface="Calibri" pitchFamily="34" charset="-122"/>
                <a:cs typeface="Calibri" pitchFamily="34" charset="-120"/>
              </a:rPr>
              <a:t>TermoLab buni oddiy foydalanuvchi uchun ham, mutaxassis uchun ham qiladi.</a:t>
            </a:r>
            <a:endParaRPr lang="en-US" sz="17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Bugungi yechimlar qimmat, murakkab yoki tor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651760"/>
                <a:gridCol w="3840480"/>
                <a:gridCol w="4599432"/>
              </a:tblGrid>
              <a:tr h="566928">
                <a:tc>
                  <a:txBody>
                    <a:bodyPr/>
                    <a:lstStyle/>
                    <a:p>
                      <a:pPr indent="0" marL="0">
                        <a:buNone/>
                      </a:pPr>
                      <a:r>
                        <a:rPr lang="en-US" sz="1500" b="1" dirty="0">
                          <a:solidFill>
                            <a:srgbClr val="1B2A3A"/>
                          </a:solidFill>
                          <a:latin typeface="Calibri" pitchFamily="34" charset="0"/>
                          <a:ea typeface="Calibri" pitchFamily="34" charset="-122"/>
                          <a:cs typeface="Calibri" pitchFamily="34" charset="-120"/>
                        </a:rPr>
                        <a:t>Yondashuv</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indent="0" marL="0">
                        <a:buNone/>
                      </a:pPr>
                      <a:r>
                        <a:rPr lang="en-US" sz="1500" b="1" dirty="0">
                          <a:solidFill>
                            <a:srgbClr val="1B2A3A"/>
                          </a:solidFill>
                          <a:latin typeface="Calibri" pitchFamily="34" charset="0"/>
                          <a:ea typeface="Calibri" pitchFamily="34" charset="-122"/>
                          <a:cs typeface="Calibri" pitchFamily="34" charset="-120"/>
                        </a:rPr>
                        <a:t>Afzalligi</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indent="0" marL="0">
                        <a:buNone/>
                      </a:pPr>
                      <a:r>
                        <a:rPr lang="en-US" sz="1500" b="1" dirty="0">
                          <a:solidFill>
                            <a:srgbClr val="1B2A3A"/>
                          </a:solidFill>
                          <a:latin typeface="Calibri" pitchFamily="34" charset="0"/>
                          <a:ea typeface="Calibri" pitchFamily="34" charset="-122"/>
                          <a:cs typeface="Calibri" pitchFamily="34" charset="-120"/>
                        </a:rPr>
                        <a:t>Kamchiligi</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r>
              <a:tr h="566928">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Tajriba va o’lchash</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Haqiqiy natija</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Qimmat, uzoq; yong’in yoki portlashni sinab bo’lmaydi</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Analitik formulalar</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Aniq, tez</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Faqat oddiy shakl va shartlar uchun</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ANSYS, COMSOL</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Har qanday masala</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Litsenziya qimmat, o’rganish uchun oylar kerak, o’zbek tilida emas</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Darslik dasturlari</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Usulni ko’rsatadi</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Bitta masala, amaliy savolga javob bermaydi</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1F7A4A"/>
                          </a:solidFill>
                          <a:latin typeface="Calibri" pitchFamily="34" charset="0"/>
                          <a:ea typeface="Calibri" pitchFamily="34" charset="-122"/>
                          <a:cs typeface="Calibri" pitchFamily="34" charset="-120"/>
                        </a:rPr>
                        <a:t>TermoLab</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b="1" dirty="0">
                          <a:solidFill>
                            <a:srgbClr val="16212E"/>
                          </a:solidFill>
                          <a:latin typeface="Calibri" pitchFamily="34" charset="0"/>
                          <a:ea typeface="Calibri" pitchFamily="34" charset="-122"/>
                          <a:cs typeface="Calibri" pitchFamily="34" charset="-120"/>
                        </a:rPr>
                        <a:t>Bepul, brauzerda, o’zbek tilida; amaliy javob va tavsiya</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c>
                  <a:txBody>
                    <a:bodyPr/>
                    <a:lstStyle/>
                    <a:p>
                      <a:pPr indent="0" marL="0">
                        <a:buNone/>
                      </a:pPr>
                      <a:r>
                        <a:rPr lang="en-US" sz="1500" dirty="0">
                          <a:solidFill>
                            <a:srgbClr val="16212E"/>
                          </a:solidFill>
                          <a:latin typeface="Calibri" pitchFamily="34" charset="0"/>
                          <a:ea typeface="Calibri" pitchFamily="34" charset="-122"/>
                          <a:cs typeface="Calibri" pitchFamily="34" charset="-120"/>
                        </a:rPr>
                        <a:t>Hozircha 1D va 2D masalalar; murakkab 3D shakllar – keyingi bosqich</a:t>
                      </a:r>
                      <a:endParaRPr lang="en-US" sz="1500" dirty="0">
                        <a:latin typeface="Calibri" charset="0"/>
                        <a:ea typeface="Calibri" charset="0"/>
                        <a:cs typeface="Calibri" charset="0"/>
                      </a:endParaRPr>
                    </a:p>
                  </a:txBody>
                  <a:tcPr marL="109728" marR="109728" marT="54864" marB="54864"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FFFFFF"/>
                    </a:solidFill>
                  </a:tcPr>
                </a:tc>
              </a:tr>
            </a:tbl>
          </a:graphicData>
        </a:graphic>
      </p:graphicFrame>
      <p:sp>
        <p:nvSpPr>
          <p:cNvPr id="4" name="Bo’shliq"/>
          <p:cNvSpPr/>
          <p:nvPr/>
        </p:nvSpPr>
        <p:spPr>
          <a:xfrm>
            <a:off x="548640" y="5257800"/>
            <a:ext cx="11091672" cy="868680"/>
          </a:xfrm>
          <a:prstGeom prst="roundRect">
            <a:avLst>
              <a:gd name="adj" fmla="val 12632"/>
            </a:avLst>
          </a:prstGeom>
          <a:solidFill>
            <a:srgbClr val="E7F4EC"/>
          </a:solidFill>
          <a:ln w="12700">
            <a:solidFill>
              <a:srgbClr val="E7F4EC"/>
            </a:solidFill>
            <a:prstDash val="solid"/>
          </a:ln>
        </p:spPr>
      </p:sp>
      <p:sp>
        <p:nvSpPr>
          <p:cNvPr id="5" name="Text 2"/>
          <p:cNvSpPr txBox="1"/>
          <p:nvPr/>
        </p:nvSpPr>
        <p:spPr>
          <a:xfrm>
            <a:off x="777240" y="5394960"/>
            <a:ext cx="10607040" cy="640080"/>
          </a:xfrm>
          <a:prstGeom prst="rect">
            <a:avLst/>
          </a:prstGeom>
          <a:noFill/>
          <a:ln/>
        </p:spPr>
        <p:txBody>
          <a:bodyPr wrap="square" lIns="0" tIns="0" rIns="0" bIns="0" rtlCol="0" anchor="ctr"/>
          <a:lstStyle/>
          <a:p>
            <a:pPr indent="0" marL="0">
              <a:buNone/>
            </a:pPr>
            <a:r>
              <a:rPr lang="en-US" sz="1700" dirty="0">
                <a:solidFill>
                  <a:srgbClr val="16212E"/>
                </a:solidFill>
                <a:latin typeface="Calibri" pitchFamily="34" charset="0"/>
                <a:ea typeface="Calibri" pitchFamily="34" charset="-122"/>
                <a:cs typeface="Calibri" pitchFamily="34" charset="-120"/>
              </a:rPr>
              <a:t>Bo’shliq: hisoblash ilmiy asosli, lekin oddiy odam tushunadigan va “nima qilish kerak?” degan savolga javob beradigan vosita yo’q edi.</a:t>
            </a:r>
            <a:endParaRPr lang="en-US" sz="17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TermoLab: savoldan tavsiyagacha to’rt qadam</a:t>
            </a:r>
            <a:endParaRPr lang="en-US" sz="3200" dirty="0"/>
          </a:p>
        </p:txBody>
      </p:sp>
      <p:sp>
        <p:nvSpPr>
          <p:cNvPr id="3" name="Qadam 1"/>
          <p:cNvSpPr/>
          <p:nvPr/>
        </p:nvSpPr>
        <p:spPr>
          <a:xfrm>
            <a:off x="548640" y="1371600"/>
            <a:ext cx="2560320" cy="1691640"/>
          </a:xfrm>
          <a:prstGeom prst="roundRect">
            <a:avLst>
              <a:gd name="adj" fmla="val 6486"/>
            </a:avLst>
          </a:prstGeom>
          <a:solidFill>
            <a:srgbClr val="F2F5F8"/>
          </a:solidFill>
          <a:ln w="12700">
            <a:solidFill>
              <a:srgbClr val="F2F5F8"/>
            </a:solidFill>
            <a:prstDash val="solid"/>
          </a:ln>
        </p:spPr>
      </p:sp>
      <p:sp>
        <p:nvSpPr>
          <p:cNvPr id="4" name="Shape 2"/>
          <p:cNvSpPr/>
          <p:nvPr/>
        </p:nvSpPr>
        <p:spPr>
          <a:xfrm>
            <a:off x="749808" y="1554480"/>
            <a:ext cx="420624" cy="420624"/>
          </a:xfrm>
          <a:prstGeom prst="ellipse">
            <a:avLst/>
          </a:prstGeom>
          <a:solidFill>
            <a:srgbClr val="C4401F"/>
          </a:solidFill>
          <a:ln w="12700">
            <a:solidFill>
              <a:srgbClr val="C4401F"/>
            </a:solidFill>
            <a:prstDash val="solid"/>
          </a:ln>
        </p:spPr>
      </p:sp>
      <p:sp>
        <p:nvSpPr>
          <p:cNvPr id="5" name="Text 3"/>
          <p:cNvSpPr txBox="1"/>
          <p:nvPr/>
        </p:nvSpPr>
        <p:spPr>
          <a:xfrm>
            <a:off x="749808" y="1554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98448" y="1572768"/>
            <a:ext cx="169164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Savol</a:t>
            </a:r>
            <a:endParaRPr lang="en-US" sz="1800" dirty="0"/>
          </a:p>
        </p:txBody>
      </p:sp>
      <p:sp>
        <p:nvSpPr>
          <p:cNvPr id="7" name="Text 5"/>
          <p:cNvSpPr txBox="1"/>
          <p:nvPr/>
        </p:nvSpPr>
        <p:spPr>
          <a:xfrm>
            <a:off x="749808" y="2121408"/>
            <a:ext cx="2194560" cy="86868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Foydalanuvchi o’z sohasini tanlaydi va oddiy qiymatlarni kiritadi</a:t>
            </a:r>
            <a:endParaRPr lang="en-US" sz="1400" dirty="0"/>
          </a:p>
        </p:txBody>
      </p:sp>
      <p:sp>
        <p:nvSpPr>
          <p:cNvPr id="8" name="Text 6"/>
          <p:cNvSpPr txBox="1"/>
          <p:nvPr/>
        </p:nvSpPr>
        <p:spPr>
          <a:xfrm>
            <a:off x="3108960" y="1920240"/>
            <a:ext cx="256032" cy="457200"/>
          </a:xfrm>
          <a:prstGeom prst="rect">
            <a:avLst/>
          </a:prstGeom>
          <a:noFill/>
          <a:ln/>
        </p:spPr>
        <p:txBody>
          <a:bodyPr wrap="square" lIns="0" tIns="0" rIns="0" bIns="0" rtlCol="0" anchor="t"/>
          <a:lstStyle/>
          <a:p>
            <a:pPr algn="ctr" indent="0" marL="0">
              <a:buNone/>
            </a:pPr>
            <a:r>
              <a:rPr lang="en-US" sz="2200" dirty="0">
                <a:solidFill>
                  <a:srgbClr val="C4401F"/>
                </a:solidFill>
                <a:latin typeface="Calibri" pitchFamily="34" charset="0"/>
                <a:ea typeface="Calibri" pitchFamily="34" charset="-122"/>
                <a:cs typeface="Calibri" pitchFamily="34" charset="-120"/>
              </a:rPr>
              <a:t>→</a:t>
            </a:r>
            <a:endParaRPr lang="en-US" sz="2200" dirty="0"/>
          </a:p>
        </p:txBody>
      </p:sp>
      <p:sp>
        <p:nvSpPr>
          <p:cNvPr id="9" name="Qadam 2"/>
          <p:cNvSpPr/>
          <p:nvPr/>
        </p:nvSpPr>
        <p:spPr>
          <a:xfrm>
            <a:off x="3364992" y="1371600"/>
            <a:ext cx="2560320" cy="1691640"/>
          </a:xfrm>
          <a:prstGeom prst="roundRect">
            <a:avLst>
              <a:gd name="adj" fmla="val 6486"/>
            </a:avLst>
          </a:prstGeom>
          <a:solidFill>
            <a:srgbClr val="F2F5F8"/>
          </a:solidFill>
          <a:ln w="12700">
            <a:solidFill>
              <a:srgbClr val="F2F5F8"/>
            </a:solidFill>
            <a:prstDash val="solid"/>
          </a:ln>
        </p:spPr>
      </p:sp>
      <p:sp>
        <p:nvSpPr>
          <p:cNvPr id="10" name="Shape 8"/>
          <p:cNvSpPr/>
          <p:nvPr/>
        </p:nvSpPr>
        <p:spPr>
          <a:xfrm>
            <a:off x="3566160" y="1554480"/>
            <a:ext cx="420624" cy="420624"/>
          </a:xfrm>
          <a:prstGeom prst="ellipse">
            <a:avLst/>
          </a:prstGeom>
          <a:solidFill>
            <a:srgbClr val="C4401F"/>
          </a:solidFill>
          <a:ln w="12700">
            <a:solidFill>
              <a:srgbClr val="C4401F"/>
            </a:solidFill>
            <a:prstDash val="solid"/>
          </a:ln>
        </p:spPr>
      </p:sp>
      <p:sp>
        <p:nvSpPr>
          <p:cNvPr id="11" name="Text 9"/>
          <p:cNvSpPr txBox="1"/>
          <p:nvPr/>
        </p:nvSpPr>
        <p:spPr>
          <a:xfrm>
            <a:off x="3566160" y="1554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4114800" y="1572768"/>
            <a:ext cx="169164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Model</a:t>
            </a:r>
            <a:endParaRPr lang="en-US" sz="1800" dirty="0"/>
          </a:p>
        </p:txBody>
      </p:sp>
      <p:sp>
        <p:nvSpPr>
          <p:cNvPr id="13" name="Text 11"/>
          <p:cNvSpPr txBox="1"/>
          <p:nvPr/>
        </p:nvSpPr>
        <p:spPr>
          <a:xfrm>
            <a:off x="3566160" y="2121408"/>
            <a:ext cx="2194560" cy="86868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Dastur masalani 1D yoki 2D tenglamaga aylantiradi</a:t>
            </a:r>
            <a:endParaRPr lang="en-US" sz="1400" dirty="0"/>
          </a:p>
        </p:txBody>
      </p:sp>
      <p:sp>
        <p:nvSpPr>
          <p:cNvPr id="14" name="Text 12"/>
          <p:cNvSpPr txBox="1"/>
          <p:nvPr/>
        </p:nvSpPr>
        <p:spPr>
          <a:xfrm>
            <a:off x="5925312" y="1920240"/>
            <a:ext cx="256032" cy="457200"/>
          </a:xfrm>
          <a:prstGeom prst="rect">
            <a:avLst/>
          </a:prstGeom>
          <a:noFill/>
          <a:ln/>
        </p:spPr>
        <p:txBody>
          <a:bodyPr wrap="square" lIns="0" tIns="0" rIns="0" bIns="0" rtlCol="0" anchor="t"/>
          <a:lstStyle/>
          <a:p>
            <a:pPr algn="ctr" indent="0" marL="0">
              <a:buNone/>
            </a:pPr>
            <a:r>
              <a:rPr lang="en-US" sz="2200" dirty="0">
                <a:solidFill>
                  <a:srgbClr val="C4401F"/>
                </a:solidFill>
                <a:latin typeface="Calibri" pitchFamily="34" charset="0"/>
                <a:ea typeface="Calibri" pitchFamily="34" charset="-122"/>
                <a:cs typeface="Calibri" pitchFamily="34" charset="-120"/>
              </a:rPr>
              <a:t>→</a:t>
            </a:r>
            <a:endParaRPr lang="en-US" sz="2200" dirty="0"/>
          </a:p>
        </p:txBody>
      </p:sp>
      <p:sp>
        <p:nvSpPr>
          <p:cNvPr id="15" name="Qadam 3"/>
          <p:cNvSpPr/>
          <p:nvPr/>
        </p:nvSpPr>
        <p:spPr>
          <a:xfrm>
            <a:off x="6181344" y="1371600"/>
            <a:ext cx="2560320" cy="1691640"/>
          </a:xfrm>
          <a:prstGeom prst="roundRect">
            <a:avLst>
              <a:gd name="adj" fmla="val 6486"/>
            </a:avLst>
          </a:prstGeom>
          <a:solidFill>
            <a:srgbClr val="F2F5F8"/>
          </a:solidFill>
          <a:ln w="12700">
            <a:solidFill>
              <a:srgbClr val="F2F5F8"/>
            </a:solidFill>
            <a:prstDash val="solid"/>
          </a:ln>
        </p:spPr>
      </p:sp>
      <p:sp>
        <p:nvSpPr>
          <p:cNvPr id="16" name="Shape 14"/>
          <p:cNvSpPr/>
          <p:nvPr/>
        </p:nvSpPr>
        <p:spPr>
          <a:xfrm>
            <a:off x="6382512" y="1554480"/>
            <a:ext cx="420624" cy="420624"/>
          </a:xfrm>
          <a:prstGeom prst="ellipse">
            <a:avLst/>
          </a:prstGeom>
          <a:solidFill>
            <a:srgbClr val="C4401F"/>
          </a:solidFill>
          <a:ln w="12700">
            <a:solidFill>
              <a:srgbClr val="C4401F"/>
            </a:solidFill>
            <a:prstDash val="solid"/>
          </a:ln>
        </p:spPr>
      </p:sp>
      <p:sp>
        <p:nvSpPr>
          <p:cNvPr id="17" name="Text 15"/>
          <p:cNvSpPr txBox="1"/>
          <p:nvPr/>
        </p:nvSpPr>
        <p:spPr>
          <a:xfrm>
            <a:off x="6382512" y="1554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8" name="Text 16"/>
          <p:cNvSpPr txBox="1"/>
          <p:nvPr/>
        </p:nvSpPr>
        <p:spPr>
          <a:xfrm>
            <a:off x="6931152" y="1572768"/>
            <a:ext cx="169164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Hisob</a:t>
            </a:r>
            <a:endParaRPr lang="en-US" sz="1800" dirty="0"/>
          </a:p>
        </p:txBody>
      </p:sp>
      <p:sp>
        <p:nvSpPr>
          <p:cNvPr id="19" name="Text 17"/>
          <p:cNvSpPr txBox="1"/>
          <p:nvPr/>
        </p:nvSpPr>
        <p:spPr>
          <a:xfrm>
            <a:off x="6382512" y="2121408"/>
            <a:ext cx="2194560" cy="86868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Eng mos sonli usul bilan yechiladi</a:t>
            </a:r>
            <a:endParaRPr lang="en-US" sz="1400" dirty="0"/>
          </a:p>
        </p:txBody>
      </p:sp>
      <p:sp>
        <p:nvSpPr>
          <p:cNvPr id="20" name="Text 18"/>
          <p:cNvSpPr txBox="1"/>
          <p:nvPr/>
        </p:nvSpPr>
        <p:spPr>
          <a:xfrm>
            <a:off x="8741664" y="1920240"/>
            <a:ext cx="256032" cy="457200"/>
          </a:xfrm>
          <a:prstGeom prst="rect">
            <a:avLst/>
          </a:prstGeom>
          <a:noFill/>
          <a:ln/>
        </p:spPr>
        <p:txBody>
          <a:bodyPr wrap="square" lIns="0" tIns="0" rIns="0" bIns="0" rtlCol="0" anchor="t"/>
          <a:lstStyle/>
          <a:p>
            <a:pPr algn="ctr" indent="0" marL="0">
              <a:buNone/>
            </a:pPr>
            <a:r>
              <a:rPr lang="en-US" sz="2200" dirty="0">
                <a:solidFill>
                  <a:srgbClr val="C4401F"/>
                </a:solidFill>
                <a:latin typeface="Calibri" pitchFamily="34" charset="0"/>
                <a:ea typeface="Calibri" pitchFamily="34" charset="-122"/>
                <a:cs typeface="Calibri" pitchFamily="34" charset="-120"/>
              </a:rPr>
              <a:t>→</a:t>
            </a:r>
            <a:endParaRPr lang="en-US" sz="2200" dirty="0"/>
          </a:p>
        </p:txBody>
      </p:sp>
      <p:sp>
        <p:nvSpPr>
          <p:cNvPr id="21" name="Qadam 4"/>
          <p:cNvSpPr/>
          <p:nvPr/>
        </p:nvSpPr>
        <p:spPr>
          <a:xfrm>
            <a:off x="8997696" y="1371600"/>
            <a:ext cx="2560320" cy="1691640"/>
          </a:xfrm>
          <a:prstGeom prst="roundRect">
            <a:avLst>
              <a:gd name="adj" fmla="val 6486"/>
            </a:avLst>
          </a:prstGeom>
          <a:solidFill>
            <a:srgbClr val="F2F5F8"/>
          </a:solidFill>
          <a:ln w="12700">
            <a:solidFill>
              <a:srgbClr val="F2F5F8"/>
            </a:solidFill>
            <a:prstDash val="solid"/>
          </a:ln>
        </p:spPr>
      </p:sp>
      <p:sp>
        <p:nvSpPr>
          <p:cNvPr id="22" name="Shape 20"/>
          <p:cNvSpPr/>
          <p:nvPr/>
        </p:nvSpPr>
        <p:spPr>
          <a:xfrm>
            <a:off x="9198864" y="1554480"/>
            <a:ext cx="420624" cy="420624"/>
          </a:xfrm>
          <a:prstGeom prst="ellipse">
            <a:avLst/>
          </a:prstGeom>
          <a:solidFill>
            <a:srgbClr val="C4401F"/>
          </a:solidFill>
          <a:ln w="12700">
            <a:solidFill>
              <a:srgbClr val="C4401F"/>
            </a:solidFill>
            <a:prstDash val="solid"/>
          </a:ln>
        </p:spPr>
      </p:sp>
      <p:sp>
        <p:nvSpPr>
          <p:cNvPr id="23" name="Text 21"/>
          <p:cNvSpPr txBox="1"/>
          <p:nvPr/>
        </p:nvSpPr>
        <p:spPr>
          <a:xfrm>
            <a:off x="9198864" y="15544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747504" y="1572768"/>
            <a:ext cx="169164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Javob va tavsiya</a:t>
            </a:r>
            <a:endParaRPr lang="en-US" sz="1800" dirty="0"/>
          </a:p>
        </p:txBody>
      </p:sp>
      <p:sp>
        <p:nvSpPr>
          <p:cNvPr id="25" name="Text 23"/>
          <p:cNvSpPr txBox="1"/>
          <p:nvPr/>
        </p:nvSpPr>
        <p:spPr>
          <a:xfrm>
            <a:off x="9198864" y="2121408"/>
            <a:ext cx="2194560" cy="86868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Natija, 3D ko’rinish, “nima qilish kerak” va matnli hisobot</a:t>
            </a:r>
            <a:endParaRPr lang="en-US" sz="1400" dirty="0"/>
          </a:p>
        </p:txBody>
      </p:sp>
      <p:pic>
        <p:nvPicPr>
          <p:cNvPr id="26" name="TermoLab bosh sahifasi" descr="TermoLab bosh sahifasi">    </p:cNvPr>
          <p:cNvPicPr>
            <a:picLocks noChangeAspect="1"/>
          </p:cNvPicPr>
          <p:nvPr/>
        </p:nvPicPr>
        <p:blipFill>
          <a:blip r:embed="rId1"/>
          <a:stretch>
            <a:fillRect/>
          </a:stretch>
        </p:blipFill>
        <p:spPr>
          <a:xfrm>
            <a:off x="548640" y="3291840"/>
            <a:ext cx="6675120" cy="3013075"/>
          </a:xfrm>
          <a:prstGeom prst="rect">
            <a:avLst/>
          </a:prstGeom>
        </p:spPr>
      </p:pic>
      <p:sp>
        <p:nvSpPr>
          <p:cNvPr id="27" name="8 ta amaliy soha"/>
          <p:cNvSpPr/>
          <p:nvPr/>
        </p:nvSpPr>
        <p:spPr>
          <a:xfrm>
            <a:off x="7498080" y="3291840"/>
            <a:ext cx="4142232" cy="896112"/>
          </a:xfrm>
          <a:prstGeom prst="roundRect">
            <a:avLst>
              <a:gd name="adj" fmla="val 12245"/>
            </a:avLst>
          </a:prstGeom>
          <a:solidFill>
            <a:srgbClr val="F2F5F8"/>
          </a:solidFill>
          <a:ln w="12700">
            <a:solidFill>
              <a:srgbClr val="F2F5F8"/>
            </a:solidFill>
            <a:prstDash val="solid"/>
          </a:ln>
        </p:spPr>
      </p:sp>
      <p:sp>
        <p:nvSpPr>
          <p:cNvPr id="28" name="Text 25"/>
          <p:cNvSpPr txBox="1"/>
          <p:nvPr/>
        </p:nvSpPr>
        <p:spPr>
          <a:xfrm>
            <a:off x="7699248" y="3383280"/>
            <a:ext cx="3749040" cy="320040"/>
          </a:xfrm>
          <a:prstGeom prst="rect">
            <a:avLst/>
          </a:prstGeom>
          <a:noFill/>
          <a:ln/>
        </p:spPr>
        <p:txBody>
          <a:bodyPr wrap="square" lIns="0" tIns="0" rIns="0" bIns="0" rtlCol="0" anchor="t"/>
          <a:lstStyle/>
          <a:p>
            <a:pPr indent="0" marL="0">
              <a:buNone/>
            </a:pPr>
            <a:r>
              <a:rPr lang="en-US" sz="1600" b="1" dirty="0">
                <a:solidFill>
                  <a:srgbClr val="C4401F"/>
                </a:solidFill>
                <a:latin typeface="Calibri" pitchFamily="34" charset="0"/>
                <a:ea typeface="Calibri" pitchFamily="34" charset="-122"/>
                <a:cs typeface="Calibri" pitchFamily="34" charset="-120"/>
              </a:rPr>
              <a:t>8 ta amaliy soha</a:t>
            </a:r>
            <a:endParaRPr lang="en-US" sz="1600" dirty="0"/>
          </a:p>
        </p:txBody>
      </p:sp>
      <p:sp>
        <p:nvSpPr>
          <p:cNvPr id="29" name="Text 26"/>
          <p:cNvSpPr txBox="1"/>
          <p:nvPr/>
        </p:nvSpPr>
        <p:spPr>
          <a:xfrm>
            <a:off x="7699248" y="3712464"/>
            <a:ext cx="3749040" cy="438912"/>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uy, quvur, tuxum, protsessor, payvand, beton, yong’in, konserva</a:t>
            </a:r>
            <a:endParaRPr lang="en-US" sz="1300" dirty="0"/>
          </a:p>
        </p:txBody>
      </p:sp>
      <p:sp>
        <p:nvSpPr>
          <p:cNvPr id="30" name="Ilmiy laboratoriya"/>
          <p:cNvSpPr/>
          <p:nvPr/>
        </p:nvSpPr>
        <p:spPr>
          <a:xfrm>
            <a:off x="7498080" y="4315968"/>
            <a:ext cx="4142232" cy="896112"/>
          </a:xfrm>
          <a:prstGeom prst="roundRect">
            <a:avLst>
              <a:gd name="adj" fmla="val 12245"/>
            </a:avLst>
          </a:prstGeom>
          <a:solidFill>
            <a:srgbClr val="F2F5F8"/>
          </a:solidFill>
          <a:ln w="12700">
            <a:solidFill>
              <a:srgbClr val="F2F5F8"/>
            </a:solidFill>
            <a:prstDash val="solid"/>
          </a:ln>
        </p:spPr>
      </p:sp>
      <p:sp>
        <p:nvSpPr>
          <p:cNvPr id="31" name="Text 28"/>
          <p:cNvSpPr txBox="1"/>
          <p:nvPr/>
        </p:nvSpPr>
        <p:spPr>
          <a:xfrm>
            <a:off x="7699248" y="4407408"/>
            <a:ext cx="3749040" cy="320040"/>
          </a:xfrm>
          <a:prstGeom prst="rect">
            <a:avLst/>
          </a:prstGeom>
          <a:noFill/>
          <a:ln/>
        </p:spPr>
        <p:txBody>
          <a:bodyPr wrap="square" lIns="0" tIns="0" rIns="0" bIns="0" rtlCol="0" anchor="t"/>
          <a:lstStyle/>
          <a:p>
            <a:pPr indent="0" marL="0">
              <a:buNone/>
            </a:pPr>
            <a:r>
              <a:rPr lang="en-US" sz="1600" b="1" dirty="0">
                <a:solidFill>
                  <a:srgbClr val="1F5FA8"/>
                </a:solidFill>
                <a:latin typeface="Calibri" pitchFamily="34" charset="0"/>
                <a:ea typeface="Calibri" pitchFamily="34" charset="-122"/>
                <a:cs typeface="Calibri" pitchFamily="34" charset="-120"/>
              </a:rPr>
              <a:t>Ilmiy laboratoriya</a:t>
            </a:r>
            <a:endParaRPr lang="en-US" sz="1600" dirty="0"/>
          </a:p>
        </p:txBody>
      </p:sp>
      <p:sp>
        <p:nvSpPr>
          <p:cNvPr id="32" name="Text 29"/>
          <p:cNvSpPr txBox="1"/>
          <p:nvPr/>
        </p:nvSpPr>
        <p:spPr>
          <a:xfrm>
            <a:off x="7699248" y="4736592"/>
            <a:ext cx="3749040" cy="438912"/>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istalgan 1D/2D masala, I–III tur chegaraviy shartlar</a:t>
            </a:r>
            <a:endParaRPr lang="en-US" sz="1300" dirty="0"/>
          </a:p>
        </p:txBody>
      </p:sp>
      <p:sp>
        <p:nvSpPr>
          <p:cNvPr id="33" name="Usullar va tekshiruv"/>
          <p:cNvSpPr/>
          <p:nvPr/>
        </p:nvSpPr>
        <p:spPr>
          <a:xfrm>
            <a:off x="7498080" y="5340096"/>
            <a:ext cx="4142232" cy="896112"/>
          </a:xfrm>
          <a:prstGeom prst="roundRect">
            <a:avLst>
              <a:gd name="adj" fmla="val 12245"/>
            </a:avLst>
          </a:prstGeom>
          <a:solidFill>
            <a:srgbClr val="F2F5F8"/>
          </a:solidFill>
          <a:ln w="12700">
            <a:solidFill>
              <a:srgbClr val="F2F5F8"/>
            </a:solidFill>
            <a:prstDash val="solid"/>
          </a:ln>
        </p:spPr>
      </p:sp>
      <p:sp>
        <p:nvSpPr>
          <p:cNvPr id="34" name="Text 31"/>
          <p:cNvSpPr txBox="1"/>
          <p:nvPr/>
        </p:nvSpPr>
        <p:spPr>
          <a:xfrm>
            <a:off x="7699248" y="5431536"/>
            <a:ext cx="3749040" cy="320040"/>
          </a:xfrm>
          <a:prstGeom prst="rect">
            <a:avLst/>
          </a:prstGeom>
          <a:noFill/>
          <a:ln/>
        </p:spPr>
        <p:txBody>
          <a:bodyPr wrap="square" lIns="0" tIns="0" rIns="0" bIns="0" rtlCol="0" anchor="t"/>
          <a:lstStyle/>
          <a:p>
            <a:pPr indent="0" marL="0">
              <a:buNone/>
            </a:pPr>
            <a:r>
              <a:rPr lang="en-US" sz="1600" b="1" dirty="0">
                <a:solidFill>
                  <a:srgbClr val="1F7A4A"/>
                </a:solidFill>
                <a:latin typeface="Calibri" pitchFamily="34" charset="0"/>
                <a:ea typeface="Calibri" pitchFamily="34" charset="-122"/>
                <a:cs typeface="Calibri" pitchFamily="34" charset="-120"/>
              </a:rPr>
              <a:t>Usullar va tekshiruv</a:t>
            </a:r>
            <a:endParaRPr lang="en-US" sz="1600" dirty="0"/>
          </a:p>
        </p:txBody>
      </p:sp>
      <p:sp>
        <p:nvSpPr>
          <p:cNvPr id="35" name="Text 32"/>
          <p:cNvSpPr txBox="1"/>
          <p:nvPr/>
        </p:nvSpPr>
        <p:spPr>
          <a:xfrm>
            <a:off x="7699248" y="5760720"/>
            <a:ext cx="3749040" cy="438912"/>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6 usulni taqqoslash, aniq yechim va me’yorlar bilan solishtirish</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Matematik model: bitta tenglama barcha masalalar uchun</a:t>
            </a:r>
            <a:endParaRPr lang="en-US" sz="3200" dirty="0"/>
          </a:p>
        </p:txBody>
      </p:sp>
      <p:sp>
        <p:nvSpPr>
          <p:cNvPr id="3" name="Asosiy tenglama"/>
          <p:cNvSpPr/>
          <p:nvPr/>
        </p:nvSpPr>
        <p:spPr>
          <a:xfrm>
            <a:off x="548640" y="1325880"/>
            <a:ext cx="6766560" cy="1417320"/>
          </a:xfrm>
          <a:prstGeom prst="roundRect">
            <a:avLst>
              <a:gd name="adj" fmla="val 7742"/>
            </a:avLst>
          </a:prstGeom>
          <a:solidFill>
            <a:srgbClr val="F2F5F8"/>
          </a:solidFill>
          <a:ln w="12700">
            <a:solidFill>
              <a:srgbClr val="F2F5F8"/>
            </a:solidFill>
            <a:prstDash val="solid"/>
          </a:ln>
        </p:spPr>
      </p:sp>
      <p:sp>
        <p:nvSpPr>
          <p:cNvPr id="4" name="Text 2"/>
          <p:cNvSpPr txBox="1"/>
          <p:nvPr/>
        </p:nvSpPr>
        <p:spPr>
          <a:xfrm>
            <a:off x="777240" y="1444752"/>
            <a:ext cx="6400800" cy="274320"/>
          </a:xfrm>
          <a:prstGeom prst="rect">
            <a:avLst/>
          </a:prstGeom>
          <a:noFill/>
          <a:ln/>
        </p:spPr>
        <p:txBody>
          <a:bodyPr wrap="square" lIns="0" tIns="0" rIns="0" bIns="0" rtlCol="0" anchor="t"/>
          <a:lstStyle/>
          <a:p>
            <a:pPr indent="0" marL="0">
              <a:buNone/>
            </a:pPr>
            <a:r>
              <a:rPr lang="en-US" sz="1200" b="1" spc="100" kern="0" dirty="0">
                <a:solidFill>
                  <a:srgbClr val="C4401F"/>
                </a:solidFill>
                <a:latin typeface="Calibri" pitchFamily="34" charset="0"/>
                <a:ea typeface="Calibri" pitchFamily="34" charset="-122"/>
                <a:cs typeface="Calibri" pitchFamily="34" charset="-120"/>
              </a:rPr>
              <a:t>ENERGIYANING SAQLANISH QONUNI + FURYE QONUNI</a:t>
            </a:r>
            <a:endParaRPr lang="en-US" sz="1200" dirty="0"/>
          </a:p>
        </p:txBody>
      </p:sp>
      <p:pic>
        <p:nvPicPr>
          <p:cNvPr id="5" name="Issiqlik o’tkazuvchanlik tenglamasi" descr="Issiqlik o’tkazuvchanlik tenglamasi">    </p:cNvPr>
          <p:cNvPicPr>
            <a:picLocks noChangeAspect="1"/>
          </p:cNvPicPr>
          <p:nvPr/>
        </p:nvPicPr>
        <p:blipFill>
          <a:blip r:embed="rId1"/>
          <a:stretch>
            <a:fillRect/>
          </a:stretch>
        </p:blipFill>
        <p:spPr>
          <a:xfrm>
            <a:off x="777240" y="1810512"/>
            <a:ext cx="5505450" cy="777240"/>
          </a:xfrm>
          <a:prstGeom prst="rect">
            <a:avLst/>
          </a:prstGeom>
        </p:spPr>
      </p:pic>
      <p:sp>
        <p:nvSpPr>
          <p:cNvPr id="6" name="Chegaraviy shart"/>
          <p:cNvSpPr/>
          <p:nvPr/>
        </p:nvSpPr>
        <p:spPr>
          <a:xfrm>
            <a:off x="548640" y="2926080"/>
            <a:ext cx="6766560" cy="1280160"/>
          </a:xfrm>
          <a:prstGeom prst="roundRect">
            <a:avLst>
              <a:gd name="adj" fmla="val 8571"/>
            </a:avLst>
          </a:prstGeom>
          <a:solidFill>
            <a:srgbClr val="F2F5F8"/>
          </a:solidFill>
          <a:ln w="12700">
            <a:solidFill>
              <a:srgbClr val="F2F5F8"/>
            </a:solidFill>
            <a:prstDash val="solid"/>
          </a:ln>
        </p:spPr>
      </p:sp>
      <p:sp>
        <p:nvSpPr>
          <p:cNvPr id="7" name="Text 4"/>
          <p:cNvSpPr txBox="1"/>
          <p:nvPr/>
        </p:nvSpPr>
        <p:spPr>
          <a:xfrm>
            <a:off x="777240" y="3044952"/>
            <a:ext cx="6400800" cy="274320"/>
          </a:xfrm>
          <a:prstGeom prst="rect">
            <a:avLst/>
          </a:prstGeom>
          <a:noFill/>
          <a:ln/>
        </p:spPr>
        <p:txBody>
          <a:bodyPr wrap="square" lIns="0" tIns="0" rIns="0" bIns="0" rtlCol="0" anchor="t"/>
          <a:lstStyle/>
          <a:p>
            <a:pPr indent="0" marL="0">
              <a:buNone/>
            </a:pPr>
            <a:r>
              <a:rPr lang="en-US" sz="1200" b="1" spc="100" kern="0" dirty="0">
                <a:solidFill>
                  <a:srgbClr val="C4401F"/>
                </a:solidFill>
                <a:latin typeface="Calibri" pitchFamily="34" charset="0"/>
                <a:ea typeface="Calibri" pitchFamily="34" charset="-122"/>
                <a:cs typeface="Calibri" pitchFamily="34" charset="-120"/>
              </a:rPr>
              <a:t>CHEGARAVIY SHARTLARNING UMUMIY KO’RINISHI</a:t>
            </a:r>
            <a:endParaRPr lang="en-US" sz="1200" dirty="0"/>
          </a:p>
        </p:txBody>
      </p:sp>
      <p:pic>
        <p:nvPicPr>
          <p:cNvPr id="8" name="Chegaraviy shart" descr="Chegaraviy shart">    </p:cNvPr>
          <p:cNvPicPr>
            <a:picLocks noChangeAspect="1"/>
          </p:cNvPicPr>
          <p:nvPr/>
        </p:nvPicPr>
        <p:blipFill>
          <a:blip r:embed="rId2"/>
          <a:stretch>
            <a:fillRect/>
          </a:stretch>
        </p:blipFill>
        <p:spPr>
          <a:xfrm>
            <a:off x="777240" y="3401568"/>
            <a:ext cx="2671763" cy="685800"/>
          </a:xfrm>
          <a:prstGeom prst="rect">
            <a:avLst/>
          </a:prstGeom>
        </p:spPr>
      </p:pic>
      <p:sp>
        <p:nvSpPr>
          <p:cNvPr id="9" name="Text 5"/>
          <p:cNvSpPr txBox="1"/>
          <p:nvPr/>
        </p:nvSpPr>
        <p:spPr>
          <a:xfrm>
            <a:off x="548640" y="4389120"/>
            <a:ext cx="6766560" cy="640080"/>
          </a:xfrm>
          <a:prstGeom prst="rect">
            <a:avLst/>
          </a:prstGeom>
          <a:noFill/>
          <a:ln/>
        </p:spPr>
        <p:txBody>
          <a:bodyPr wrap="square" lIns="0" tIns="0" rIns="0" bIns="0" rtlCol="0" anchor="t"/>
          <a:lstStyle/>
          <a:p>
            <a:pPr indent="0" marL="0">
              <a:buNone/>
            </a:pPr>
            <a:r>
              <a:rPr lang="en-US" sz="1500" b="1" dirty="0">
                <a:solidFill>
                  <a:srgbClr val="16212E"/>
                </a:solidFill>
                <a:latin typeface="Calibri" pitchFamily="34" charset="0"/>
                <a:ea typeface="Calibri" pitchFamily="34" charset="-122"/>
                <a:cs typeface="Calibri" pitchFamily="34" charset="-120"/>
              </a:rPr>
              <a:t>I tur: </a:t>
            </a:r>
            <a:pPr indent="0" marL="0">
              <a:buNone/>
            </a:pPr>
            <a:r>
              <a:rPr lang="en-US" sz="1500" dirty="0">
                <a:solidFill>
                  <a:srgbClr val="16212E"/>
                </a:solidFill>
                <a:latin typeface="Calibri" pitchFamily="34" charset="0"/>
                <a:ea typeface="Calibri" pitchFamily="34" charset="-122"/>
                <a:cs typeface="Calibri" pitchFamily="34" charset="-120"/>
              </a:rPr>
              <a:t>harorat berilgan (α → ∞)   </a:t>
            </a:r>
            <a:pPr indent="0" marL="0">
              <a:buNone/>
            </a:pPr>
            <a:r>
              <a:rPr lang="en-US" sz="1500" b="1" dirty="0">
                <a:solidFill>
                  <a:srgbClr val="16212E"/>
                </a:solidFill>
                <a:latin typeface="Calibri" pitchFamily="34" charset="0"/>
                <a:ea typeface="Calibri" pitchFamily="34" charset="-122"/>
                <a:cs typeface="Calibri" pitchFamily="34" charset="-120"/>
              </a:rPr>
              <a:t>II tur: </a:t>
            </a:r>
            <a:pPr indent="0" marL="0">
              <a:buNone/>
            </a:pPr>
            <a:r>
              <a:rPr lang="en-US" sz="1500" dirty="0">
                <a:solidFill>
                  <a:srgbClr val="16212E"/>
                </a:solidFill>
                <a:latin typeface="Calibri" pitchFamily="34" charset="0"/>
                <a:ea typeface="Calibri" pitchFamily="34" charset="-122"/>
                <a:cs typeface="Calibri" pitchFamily="34" charset="-120"/>
              </a:rPr>
              <a:t>oqim berilgan (α = 0)   </a:t>
            </a:r>
            <a:pPr indent="0" marL="0">
              <a:buNone/>
            </a:pPr>
            <a:r>
              <a:rPr lang="en-US" sz="1500" b="1" dirty="0">
                <a:solidFill>
                  <a:srgbClr val="16212E"/>
                </a:solidFill>
                <a:latin typeface="Calibri" pitchFamily="34" charset="0"/>
                <a:ea typeface="Calibri" pitchFamily="34" charset="-122"/>
                <a:cs typeface="Calibri" pitchFamily="34" charset="-120"/>
              </a:rPr>
              <a:t>III tur: </a:t>
            </a:r>
            <a:pPr indent="0" marL="0">
              <a:buNone/>
            </a:pPr>
            <a:r>
              <a:rPr lang="en-US" sz="1500" dirty="0">
                <a:solidFill>
                  <a:srgbClr val="16212E"/>
                </a:solidFill>
                <a:latin typeface="Calibri" pitchFamily="34" charset="0"/>
                <a:ea typeface="Calibri" pitchFamily="34" charset="-122"/>
                <a:cs typeface="Calibri" pitchFamily="34" charset="-120"/>
              </a:rPr>
              <a:t>havo yoki suv bilan almashinuv</a:t>
            </a:r>
            <a:endParaRPr lang="en-US" sz="1500" dirty="0"/>
          </a:p>
        </p:txBody>
      </p:sp>
      <p:sp>
        <p:nvSpPr>
          <p:cNvPr id="10" name="Text 6"/>
          <p:cNvSpPr txBox="1"/>
          <p:nvPr/>
        </p:nvSpPr>
        <p:spPr>
          <a:xfrm>
            <a:off x="548640" y="5074920"/>
            <a:ext cx="6766560" cy="8229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Belgilar: u – harorat, λ – issiqlik o’tkazuvchanlik, ρc – hajmiy issiqlik sig’imi, Q – ichki manba (sement, tok, payvand yoyi), α – sirtdan issiqlik berish koeffitsienti.</a:t>
            </a:r>
            <a:endParaRPr lang="en-US" sz="1400" dirty="0"/>
          </a:p>
        </p:txBody>
      </p:sp>
      <p:sp>
        <p:nvSpPr>
          <p:cNvPr id="11" name="Text 7"/>
          <p:cNvSpPr txBox="1"/>
          <p:nvPr/>
        </p:nvSpPr>
        <p:spPr>
          <a:xfrm>
            <a:off x="7680960" y="1325880"/>
            <a:ext cx="3931920" cy="36576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Bitta tenglama – turli shakllar</a:t>
            </a:r>
            <a:endParaRPr lang="en-US" sz="1800" dirty="0"/>
          </a:p>
        </p:txBody>
      </p:sp>
      <p:sp>
        <p:nvSpPr>
          <p:cNvPr id="12" name="Tekis jism"/>
          <p:cNvSpPr/>
          <p:nvPr/>
        </p:nvSpPr>
        <p:spPr>
          <a:xfrm>
            <a:off x="7680960" y="1828800"/>
            <a:ext cx="3959352" cy="841248"/>
          </a:xfrm>
          <a:prstGeom prst="roundRect">
            <a:avLst>
              <a:gd name="adj" fmla="val 13043"/>
            </a:avLst>
          </a:prstGeom>
          <a:solidFill>
            <a:srgbClr val="E8F0FA"/>
          </a:solidFill>
          <a:ln w="12700">
            <a:solidFill>
              <a:srgbClr val="E8F0FA"/>
            </a:solidFill>
            <a:prstDash val="solid"/>
          </a:ln>
        </p:spPr>
      </p:sp>
      <p:sp>
        <p:nvSpPr>
          <p:cNvPr id="13" name="Text 9"/>
          <p:cNvSpPr txBox="1"/>
          <p:nvPr/>
        </p:nvSpPr>
        <p:spPr>
          <a:xfrm>
            <a:off x="7863840" y="1920240"/>
            <a:ext cx="3657600" cy="292608"/>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Tekis jism</a:t>
            </a:r>
            <a:endParaRPr lang="en-US" sz="1500" dirty="0"/>
          </a:p>
        </p:txBody>
      </p:sp>
      <p:sp>
        <p:nvSpPr>
          <p:cNvPr id="14" name="Text 10"/>
          <p:cNvSpPr txBox="1"/>
          <p:nvPr/>
        </p:nvSpPr>
        <p:spPr>
          <a:xfrm>
            <a:off x="7863840" y="2240280"/>
            <a:ext cx="3657600" cy="36576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devor, plita, beton, yong’indagi plita</a:t>
            </a:r>
            <a:endParaRPr lang="en-US" sz="1300" dirty="0"/>
          </a:p>
        </p:txBody>
      </p:sp>
      <p:sp>
        <p:nvSpPr>
          <p:cNvPr id="15" name="Silindr"/>
          <p:cNvSpPr/>
          <p:nvPr/>
        </p:nvSpPr>
        <p:spPr>
          <a:xfrm>
            <a:off x="7680960" y="2816352"/>
            <a:ext cx="3959352" cy="841248"/>
          </a:xfrm>
          <a:prstGeom prst="roundRect">
            <a:avLst>
              <a:gd name="adj" fmla="val 13043"/>
            </a:avLst>
          </a:prstGeom>
          <a:solidFill>
            <a:srgbClr val="E8F0FA"/>
          </a:solidFill>
          <a:ln w="12700">
            <a:solidFill>
              <a:srgbClr val="E8F0FA"/>
            </a:solidFill>
            <a:prstDash val="solid"/>
          </a:ln>
        </p:spPr>
      </p:sp>
      <p:sp>
        <p:nvSpPr>
          <p:cNvPr id="16" name="Text 12"/>
          <p:cNvSpPr txBox="1"/>
          <p:nvPr/>
        </p:nvSpPr>
        <p:spPr>
          <a:xfrm>
            <a:off x="7863840" y="2907792"/>
            <a:ext cx="3657600" cy="292608"/>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Silindr</a:t>
            </a:r>
            <a:endParaRPr lang="en-US" sz="1500" dirty="0"/>
          </a:p>
        </p:txBody>
      </p:sp>
      <p:sp>
        <p:nvSpPr>
          <p:cNvPr id="17" name="Text 13"/>
          <p:cNvSpPr txBox="1"/>
          <p:nvPr/>
        </p:nvSpPr>
        <p:spPr>
          <a:xfrm>
            <a:off x="7863840" y="3227832"/>
            <a:ext cx="3657600" cy="36576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quvur, sim, konserva bankasi</a:t>
            </a:r>
            <a:endParaRPr lang="en-US" sz="1300" dirty="0"/>
          </a:p>
        </p:txBody>
      </p:sp>
      <p:sp>
        <p:nvSpPr>
          <p:cNvPr id="18" name="Shar"/>
          <p:cNvSpPr/>
          <p:nvPr/>
        </p:nvSpPr>
        <p:spPr>
          <a:xfrm>
            <a:off x="7680960" y="3803904"/>
            <a:ext cx="3959352" cy="841248"/>
          </a:xfrm>
          <a:prstGeom prst="roundRect">
            <a:avLst>
              <a:gd name="adj" fmla="val 13043"/>
            </a:avLst>
          </a:prstGeom>
          <a:solidFill>
            <a:srgbClr val="E8F0FA"/>
          </a:solidFill>
          <a:ln w="12700">
            <a:solidFill>
              <a:srgbClr val="E8F0FA"/>
            </a:solidFill>
            <a:prstDash val="solid"/>
          </a:ln>
        </p:spPr>
      </p:sp>
      <p:sp>
        <p:nvSpPr>
          <p:cNvPr id="19" name="Text 15"/>
          <p:cNvSpPr txBox="1"/>
          <p:nvPr/>
        </p:nvSpPr>
        <p:spPr>
          <a:xfrm>
            <a:off x="7863840" y="3895344"/>
            <a:ext cx="3657600" cy="292608"/>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Shar</a:t>
            </a:r>
            <a:endParaRPr lang="en-US" sz="1500" dirty="0"/>
          </a:p>
        </p:txBody>
      </p:sp>
      <p:sp>
        <p:nvSpPr>
          <p:cNvPr id="20" name="Text 16"/>
          <p:cNvSpPr txBox="1"/>
          <p:nvPr/>
        </p:nvSpPr>
        <p:spPr>
          <a:xfrm>
            <a:off x="7863840" y="4215384"/>
            <a:ext cx="3657600" cy="36576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tuxum, donador jismlar</a:t>
            </a:r>
            <a:endParaRPr lang="en-US" sz="1300" dirty="0"/>
          </a:p>
        </p:txBody>
      </p:sp>
      <p:sp>
        <p:nvSpPr>
          <p:cNvPr id="21" name="Plastinka (2D)"/>
          <p:cNvSpPr/>
          <p:nvPr/>
        </p:nvSpPr>
        <p:spPr>
          <a:xfrm>
            <a:off x="7680960" y="4791456"/>
            <a:ext cx="3959352" cy="841248"/>
          </a:xfrm>
          <a:prstGeom prst="roundRect">
            <a:avLst>
              <a:gd name="adj" fmla="val 13043"/>
            </a:avLst>
          </a:prstGeom>
          <a:solidFill>
            <a:srgbClr val="E8F0FA"/>
          </a:solidFill>
          <a:ln w="12700">
            <a:solidFill>
              <a:srgbClr val="E8F0FA"/>
            </a:solidFill>
            <a:prstDash val="solid"/>
          </a:ln>
        </p:spPr>
      </p:sp>
      <p:sp>
        <p:nvSpPr>
          <p:cNvPr id="22" name="Text 18"/>
          <p:cNvSpPr txBox="1"/>
          <p:nvPr/>
        </p:nvSpPr>
        <p:spPr>
          <a:xfrm>
            <a:off x="7863840" y="4882896"/>
            <a:ext cx="3657600" cy="292608"/>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Plastinka (2D)</a:t>
            </a:r>
            <a:endParaRPr lang="en-US" sz="1500" dirty="0"/>
          </a:p>
        </p:txBody>
      </p:sp>
      <p:sp>
        <p:nvSpPr>
          <p:cNvPr id="23" name="Text 19"/>
          <p:cNvSpPr txBox="1"/>
          <p:nvPr/>
        </p:nvSpPr>
        <p:spPr>
          <a:xfrm>
            <a:off x="7863840" y="5202936"/>
            <a:ext cx="3657600" cy="36576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radiator, payvandlanayotgan list</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Sonli usullar: to’r, sxema va sistema</a:t>
            </a:r>
            <a:endParaRPr lang="en-US" sz="3200" dirty="0"/>
          </a:p>
        </p:txBody>
      </p:sp>
      <p:sp>
        <p:nvSpPr>
          <p:cNvPr id="3" name="Theta-sxema"/>
          <p:cNvSpPr/>
          <p:nvPr/>
        </p:nvSpPr>
        <p:spPr>
          <a:xfrm>
            <a:off x="548640" y="1325880"/>
            <a:ext cx="11091672" cy="1188720"/>
          </a:xfrm>
          <a:prstGeom prst="roundRect">
            <a:avLst>
              <a:gd name="adj" fmla="val 9231"/>
            </a:avLst>
          </a:prstGeom>
          <a:solidFill>
            <a:srgbClr val="F2F5F8"/>
          </a:solidFill>
          <a:ln w="12700">
            <a:solidFill>
              <a:srgbClr val="F2F5F8"/>
            </a:solidFill>
            <a:prstDash val="solid"/>
          </a:ln>
        </p:spPr>
      </p:sp>
      <p:sp>
        <p:nvSpPr>
          <p:cNvPr id="4" name="Text 2"/>
          <p:cNvSpPr txBox="1"/>
          <p:nvPr/>
        </p:nvSpPr>
        <p:spPr>
          <a:xfrm>
            <a:off x="777240" y="1417320"/>
            <a:ext cx="10058400" cy="274320"/>
          </a:xfrm>
          <a:prstGeom prst="rect">
            <a:avLst/>
          </a:prstGeom>
          <a:noFill/>
          <a:ln/>
        </p:spPr>
        <p:txBody>
          <a:bodyPr wrap="square" lIns="0" tIns="0" rIns="0" bIns="0" rtlCol="0" anchor="t"/>
          <a:lstStyle/>
          <a:p>
            <a:pPr indent="0" marL="0">
              <a:buNone/>
            </a:pPr>
            <a:r>
              <a:rPr lang="en-US" sz="1200" b="1" spc="100" kern="0" dirty="0">
                <a:solidFill>
                  <a:srgbClr val="C4401F"/>
                </a:solidFill>
                <a:latin typeface="Calibri" pitchFamily="34" charset="0"/>
                <a:ea typeface="Calibri" pitchFamily="34" charset="-122"/>
                <a:cs typeface="Calibri" pitchFamily="34" charset="-120"/>
              </a:rPr>
              <a:t>TO’R VA θ-SXEMA: hosilalar ayirmalar bilan almashtiriladi</a:t>
            </a:r>
            <a:endParaRPr lang="en-US" sz="1200" dirty="0"/>
          </a:p>
        </p:txBody>
      </p:sp>
      <p:pic>
        <p:nvPicPr>
          <p:cNvPr id="5" name="Theta-sxema formulasi" descr="Theta-sxema formulasi">    </p:cNvPr>
          <p:cNvPicPr>
            <a:picLocks noChangeAspect="1"/>
          </p:cNvPicPr>
          <p:nvPr/>
        </p:nvPicPr>
        <p:blipFill>
          <a:blip r:embed="rId1"/>
          <a:stretch>
            <a:fillRect/>
          </a:stretch>
        </p:blipFill>
        <p:spPr>
          <a:xfrm>
            <a:off x="777240" y="1755648"/>
            <a:ext cx="7472953" cy="685800"/>
          </a:xfrm>
          <a:prstGeom prst="rect">
            <a:avLst/>
          </a:prstGeom>
        </p:spPr>
      </p:pic>
      <p:sp>
        <p:nvSpPr>
          <p:cNvPr id="6" name="Oshkor sxema"/>
          <p:cNvSpPr/>
          <p:nvPr/>
        </p:nvSpPr>
        <p:spPr>
          <a:xfrm>
            <a:off x="548640" y="2697480"/>
            <a:ext cx="3593592" cy="1874520"/>
          </a:xfrm>
          <a:prstGeom prst="roundRect">
            <a:avLst>
              <a:gd name="adj" fmla="val 5854"/>
            </a:avLst>
          </a:prstGeom>
          <a:solidFill>
            <a:srgbClr val="F2F5F8"/>
          </a:solidFill>
          <a:ln w="12700">
            <a:solidFill>
              <a:srgbClr val="F2F5F8"/>
            </a:solidFill>
            <a:prstDash val="solid"/>
          </a:ln>
        </p:spPr>
      </p:sp>
      <p:sp>
        <p:nvSpPr>
          <p:cNvPr id="7" name="Text 4"/>
          <p:cNvSpPr txBox="1"/>
          <p:nvPr/>
        </p:nvSpPr>
        <p:spPr>
          <a:xfrm>
            <a:off x="749808" y="2816352"/>
            <a:ext cx="1097280" cy="365760"/>
          </a:xfrm>
          <a:prstGeom prst="rect">
            <a:avLst/>
          </a:prstGeom>
          <a:noFill/>
          <a:ln/>
        </p:spPr>
        <p:txBody>
          <a:bodyPr wrap="square" lIns="0" tIns="0" rIns="0" bIns="0" rtlCol="0" anchor="t"/>
          <a:lstStyle/>
          <a:p>
            <a:pPr indent="0" marL="0">
              <a:buNone/>
            </a:pPr>
            <a:r>
              <a:rPr lang="en-US" sz="1800" b="1" dirty="0">
                <a:solidFill>
                  <a:srgbClr val="B3261E"/>
                </a:solidFill>
                <a:latin typeface="Cambria" pitchFamily="34" charset="0"/>
                <a:ea typeface="Cambria" pitchFamily="34" charset="-122"/>
                <a:cs typeface="Cambria" pitchFamily="34" charset="-120"/>
              </a:rPr>
              <a:t>θ = 0</a:t>
            </a:r>
            <a:endParaRPr lang="en-US" sz="1800" dirty="0"/>
          </a:p>
        </p:txBody>
      </p:sp>
      <p:sp>
        <p:nvSpPr>
          <p:cNvPr id="8" name="Text 5"/>
          <p:cNvSpPr txBox="1"/>
          <p:nvPr/>
        </p:nvSpPr>
        <p:spPr>
          <a:xfrm>
            <a:off x="1737360" y="2834640"/>
            <a:ext cx="2286000" cy="365760"/>
          </a:xfrm>
          <a:prstGeom prst="rect">
            <a:avLst/>
          </a:prstGeom>
          <a:noFill/>
          <a:ln/>
        </p:spPr>
        <p:txBody>
          <a:bodyPr wrap="square" lIns="0" tIns="0" rIns="0" bIns="0" rtlCol="0" anchor="t"/>
          <a:lstStyle/>
          <a:p>
            <a:pPr indent="0" marL="0">
              <a:buNone/>
            </a:pPr>
            <a:r>
              <a:rPr lang="en-US" sz="1700" b="1" dirty="0">
                <a:solidFill>
                  <a:srgbClr val="16212E"/>
                </a:solidFill>
                <a:latin typeface="Calibri" pitchFamily="34" charset="0"/>
                <a:ea typeface="Calibri" pitchFamily="34" charset="-122"/>
                <a:cs typeface="Calibri" pitchFamily="34" charset="-120"/>
              </a:rPr>
              <a:t>Oshkor sxema</a:t>
            </a:r>
            <a:endParaRPr lang="en-US" sz="1700" dirty="0"/>
          </a:p>
        </p:txBody>
      </p:sp>
      <p:sp>
        <p:nvSpPr>
          <p:cNvPr id="9" name="Text 6"/>
          <p:cNvSpPr txBox="1"/>
          <p:nvPr/>
        </p:nvSpPr>
        <p:spPr>
          <a:xfrm>
            <a:off x="749808" y="3291840"/>
            <a:ext cx="3200400" cy="123444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Oddiy, sistema yechilmaydi. Lekin faqat Fo ≤ ½ da turg’un – to’r maydalansa qadam kvadratik kichrayadi.</a:t>
            </a:r>
            <a:endParaRPr lang="en-US" sz="1400" dirty="0"/>
          </a:p>
        </p:txBody>
      </p:sp>
      <p:sp>
        <p:nvSpPr>
          <p:cNvPr id="10" name="Oshkormas sxema"/>
          <p:cNvSpPr/>
          <p:nvPr/>
        </p:nvSpPr>
        <p:spPr>
          <a:xfrm>
            <a:off x="4297680" y="2697480"/>
            <a:ext cx="3593592" cy="1874520"/>
          </a:xfrm>
          <a:prstGeom prst="roundRect">
            <a:avLst>
              <a:gd name="adj" fmla="val 5854"/>
            </a:avLst>
          </a:prstGeom>
          <a:solidFill>
            <a:srgbClr val="F2F5F8"/>
          </a:solidFill>
          <a:ln w="12700">
            <a:solidFill>
              <a:srgbClr val="F2F5F8"/>
            </a:solidFill>
            <a:prstDash val="solid"/>
          </a:ln>
        </p:spPr>
      </p:sp>
      <p:sp>
        <p:nvSpPr>
          <p:cNvPr id="11" name="Text 8"/>
          <p:cNvSpPr txBox="1"/>
          <p:nvPr/>
        </p:nvSpPr>
        <p:spPr>
          <a:xfrm>
            <a:off x="4498848" y="2816352"/>
            <a:ext cx="1097280" cy="365760"/>
          </a:xfrm>
          <a:prstGeom prst="rect">
            <a:avLst/>
          </a:prstGeom>
          <a:noFill/>
          <a:ln/>
        </p:spPr>
        <p:txBody>
          <a:bodyPr wrap="square" lIns="0" tIns="0" rIns="0" bIns="0" rtlCol="0" anchor="t"/>
          <a:lstStyle/>
          <a:p>
            <a:pPr indent="0" marL="0">
              <a:buNone/>
            </a:pPr>
            <a:r>
              <a:rPr lang="en-US" sz="1800" b="1" dirty="0">
                <a:solidFill>
                  <a:srgbClr val="C77F12"/>
                </a:solidFill>
                <a:latin typeface="Cambria" pitchFamily="34" charset="0"/>
                <a:ea typeface="Cambria" pitchFamily="34" charset="-122"/>
                <a:cs typeface="Cambria" pitchFamily="34" charset="-120"/>
              </a:rPr>
              <a:t>θ = 1</a:t>
            </a:r>
            <a:endParaRPr lang="en-US" sz="1800" dirty="0"/>
          </a:p>
        </p:txBody>
      </p:sp>
      <p:sp>
        <p:nvSpPr>
          <p:cNvPr id="12" name="Text 9"/>
          <p:cNvSpPr txBox="1"/>
          <p:nvPr/>
        </p:nvSpPr>
        <p:spPr>
          <a:xfrm>
            <a:off x="5486400" y="2834640"/>
            <a:ext cx="2286000" cy="365760"/>
          </a:xfrm>
          <a:prstGeom prst="rect">
            <a:avLst/>
          </a:prstGeom>
          <a:noFill/>
          <a:ln/>
        </p:spPr>
        <p:txBody>
          <a:bodyPr wrap="square" lIns="0" tIns="0" rIns="0" bIns="0" rtlCol="0" anchor="t"/>
          <a:lstStyle/>
          <a:p>
            <a:pPr indent="0" marL="0">
              <a:buNone/>
            </a:pPr>
            <a:r>
              <a:rPr lang="en-US" sz="1700" b="1" dirty="0">
                <a:solidFill>
                  <a:srgbClr val="16212E"/>
                </a:solidFill>
                <a:latin typeface="Calibri" pitchFamily="34" charset="0"/>
                <a:ea typeface="Calibri" pitchFamily="34" charset="-122"/>
                <a:cs typeface="Calibri" pitchFamily="34" charset="-120"/>
              </a:rPr>
              <a:t>Oshkormas sxema</a:t>
            </a:r>
            <a:endParaRPr lang="en-US" sz="1700" dirty="0"/>
          </a:p>
        </p:txBody>
      </p:sp>
      <p:sp>
        <p:nvSpPr>
          <p:cNvPr id="13" name="Text 10"/>
          <p:cNvSpPr txBox="1"/>
          <p:nvPr/>
        </p:nvSpPr>
        <p:spPr>
          <a:xfrm>
            <a:off x="4498848" y="3291840"/>
            <a:ext cx="3200400" cy="123444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Istalgan qadamda turg’un. Aniqlik vaqt bo’yicha 1-tartib – katta qadamda xato sezilarli.</a:t>
            </a:r>
            <a:endParaRPr lang="en-US" sz="1400" dirty="0"/>
          </a:p>
        </p:txBody>
      </p:sp>
      <p:sp>
        <p:nvSpPr>
          <p:cNvPr id="14" name="Krank–Nikolson"/>
          <p:cNvSpPr/>
          <p:nvPr/>
        </p:nvSpPr>
        <p:spPr>
          <a:xfrm>
            <a:off x="8046720" y="2697480"/>
            <a:ext cx="3593592" cy="1874520"/>
          </a:xfrm>
          <a:prstGeom prst="roundRect">
            <a:avLst>
              <a:gd name="adj" fmla="val 5854"/>
            </a:avLst>
          </a:prstGeom>
          <a:solidFill>
            <a:srgbClr val="F2F5F8"/>
          </a:solidFill>
          <a:ln w="12700">
            <a:solidFill>
              <a:srgbClr val="F2F5F8"/>
            </a:solidFill>
            <a:prstDash val="solid"/>
          </a:ln>
        </p:spPr>
      </p:sp>
      <p:sp>
        <p:nvSpPr>
          <p:cNvPr id="15" name="Text 12"/>
          <p:cNvSpPr txBox="1"/>
          <p:nvPr/>
        </p:nvSpPr>
        <p:spPr>
          <a:xfrm>
            <a:off x="8247888" y="2816352"/>
            <a:ext cx="1097280" cy="365760"/>
          </a:xfrm>
          <a:prstGeom prst="rect">
            <a:avLst/>
          </a:prstGeom>
          <a:noFill/>
          <a:ln/>
        </p:spPr>
        <p:txBody>
          <a:bodyPr wrap="square" lIns="0" tIns="0" rIns="0" bIns="0" rtlCol="0" anchor="t"/>
          <a:lstStyle/>
          <a:p>
            <a:pPr indent="0" marL="0">
              <a:buNone/>
            </a:pPr>
            <a:r>
              <a:rPr lang="en-US" sz="1800" b="1" dirty="0">
                <a:solidFill>
                  <a:srgbClr val="1F7A4A"/>
                </a:solidFill>
                <a:latin typeface="Cambria" pitchFamily="34" charset="0"/>
                <a:ea typeface="Cambria" pitchFamily="34" charset="-122"/>
                <a:cs typeface="Cambria" pitchFamily="34" charset="-120"/>
              </a:rPr>
              <a:t>θ = ½</a:t>
            </a:r>
            <a:endParaRPr lang="en-US" sz="1800" dirty="0"/>
          </a:p>
        </p:txBody>
      </p:sp>
      <p:sp>
        <p:nvSpPr>
          <p:cNvPr id="16" name="Text 13"/>
          <p:cNvSpPr txBox="1"/>
          <p:nvPr/>
        </p:nvSpPr>
        <p:spPr>
          <a:xfrm>
            <a:off x="9235440" y="2834640"/>
            <a:ext cx="2286000" cy="365760"/>
          </a:xfrm>
          <a:prstGeom prst="rect">
            <a:avLst/>
          </a:prstGeom>
          <a:noFill/>
          <a:ln/>
        </p:spPr>
        <p:txBody>
          <a:bodyPr wrap="square" lIns="0" tIns="0" rIns="0" bIns="0" rtlCol="0" anchor="t"/>
          <a:lstStyle/>
          <a:p>
            <a:pPr indent="0" marL="0">
              <a:buNone/>
            </a:pPr>
            <a:r>
              <a:rPr lang="en-US" sz="1700" b="1" dirty="0">
                <a:solidFill>
                  <a:srgbClr val="16212E"/>
                </a:solidFill>
                <a:latin typeface="Calibri" pitchFamily="34" charset="0"/>
                <a:ea typeface="Calibri" pitchFamily="34" charset="-122"/>
                <a:cs typeface="Calibri" pitchFamily="34" charset="-120"/>
              </a:rPr>
              <a:t>Krank–Nikolson</a:t>
            </a:r>
            <a:endParaRPr lang="en-US" sz="1700" dirty="0"/>
          </a:p>
        </p:txBody>
      </p:sp>
      <p:sp>
        <p:nvSpPr>
          <p:cNvPr id="17" name="Text 14"/>
          <p:cNvSpPr txBox="1"/>
          <p:nvPr/>
        </p:nvSpPr>
        <p:spPr>
          <a:xfrm>
            <a:off x="8247888" y="3291840"/>
            <a:ext cx="3200400" cy="123444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Turg’un va 2-tartibli aniq. Boshida 2 ta oshkormas qadam (Rannacher) tebranishni so’ndiradi.</a:t>
            </a:r>
            <a:endParaRPr lang="en-US" sz="1400" dirty="0"/>
          </a:p>
        </p:txBody>
      </p:sp>
      <p:sp>
        <p:nvSpPr>
          <p:cNvPr id="18" name="Text 15"/>
          <p:cNvSpPr txBox="1"/>
          <p:nvPr/>
        </p:nvSpPr>
        <p:spPr>
          <a:xfrm>
            <a:off x="548640" y="4754880"/>
            <a:ext cx="5486400" cy="320040"/>
          </a:xfrm>
          <a:prstGeom prst="rect">
            <a:avLst/>
          </a:prstGeom>
          <a:noFill/>
          <a:ln/>
        </p:spPr>
        <p:txBody>
          <a:bodyPr wrap="square" lIns="0" tIns="0" rIns="0" bIns="0" rtlCol="0" anchor="t"/>
          <a:lstStyle/>
          <a:p>
            <a:pPr indent="0" marL="0">
              <a:buNone/>
            </a:pPr>
            <a:r>
              <a:rPr lang="en-US" sz="1600" b="1" dirty="0">
                <a:solidFill>
                  <a:srgbClr val="16212E"/>
                </a:solidFill>
                <a:latin typeface="Calibri" pitchFamily="34" charset="0"/>
                <a:ea typeface="Calibri" pitchFamily="34" charset="-122"/>
                <a:cs typeface="Calibri" pitchFamily="34" charset="-120"/>
              </a:rPr>
              <a:t>Har qadamda chiziqli sistema yechiladi:</a:t>
            </a:r>
            <a:endParaRPr lang="en-US" sz="1600" dirty="0"/>
          </a:p>
        </p:txBody>
      </p:sp>
      <p:sp>
        <p:nvSpPr>
          <p:cNvPr id="19" name="Haydash usuli (Thomas)"/>
          <p:cNvSpPr/>
          <p:nvPr/>
        </p:nvSpPr>
        <p:spPr>
          <a:xfrm>
            <a:off x="548640" y="5166360"/>
            <a:ext cx="3593592" cy="1005840"/>
          </a:xfrm>
          <a:prstGeom prst="roundRect">
            <a:avLst>
              <a:gd name="adj" fmla="val 10909"/>
            </a:avLst>
          </a:prstGeom>
          <a:solidFill>
            <a:srgbClr val="E8F0FA"/>
          </a:solidFill>
          <a:ln w="12700">
            <a:solidFill>
              <a:srgbClr val="E8F0FA"/>
            </a:solidFill>
            <a:prstDash val="solid"/>
          </a:ln>
        </p:spPr>
      </p:sp>
      <p:sp>
        <p:nvSpPr>
          <p:cNvPr id="20" name="Text 17"/>
          <p:cNvSpPr txBox="1"/>
          <p:nvPr/>
        </p:nvSpPr>
        <p:spPr>
          <a:xfrm>
            <a:off x="749808" y="5257800"/>
            <a:ext cx="3200400" cy="320040"/>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Haydash usuli (Thomas)</a:t>
            </a:r>
            <a:endParaRPr lang="en-US" sz="1500" dirty="0"/>
          </a:p>
        </p:txBody>
      </p:sp>
      <p:sp>
        <p:nvSpPr>
          <p:cNvPr id="21" name="Text 18"/>
          <p:cNvSpPr txBox="1"/>
          <p:nvPr/>
        </p:nvSpPr>
        <p:spPr>
          <a:xfrm>
            <a:off x="749808" y="5596128"/>
            <a:ext cx="3200400" cy="45720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aniq, O(N) amal, iteratsiyasiz</a:t>
            </a:r>
            <a:endParaRPr lang="en-US" sz="1300" dirty="0"/>
          </a:p>
        </p:txBody>
      </p:sp>
      <p:sp>
        <p:nvSpPr>
          <p:cNvPr id="22" name="Zeydel iteratsiyasi"/>
          <p:cNvSpPr/>
          <p:nvPr/>
        </p:nvSpPr>
        <p:spPr>
          <a:xfrm>
            <a:off x="4297680" y="5166360"/>
            <a:ext cx="3593592" cy="1005840"/>
          </a:xfrm>
          <a:prstGeom prst="roundRect">
            <a:avLst>
              <a:gd name="adj" fmla="val 10909"/>
            </a:avLst>
          </a:prstGeom>
          <a:solidFill>
            <a:srgbClr val="E8F0FA"/>
          </a:solidFill>
          <a:ln w="12700">
            <a:solidFill>
              <a:srgbClr val="E8F0FA"/>
            </a:solidFill>
            <a:prstDash val="solid"/>
          </a:ln>
        </p:spPr>
      </p:sp>
      <p:sp>
        <p:nvSpPr>
          <p:cNvPr id="23" name="Text 20"/>
          <p:cNvSpPr txBox="1"/>
          <p:nvPr/>
        </p:nvSpPr>
        <p:spPr>
          <a:xfrm>
            <a:off x="4498848" y="5257800"/>
            <a:ext cx="3200400" cy="320040"/>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Zeydel iteratsiyasi</a:t>
            </a:r>
            <a:endParaRPr lang="en-US" sz="1500" dirty="0"/>
          </a:p>
        </p:txBody>
      </p:sp>
      <p:sp>
        <p:nvSpPr>
          <p:cNvPr id="24" name="Text 21"/>
          <p:cNvSpPr txBox="1"/>
          <p:nvPr/>
        </p:nvSpPr>
        <p:spPr>
          <a:xfrm>
            <a:off x="4498848" y="5596128"/>
            <a:ext cx="3200400" cy="45720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oddiy, lekin yuzlab iteratsiya</a:t>
            </a:r>
            <a:endParaRPr lang="en-US" sz="1300" dirty="0"/>
          </a:p>
        </p:txBody>
      </p:sp>
      <p:sp>
        <p:nvSpPr>
          <p:cNvPr id="25" name="SOR (ω optimal)"/>
          <p:cNvSpPr/>
          <p:nvPr/>
        </p:nvSpPr>
        <p:spPr>
          <a:xfrm>
            <a:off x="8046720" y="5166360"/>
            <a:ext cx="3593592" cy="1005840"/>
          </a:xfrm>
          <a:prstGeom prst="roundRect">
            <a:avLst>
              <a:gd name="adj" fmla="val 10909"/>
            </a:avLst>
          </a:prstGeom>
          <a:solidFill>
            <a:srgbClr val="E8F0FA"/>
          </a:solidFill>
          <a:ln w="12700">
            <a:solidFill>
              <a:srgbClr val="E8F0FA"/>
            </a:solidFill>
            <a:prstDash val="solid"/>
          </a:ln>
        </p:spPr>
      </p:sp>
      <p:sp>
        <p:nvSpPr>
          <p:cNvPr id="26" name="Text 23"/>
          <p:cNvSpPr txBox="1"/>
          <p:nvPr/>
        </p:nvSpPr>
        <p:spPr>
          <a:xfrm>
            <a:off x="8247888" y="5257800"/>
            <a:ext cx="3200400" cy="320040"/>
          </a:xfrm>
          <a:prstGeom prst="rect">
            <a:avLst/>
          </a:prstGeom>
          <a:noFill/>
          <a:ln/>
        </p:spPr>
        <p:txBody>
          <a:bodyPr wrap="square" lIns="0" tIns="0" rIns="0" bIns="0" rtlCol="0" anchor="t"/>
          <a:lstStyle/>
          <a:p>
            <a:pPr indent="0" marL="0">
              <a:buNone/>
            </a:pPr>
            <a:r>
              <a:rPr lang="en-US" sz="1500" b="1" dirty="0">
                <a:solidFill>
                  <a:srgbClr val="1F5FA8"/>
                </a:solidFill>
                <a:latin typeface="Calibri" pitchFamily="34" charset="0"/>
                <a:ea typeface="Calibri" pitchFamily="34" charset="-122"/>
                <a:cs typeface="Calibri" pitchFamily="34" charset="-120"/>
              </a:rPr>
              <a:t>SOR (ω optimal)</a:t>
            </a:r>
            <a:endParaRPr lang="en-US" sz="1500" dirty="0"/>
          </a:p>
        </p:txBody>
      </p:sp>
      <p:sp>
        <p:nvSpPr>
          <p:cNvPr id="27" name="Text 24"/>
          <p:cNvSpPr txBox="1"/>
          <p:nvPr/>
        </p:nvSpPr>
        <p:spPr>
          <a:xfrm>
            <a:off x="8247888" y="5596128"/>
            <a:ext cx="3200400" cy="457200"/>
          </a:xfrm>
          <a:prstGeom prst="rect">
            <a:avLst/>
          </a:prstGeom>
          <a:noFill/>
          <a:ln/>
        </p:spPr>
        <p:txBody>
          <a:bodyPr wrap="square" lIns="0" tIns="0" rIns="0" bIns="0" rtlCol="0" anchor="t"/>
          <a:lstStyle/>
          <a:p>
            <a:pPr indent="0" marL="0">
              <a:buNone/>
            </a:pPr>
            <a:r>
              <a:rPr lang="en-US" sz="1300" dirty="0">
                <a:solidFill>
                  <a:srgbClr val="16212E"/>
                </a:solidFill>
                <a:latin typeface="Calibri" pitchFamily="34" charset="0"/>
                <a:ea typeface="Calibri" pitchFamily="34" charset="-122"/>
                <a:cs typeface="Calibri" pitchFamily="34" charset="-120"/>
              </a:rPr>
              <a:t>Zeydeldan tezroq, 2D uchun</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Murakkab hollar uchun maxsus usullar</a:t>
            </a:r>
            <a:endParaRPr lang="en-US" sz="3200" dirty="0"/>
          </a:p>
        </p:txBody>
      </p:sp>
      <p:sp>
        <p:nvSpPr>
          <p:cNvPr id="3" name="2D: o’zgaruvchan yo’nalishlar (ADI)"/>
          <p:cNvSpPr/>
          <p:nvPr/>
        </p:nvSpPr>
        <p:spPr>
          <a:xfrm>
            <a:off x="548640" y="1325880"/>
            <a:ext cx="5468112" cy="1938528"/>
          </a:xfrm>
          <a:prstGeom prst="roundRect">
            <a:avLst>
              <a:gd name="adj" fmla="val 5660"/>
            </a:avLst>
          </a:prstGeom>
          <a:solidFill>
            <a:srgbClr val="F2F5F8"/>
          </a:solidFill>
          <a:ln w="12700">
            <a:solidFill>
              <a:srgbClr val="F2F5F8"/>
            </a:solidFill>
            <a:prstDash val="solid"/>
          </a:ln>
        </p:spPr>
      </p:sp>
      <p:sp>
        <p:nvSpPr>
          <p:cNvPr id="4" name="Text 2"/>
          <p:cNvSpPr txBox="1"/>
          <p:nvPr/>
        </p:nvSpPr>
        <p:spPr>
          <a:xfrm>
            <a:off x="777240" y="1463040"/>
            <a:ext cx="5029200" cy="365760"/>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2D: o’zgaruvchan yo’nalishlar (ADI)</a:t>
            </a:r>
            <a:endParaRPr lang="en-US" sz="1700" dirty="0"/>
          </a:p>
        </p:txBody>
      </p:sp>
      <p:sp>
        <p:nvSpPr>
          <p:cNvPr id="5" name="Text 3"/>
          <p:cNvSpPr txBox="1"/>
          <p:nvPr/>
        </p:nvSpPr>
        <p:spPr>
          <a:xfrm>
            <a:off x="777240" y="1874520"/>
            <a:ext cx="5029200" cy="7772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Har qadam ikki yarim qadamga bo’linadi: avval x, keyin y bo’yicha oshkormas. Katta 2D sistema o’rniga kichik uch diagonalli sistemalar – iteratsiyasiz.</a:t>
            </a:r>
            <a:endParaRPr lang="en-US" sz="1400" dirty="0"/>
          </a:p>
        </p:txBody>
      </p:sp>
      <p:sp>
        <p:nvSpPr>
          <p:cNvPr id="6" name="Text 4"/>
          <p:cNvSpPr txBox="1"/>
          <p:nvPr/>
        </p:nvSpPr>
        <p:spPr>
          <a:xfrm>
            <a:off x="777240" y="2651760"/>
            <a:ext cx="5029200" cy="5486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Topilgan muammo: chegaraviy oqim yo’nalishlarga noto’g’ri bo’linsa aniqlik 2-tartibdan 1-tartibga tushadi. Tuzatildi va tekshirildi.</a:t>
            </a:r>
            <a:endParaRPr lang="en-US" sz="1300" dirty="0"/>
          </a:p>
        </p:txBody>
      </p:sp>
      <p:sp>
        <p:nvSpPr>
          <p:cNvPr id="7" name="Ko’p qatlamli jismlar: chekli hajmlar"/>
          <p:cNvSpPr/>
          <p:nvPr/>
        </p:nvSpPr>
        <p:spPr>
          <a:xfrm>
            <a:off x="6172200" y="1325880"/>
            <a:ext cx="5468112" cy="1938528"/>
          </a:xfrm>
          <a:prstGeom prst="roundRect">
            <a:avLst>
              <a:gd name="adj" fmla="val 5660"/>
            </a:avLst>
          </a:prstGeom>
          <a:solidFill>
            <a:srgbClr val="F2F5F8"/>
          </a:solidFill>
          <a:ln w="12700">
            <a:solidFill>
              <a:srgbClr val="F2F5F8"/>
            </a:solidFill>
            <a:prstDash val="solid"/>
          </a:ln>
        </p:spPr>
      </p:sp>
      <p:sp>
        <p:nvSpPr>
          <p:cNvPr id="8" name="Text 6"/>
          <p:cNvSpPr txBox="1"/>
          <p:nvPr/>
        </p:nvSpPr>
        <p:spPr>
          <a:xfrm>
            <a:off x="6400800" y="1463040"/>
            <a:ext cx="5029200" cy="365760"/>
          </a:xfrm>
          <a:prstGeom prst="rect">
            <a:avLst/>
          </a:prstGeom>
          <a:noFill/>
          <a:ln/>
        </p:spPr>
        <p:txBody>
          <a:bodyPr wrap="square" lIns="0" tIns="0" rIns="0" bIns="0" rtlCol="0" anchor="t"/>
          <a:lstStyle/>
          <a:p>
            <a:pPr indent="0" marL="0">
              <a:buNone/>
            </a:pPr>
            <a:r>
              <a:rPr lang="en-US" sz="1700" b="1" dirty="0">
                <a:solidFill>
                  <a:srgbClr val="1F7A4A"/>
                </a:solidFill>
                <a:latin typeface="Calibri" pitchFamily="34" charset="0"/>
                <a:ea typeface="Calibri" pitchFamily="34" charset="-122"/>
                <a:cs typeface="Calibri" pitchFamily="34" charset="-120"/>
              </a:rPr>
              <a:t>Ko’p qatlamli jismlar: chekli hajmlar</a:t>
            </a:r>
            <a:endParaRPr lang="en-US" sz="1700" dirty="0"/>
          </a:p>
        </p:txBody>
      </p:sp>
      <p:sp>
        <p:nvSpPr>
          <p:cNvPr id="9" name="Text 7"/>
          <p:cNvSpPr txBox="1"/>
          <p:nvPr/>
        </p:nvSpPr>
        <p:spPr>
          <a:xfrm>
            <a:off x="6400800" y="1874520"/>
            <a:ext cx="5029200" cy="7772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Devor + izolyatsiya, quvur + izolyatsiya. Qatlamlar chegarasida oqim uzluksiz; barqaror holatda natija aniq formulaga to’liq mos.</a:t>
            </a:r>
            <a:endParaRPr lang="en-US" sz="1400" dirty="0"/>
          </a:p>
        </p:txBody>
      </p:sp>
      <p:sp>
        <p:nvSpPr>
          <p:cNvPr id="10" name="Text 8"/>
          <p:cNvSpPr txBox="1"/>
          <p:nvPr/>
        </p:nvSpPr>
        <p:spPr>
          <a:xfrm>
            <a:off x="6400800" y="2651760"/>
            <a:ext cx="5029200" cy="5486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Tekis, silindrik va sferik shakllar bitta kodda.</a:t>
            </a:r>
            <a:endParaRPr lang="en-US" sz="1300" dirty="0"/>
          </a:p>
        </p:txBody>
      </p:sp>
      <p:sp>
        <p:nvSpPr>
          <p:cNvPr id="11" name="Nochiziqli: yong’indagi beton"/>
          <p:cNvSpPr/>
          <p:nvPr/>
        </p:nvSpPr>
        <p:spPr>
          <a:xfrm>
            <a:off x="548640" y="3429000"/>
            <a:ext cx="5468112" cy="1938528"/>
          </a:xfrm>
          <a:prstGeom prst="roundRect">
            <a:avLst>
              <a:gd name="adj" fmla="val 5660"/>
            </a:avLst>
          </a:prstGeom>
          <a:solidFill>
            <a:srgbClr val="F2F5F8"/>
          </a:solidFill>
          <a:ln w="12700">
            <a:solidFill>
              <a:srgbClr val="F2F5F8"/>
            </a:solidFill>
            <a:prstDash val="solid"/>
          </a:ln>
        </p:spPr>
      </p:sp>
      <p:sp>
        <p:nvSpPr>
          <p:cNvPr id="12" name="Text 10"/>
          <p:cNvSpPr txBox="1"/>
          <p:nvPr/>
        </p:nvSpPr>
        <p:spPr>
          <a:xfrm>
            <a:off x="777240" y="3566160"/>
            <a:ext cx="5029200" cy="365760"/>
          </a:xfrm>
          <a:prstGeom prst="rect">
            <a:avLst/>
          </a:prstGeom>
          <a:noFill/>
          <a:ln/>
        </p:spPr>
        <p:txBody>
          <a:bodyPr wrap="square" lIns="0" tIns="0" rIns="0" bIns="0" rtlCol="0" anchor="t"/>
          <a:lstStyle/>
          <a:p>
            <a:pPr indent="0" marL="0">
              <a:buNone/>
            </a:pPr>
            <a:r>
              <a:rPr lang="en-US" sz="1700" b="1" dirty="0">
                <a:solidFill>
                  <a:srgbClr val="B3261E"/>
                </a:solidFill>
                <a:latin typeface="Calibri" pitchFamily="34" charset="0"/>
                <a:ea typeface="Calibri" pitchFamily="34" charset="-122"/>
                <a:cs typeface="Calibri" pitchFamily="34" charset="-120"/>
              </a:rPr>
              <a:t>Nochiziqli: yong’indagi beton</a:t>
            </a:r>
            <a:endParaRPr lang="en-US" sz="1700" dirty="0"/>
          </a:p>
        </p:txBody>
      </p:sp>
      <p:sp>
        <p:nvSpPr>
          <p:cNvPr id="13" name="Text 11"/>
          <p:cNvSpPr txBox="1"/>
          <p:nvPr/>
        </p:nvSpPr>
        <p:spPr>
          <a:xfrm>
            <a:off x="777240" y="3977640"/>
            <a:ext cx="5029200" cy="7772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λ(T), c(T), ρ(T) Yevrokod 2 bo’yicha; olovdan nurlanish ∼T⁴. Har qadamda Pikar iteratsiyasi.</a:t>
            </a:r>
            <a:endParaRPr lang="en-US" sz="1400" dirty="0"/>
          </a:p>
        </p:txBody>
      </p:sp>
      <p:sp>
        <p:nvSpPr>
          <p:cNvPr id="14" name="Text 12"/>
          <p:cNvSpPr txBox="1"/>
          <p:nvPr/>
        </p:nvSpPr>
        <p:spPr>
          <a:xfrm>
            <a:off x="777240" y="4754880"/>
            <a:ext cx="5029200" cy="5486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Natija EN 1992-1-2 jadvali bilan mos.</a:t>
            </a:r>
            <a:endParaRPr lang="en-US" sz="1300" dirty="0"/>
          </a:p>
        </p:txBody>
      </p:sp>
      <p:sp>
        <p:nvSpPr>
          <p:cNvPr id="15" name="2D silindr: Nyuman ko’paytmasi"/>
          <p:cNvSpPr/>
          <p:nvPr/>
        </p:nvSpPr>
        <p:spPr>
          <a:xfrm>
            <a:off x="6172200" y="3429000"/>
            <a:ext cx="5468112" cy="1938528"/>
          </a:xfrm>
          <a:prstGeom prst="roundRect">
            <a:avLst>
              <a:gd name="adj" fmla="val 5660"/>
            </a:avLst>
          </a:prstGeom>
          <a:solidFill>
            <a:srgbClr val="F2F5F8"/>
          </a:solidFill>
          <a:ln w="12700">
            <a:solidFill>
              <a:srgbClr val="F2F5F8"/>
            </a:solidFill>
            <a:prstDash val="solid"/>
          </a:ln>
        </p:spPr>
      </p:sp>
      <p:sp>
        <p:nvSpPr>
          <p:cNvPr id="16" name="Text 14"/>
          <p:cNvSpPr txBox="1"/>
          <p:nvPr/>
        </p:nvSpPr>
        <p:spPr>
          <a:xfrm>
            <a:off x="6400800" y="3566160"/>
            <a:ext cx="5029200" cy="365760"/>
          </a:xfrm>
          <a:prstGeom prst="rect">
            <a:avLst/>
          </a:prstGeom>
          <a:noFill/>
          <a:ln/>
        </p:spPr>
        <p:txBody>
          <a:bodyPr wrap="square" lIns="0" tIns="0" rIns="0" bIns="0" rtlCol="0" anchor="t"/>
          <a:lstStyle/>
          <a:p>
            <a:pPr indent="0" marL="0">
              <a:buNone/>
            </a:pPr>
            <a:r>
              <a:rPr lang="en-US" sz="1700" b="1" dirty="0">
                <a:solidFill>
                  <a:srgbClr val="C77F12"/>
                </a:solidFill>
                <a:latin typeface="Calibri" pitchFamily="34" charset="0"/>
                <a:ea typeface="Calibri" pitchFamily="34" charset="-122"/>
                <a:cs typeface="Calibri" pitchFamily="34" charset="-120"/>
              </a:rPr>
              <a:t>2D silindr: Nyuman ko’paytmasi</a:t>
            </a:r>
            <a:endParaRPr lang="en-US" sz="1700" dirty="0"/>
          </a:p>
        </p:txBody>
      </p:sp>
      <p:sp>
        <p:nvSpPr>
          <p:cNvPr id="17" name="Text 15"/>
          <p:cNvSpPr txBox="1"/>
          <p:nvPr/>
        </p:nvSpPr>
        <p:spPr>
          <a:xfrm>
            <a:off x="6400800" y="3977640"/>
            <a:ext cx="5029200" cy="7772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Konserva bankasi = cheksiz silindr × plastinka. Ikki 1D yechimning ko’paytmasi chiziqli masalada aniq.</a:t>
            </a:r>
            <a:endParaRPr lang="en-US" sz="1400" dirty="0"/>
          </a:p>
        </p:txBody>
      </p:sp>
      <p:sp>
        <p:nvSpPr>
          <p:cNvPr id="18" name="Text 16"/>
          <p:cNvSpPr txBox="1"/>
          <p:nvPr/>
        </p:nvSpPr>
        <p:spPr>
          <a:xfrm>
            <a:off x="6400800" y="4754880"/>
            <a:ext cx="5029200" cy="548640"/>
          </a:xfrm>
          <a:prstGeom prst="rect">
            <a:avLst/>
          </a:prstGeom>
          <a:noFill/>
          <a:ln/>
        </p:spPr>
        <p:txBody>
          <a:bodyPr wrap="square" lIns="0" tIns="0" rIns="0" bIns="0" rtlCol="0" anchor="t"/>
          <a:lstStyle/>
          <a:p>
            <a:pPr indent="0" marL="0">
              <a:buNone/>
            </a:pPr>
            <a:r>
              <a:rPr lang="en-US" sz="1300" i="1" dirty="0">
                <a:solidFill>
                  <a:srgbClr val="56657A"/>
                </a:solidFill>
                <a:latin typeface="Calibri" pitchFamily="34" charset="0"/>
                <a:ea typeface="Calibri" pitchFamily="34" charset="-122"/>
                <a:cs typeface="Calibri" pitchFamily="34" charset="-120"/>
              </a:rPr>
              <a:t>Qizdirish va sovitish – superpozitsiya.</a:t>
            </a:r>
            <a:endParaRPr lang="en-US" sz="1300" dirty="0"/>
          </a:p>
        </p:txBody>
      </p:sp>
      <p:pic>
        <p:nvPicPr>
          <p:cNvPr id="19" name="ADI 1-yarim qadam" descr="ADI 1-yarim qadam">    </p:cNvPr>
          <p:cNvPicPr>
            <a:picLocks noChangeAspect="1"/>
          </p:cNvPicPr>
          <p:nvPr/>
        </p:nvPicPr>
        <p:blipFill>
          <a:blip r:embed="rId1"/>
          <a:stretch>
            <a:fillRect/>
          </a:stretch>
        </p:blipFill>
        <p:spPr>
          <a:xfrm>
            <a:off x="777240" y="5623560"/>
            <a:ext cx="1898469" cy="502920"/>
          </a:xfrm>
          <a:prstGeom prst="rect">
            <a:avLst/>
          </a:prstGeom>
        </p:spPr>
      </p:pic>
      <p:pic>
        <p:nvPicPr>
          <p:cNvPr id="20" name="ADI 2-yarim qadam" descr="ADI 2-yarim qadam">    </p:cNvPr>
          <p:cNvPicPr>
            <a:picLocks noChangeAspect="1"/>
          </p:cNvPicPr>
          <p:nvPr/>
        </p:nvPicPr>
        <p:blipFill>
          <a:blip r:embed="rId2"/>
          <a:stretch>
            <a:fillRect/>
          </a:stretch>
        </p:blipFill>
        <p:spPr>
          <a:xfrm>
            <a:off x="3657600" y="5623560"/>
            <a:ext cx="2325189" cy="502920"/>
          </a:xfrm>
          <a:prstGeom prst="rect">
            <a:avLst/>
          </a:prstGeom>
        </p:spPr>
      </p:pic>
      <p:sp>
        <p:nvSpPr>
          <p:cNvPr id="21" name="Text 17"/>
          <p:cNvSpPr txBox="1"/>
          <p:nvPr/>
        </p:nvSpPr>
        <p:spPr>
          <a:xfrm>
            <a:off x="6949440" y="5715000"/>
            <a:ext cx="3657600" cy="365760"/>
          </a:xfrm>
          <a:prstGeom prst="rect">
            <a:avLst/>
          </a:prstGeom>
          <a:noFill/>
          <a:ln/>
        </p:spPr>
        <p:txBody>
          <a:bodyPr wrap="square" lIns="0" tIns="0" rIns="0" bIns="0" rtlCol="0" anchor="t"/>
          <a:lstStyle/>
          <a:p>
            <a:pPr indent="0" marL="0">
              <a:buNone/>
            </a:pPr>
            <a:r>
              <a:rPr lang="en-US" sz="1400" i="1" dirty="0">
                <a:solidFill>
                  <a:srgbClr val="56657A"/>
                </a:solidFill>
                <a:latin typeface="Calibri" pitchFamily="34" charset="0"/>
                <a:ea typeface="Calibri" pitchFamily="34" charset="-122"/>
                <a:cs typeface="Calibri" pitchFamily="34" charset="-120"/>
              </a:rPr>
              <a:t>Pisman–Rekford sxemasi</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Bitta masala – olti usul: 30 soniyalik tajriba</a:t>
            </a:r>
            <a:endParaRPr lang="en-US" sz="3200" dirty="0"/>
          </a:p>
        </p:txBody>
      </p:sp>
      <p:pic>
        <p:nvPicPr>
          <p:cNvPr id="3" name="Usullar videosi">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280160"/>
            <a:ext cx="7955280" cy="4474845"/>
          </a:xfrm>
          <a:prstGeom prst="rect">
            <a:avLst/>
          </a:prstGeom>
        </p:spPr>
      </p:pic>
      <p:sp>
        <p:nvSpPr>
          <p:cNvPr id="4" name="Text 1"/>
          <p:cNvSpPr txBox="1"/>
          <p:nvPr/>
        </p:nvSpPr>
        <p:spPr>
          <a:xfrm>
            <a:off x="8823960" y="1280160"/>
            <a:ext cx="2834640" cy="36576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Tajriba sharti</a:t>
            </a:r>
            <a:endParaRPr lang="en-US" sz="1800" dirty="0"/>
          </a:p>
        </p:txBody>
      </p:sp>
      <p:sp>
        <p:nvSpPr>
          <p:cNvPr id="5" name="Text 2"/>
          <p:cNvSpPr txBox="1"/>
          <p:nvPr/>
        </p:nvSpPr>
        <p:spPr>
          <a:xfrm>
            <a:off x="8823960" y="1737360"/>
            <a:ext cx="2834640" cy="23774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Po’lat sterjen 20 sm, uchlari 0 °C, 10 daqiqa</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Aniq yechim ma’lum – xato o’lchanadi</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Talab: xato ≤ 0.05 °C</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Eng maqbul = talabni eng tez bajargan usul</a:t>
            </a:r>
            <a:endParaRPr lang="en-US" sz="1500" dirty="0"/>
          </a:p>
        </p:txBody>
      </p:sp>
      <p:sp>
        <p:nvSpPr>
          <p:cNvPr id="6" name="Video natijasi"/>
          <p:cNvSpPr/>
          <p:nvPr/>
        </p:nvSpPr>
        <p:spPr>
          <a:xfrm>
            <a:off x="8823960" y="4297680"/>
            <a:ext cx="2816352" cy="1463040"/>
          </a:xfrm>
          <a:prstGeom prst="roundRect">
            <a:avLst>
              <a:gd name="adj" fmla="val 7500"/>
            </a:avLst>
          </a:prstGeom>
          <a:solidFill>
            <a:srgbClr val="E7F4EC"/>
          </a:solidFill>
          <a:ln w="12700">
            <a:solidFill>
              <a:srgbClr val="E7F4EC"/>
            </a:solidFill>
            <a:prstDash val="solid"/>
          </a:ln>
        </p:spPr>
      </p:sp>
      <p:sp>
        <p:nvSpPr>
          <p:cNvPr id="7" name="Text 4"/>
          <p:cNvSpPr txBox="1"/>
          <p:nvPr/>
        </p:nvSpPr>
        <p:spPr>
          <a:xfrm>
            <a:off x="9006840" y="4407408"/>
            <a:ext cx="2514600" cy="128016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Oshkor sxema katta qadamda “portlaydi”. Oshkormas sxema aniq emas. Krank–Nikolson + haydash – aniq va eng tez.</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Eng maqbul usul: 1D da Krank–Nikolson, 2D da ADI</a:t>
            </a:r>
            <a:endParaRPr lang="en-US" sz="3200" dirty="0"/>
          </a:p>
        </p:txBody>
      </p:sp>
      <p:graphicFrame>
        <p:nvGraphicFramePr>
          <p:cNvPr id="3" name="Chart 0" descr=""/>
          <p:cNvGraphicFramePr/>
          <p:nvPr/>
        </p:nvGraphicFramePr>
        <p:xfrm>
          <a:off x="548640" y="1325880"/>
          <a:ext cx="6035040" cy="38404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5257800"/>
            <a:ext cx="6035040" cy="68580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Yashil – talab bajarildi (xato ≤ 0.05 °C), sariq – xato katta (0.45 °C). Oshkor sxema katta qadamda portladi (diagrammada yo’q).</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949440" y="1325880"/>
          <a:ext cx="4690872" cy="914400"/>
        </p:xfrm>
        <a:graphic>
          <a:graphicData uri="http://schemas.openxmlformats.org/drawingml/2006/table">
            <a:tbl>
              <a:tblPr/>
              <a:tblGrid>
                <a:gridCol w="2404872"/>
                <a:gridCol w="1143000"/>
                <a:gridCol w="1143000"/>
              </a:tblGrid>
              <a:tr h="384048">
                <a:tc>
                  <a:txBody>
                    <a:bodyPr/>
                    <a:lstStyle/>
                    <a:p>
                      <a:pPr indent="0" marL="0">
                        <a:buNone/>
                      </a:pPr>
                      <a:r>
                        <a:rPr lang="en-US" sz="1400" b="1" dirty="0">
                          <a:solidFill>
                            <a:srgbClr val="1B2A3A"/>
                          </a:solidFill>
                          <a:latin typeface="Calibri" pitchFamily="34" charset="0"/>
                          <a:ea typeface="Calibri" pitchFamily="34" charset="-122"/>
                          <a:cs typeface="Calibri" pitchFamily="34" charset="-120"/>
                        </a:rPr>
                        <a:t>2D usul</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indent="0" marL="0">
                        <a:buNone/>
                      </a:pPr>
                      <a:r>
                        <a:rPr lang="en-US" sz="1400" b="1" dirty="0">
                          <a:solidFill>
                            <a:srgbClr val="1B2A3A"/>
                          </a:solidFill>
                          <a:latin typeface="Calibri" pitchFamily="34" charset="0"/>
                          <a:ea typeface="Calibri" pitchFamily="34" charset="-122"/>
                          <a:cs typeface="Calibri" pitchFamily="34" charset="-120"/>
                        </a:rPr>
                        <a:t>Xato, °C</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indent="0" marL="0">
                        <a:buNone/>
                      </a:pPr>
                      <a:r>
                        <a:rPr lang="en-US" sz="1400" b="1" dirty="0">
                          <a:solidFill>
                            <a:srgbClr val="1B2A3A"/>
                          </a:solidFill>
                          <a:latin typeface="Calibri" pitchFamily="34" charset="0"/>
                          <a:ea typeface="Calibri" pitchFamily="34" charset="-122"/>
                          <a:cs typeface="Calibri" pitchFamily="34" charset="-120"/>
                        </a:rPr>
                        <a:t>Vaqt, ms</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r>
              <a:tr h="384048">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Oshkor, katta qadam</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B3261E"/>
                          </a:solidFill>
                          <a:latin typeface="Calibri" pitchFamily="34" charset="0"/>
                          <a:ea typeface="Calibri" pitchFamily="34" charset="-122"/>
                          <a:cs typeface="Calibri" pitchFamily="34" charset="-120"/>
                        </a:rPr>
                        <a:t>portladi</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Oshkor, kichik qadam</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0.006</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116</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Oshkormas + SOR</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C77F12"/>
                          </a:solidFill>
                          <a:latin typeface="Calibri" pitchFamily="34" charset="0"/>
                          <a:ea typeface="Calibri" pitchFamily="34" charset="-122"/>
                          <a:cs typeface="Calibri" pitchFamily="34" charset="-120"/>
                        </a:rPr>
                        <a:t>0.236</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207</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Krank–Nikolson + SOR</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0.008</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dirty="0">
                          <a:solidFill>
                            <a:srgbClr val="16212E"/>
                          </a:solidFill>
                          <a:latin typeface="Calibri" pitchFamily="34" charset="0"/>
                          <a:ea typeface="Calibri" pitchFamily="34" charset="-122"/>
                          <a:cs typeface="Calibri" pitchFamily="34" charset="-120"/>
                        </a:rPr>
                        <a:t>245</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indent="0" marL="0">
                        <a:buNone/>
                      </a:pPr>
                      <a:r>
                        <a:rPr lang="en-US" sz="1400" b="1" dirty="0">
                          <a:solidFill>
                            <a:srgbClr val="1F7A4A"/>
                          </a:solidFill>
                          <a:latin typeface="Calibri" pitchFamily="34" charset="0"/>
                          <a:ea typeface="Calibri" pitchFamily="34" charset="-122"/>
                          <a:cs typeface="Calibri" pitchFamily="34" charset="-120"/>
                        </a:rPr>
                        <a:t>ADI + haydash</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b="1" dirty="0">
                          <a:solidFill>
                            <a:srgbClr val="16212E"/>
                          </a:solidFill>
                          <a:latin typeface="Calibri" pitchFamily="34" charset="0"/>
                          <a:ea typeface="Calibri" pitchFamily="34" charset="-122"/>
                          <a:cs typeface="Calibri" pitchFamily="34" charset="-120"/>
                        </a:rPr>
                        <a:t>0.010</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indent="0" marL="0">
                        <a:buNone/>
                      </a:pPr>
                      <a:r>
                        <a:rPr lang="en-US" sz="1400" b="1" dirty="0">
                          <a:solidFill>
                            <a:srgbClr val="16212E"/>
                          </a:solidFill>
                          <a:latin typeface="Calibri" pitchFamily="34" charset="0"/>
                          <a:ea typeface="Calibri" pitchFamily="34" charset="-122"/>
                          <a:cs typeface="Calibri" pitchFamily="34" charset="-120"/>
                        </a:rPr>
                        <a:t>37</a:t>
                      </a:r>
                      <a:endParaRPr lang="en-US" sz="1400" dirty="0">
                        <a:latin typeface="Calibri" charset="0"/>
                        <a:ea typeface="Calibri" charset="0"/>
                        <a:cs typeface="Calibri" charset="0"/>
                      </a:endParaRPr>
                    </a:p>
                  </a:txBody>
                  <a:tcPr marL="91440" marR="91440" marT="36576" marB="36576"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bl>
          </a:graphicData>
        </a:graphic>
      </p:graphicFrame>
      <p:sp>
        <p:nvSpPr>
          <p:cNvPr id="6" name="Sabab"/>
          <p:cNvSpPr/>
          <p:nvPr/>
        </p:nvSpPr>
        <p:spPr>
          <a:xfrm>
            <a:off x="6949440" y="4206240"/>
            <a:ext cx="4690872" cy="1737360"/>
          </a:xfrm>
          <a:prstGeom prst="roundRect">
            <a:avLst>
              <a:gd name="adj" fmla="val 6316"/>
            </a:avLst>
          </a:prstGeom>
          <a:solidFill>
            <a:srgbClr val="E7F4EC"/>
          </a:solidFill>
          <a:ln w="12700">
            <a:solidFill>
              <a:srgbClr val="E7F4EC"/>
            </a:solidFill>
            <a:prstDash val="solid"/>
          </a:ln>
        </p:spPr>
      </p:sp>
      <p:sp>
        <p:nvSpPr>
          <p:cNvPr id="7" name="Text 3"/>
          <p:cNvSpPr txBox="1"/>
          <p:nvPr/>
        </p:nvSpPr>
        <p:spPr>
          <a:xfrm>
            <a:off x="7178040" y="4315968"/>
            <a:ext cx="4297680" cy="1554480"/>
          </a:xfrm>
          <a:prstGeom prst="rect">
            <a:avLst/>
          </a:prstGeom>
          <a:noFill/>
          <a:ln/>
        </p:spPr>
        <p:txBody>
          <a:bodyPr wrap="square" lIns="0" tIns="0" rIns="0" bIns="0" rtlCol="0" anchor="t"/>
          <a:lstStyle/>
          <a:p>
            <a:pPr indent="0" marL="0">
              <a:spcAft>
                <a:spcPts val="300"/>
              </a:spcAft>
              <a:buNone/>
            </a:pPr>
            <a:r>
              <a:rPr lang="en-US" sz="1400" b="1" dirty="0">
                <a:solidFill>
                  <a:srgbClr val="16212E"/>
                </a:solidFill>
                <a:latin typeface="Calibri" pitchFamily="34" charset="0"/>
                <a:ea typeface="Calibri" pitchFamily="34" charset="-122"/>
                <a:cs typeface="Calibri" pitchFamily="34" charset="-120"/>
              </a:rPr>
              <a:t>Nega aynan shular?</a:t>
            </a:r>
            <a:endParaRPr lang="en-US" sz="1400" dirty="0"/>
          </a:p>
          <a:p>
            <a:pPr marL="342900" indent="-342900">
              <a:spcAft>
                <a:spcPts val="300"/>
              </a:spcAft>
              <a:buSzPct val="100000"/>
              <a:buChar char="•"/>
            </a:pPr>
            <a:r>
              <a:rPr lang="en-US" sz="1400" dirty="0">
                <a:solidFill>
                  <a:srgbClr val="16212E"/>
                </a:solidFill>
                <a:latin typeface="Calibri" pitchFamily="34" charset="0"/>
                <a:ea typeface="Calibri" pitchFamily="34" charset="-122"/>
                <a:cs typeface="Calibri" pitchFamily="34" charset="-120"/>
              </a:rPr>
              <a:t>istalgan qadamda turg’un</a:t>
            </a:r>
            <a:endParaRPr lang="en-US" sz="1400" dirty="0"/>
          </a:p>
          <a:p>
            <a:pPr marL="342900" indent="-342900">
              <a:spcAft>
                <a:spcPts val="300"/>
              </a:spcAft>
              <a:buSzPct val="100000"/>
              <a:buChar char="•"/>
            </a:pPr>
            <a:r>
              <a:rPr lang="en-US" sz="1400" dirty="0">
                <a:solidFill>
                  <a:srgbClr val="16212E"/>
                </a:solidFill>
                <a:latin typeface="Calibri" pitchFamily="34" charset="0"/>
                <a:ea typeface="Calibri" pitchFamily="34" charset="-122"/>
                <a:cs typeface="Calibri" pitchFamily="34" charset="-120"/>
              </a:rPr>
              <a:t>2-tartibli aniq – oshkormasdan 31 marta aniqroq</a:t>
            </a:r>
            <a:endParaRPr lang="en-US" sz="1400" dirty="0"/>
          </a:p>
          <a:p>
            <a:pPr marL="342900" indent="-342900">
              <a:spcAft>
                <a:spcPts val="300"/>
              </a:spcAft>
              <a:buSzPct val="100000"/>
              <a:buChar char="•"/>
            </a:pPr>
            <a:r>
              <a:rPr lang="en-US" sz="1400" dirty="0">
                <a:solidFill>
                  <a:srgbClr val="16212E"/>
                </a:solidFill>
                <a:latin typeface="Calibri" pitchFamily="34" charset="0"/>
                <a:ea typeface="Calibri" pitchFamily="34" charset="-122"/>
                <a:cs typeface="Calibri" pitchFamily="34" charset="-120"/>
              </a:rPr>
              <a:t>iteratsiyasiz: 1D da Zeydeldan 69, 2D da SOR dan 6 marta tez</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Sakkiz amaliy soha – savol sohaning o’z tilida</a:t>
            </a:r>
            <a:endParaRPr lang="en-US" sz="3200" dirty="0"/>
          </a:p>
        </p:txBody>
      </p:sp>
      <p:sp>
        <p:nvSpPr>
          <p:cNvPr id="3" name="Uy devori"/>
          <p:cNvSpPr/>
          <p:nvPr/>
        </p:nvSpPr>
        <p:spPr>
          <a:xfrm>
            <a:off x="548640" y="1325880"/>
            <a:ext cx="2633472" cy="2240280"/>
          </a:xfrm>
          <a:prstGeom prst="roundRect">
            <a:avLst>
              <a:gd name="adj" fmla="val 4898"/>
            </a:avLst>
          </a:prstGeom>
          <a:solidFill>
            <a:srgbClr val="F2F5F8"/>
          </a:solidFill>
          <a:ln w="12700">
            <a:solidFill>
              <a:srgbClr val="F2F5F8"/>
            </a:solidFill>
            <a:prstDash val="solid"/>
          </a:ln>
        </p:spPr>
      </p:sp>
      <p:sp>
        <p:nvSpPr>
          <p:cNvPr id="4" name="Shape 2"/>
          <p:cNvSpPr/>
          <p:nvPr/>
        </p:nvSpPr>
        <p:spPr>
          <a:xfrm>
            <a:off x="749808" y="1508760"/>
            <a:ext cx="1417320" cy="329184"/>
          </a:xfrm>
          <a:prstGeom prst="roundRect">
            <a:avLst>
              <a:gd name="adj" fmla="val 22222"/>
            </a:avLst>
          </a:prstGeom>
          <a:solidFill>
            <a:srgbClr val="FDF3E1"/>
          </a:solidFill>
          <a:ln w="12700">
            <a:solidFill>
              <a:srgbClr val="FDF3E1"/>
            </a:solidFill>
            <a:prstDash val="solid"/>
          </a:ln>
        </p:spPr>
      </p:sp>
      <p:sp>
        <p:nvSpPr>
          <p:cNvPr id="5" name="Text 3"/>
          <p:cNvSpPr txBox="1"/>
          <p:nvPr/>
        </p:nvSpPr>
        <p:spPr>
          <a:xfrm>
            <a:off x="749808" y="150876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a:t>
            </a:r>
            <a:endParaRPr lang="en-US" sz="1200" dirty="0"/>
          </a:p>
        </p:txBody>
      </p:sp>
      <p:sp>
        <p:nvSpPr>
          <p:cNvPr id="6" name="Text 4"/>
          <p:cNvSpPr txBox="1"/>
          <p:nvPr/>
        </p:nvSpPr>
        <p:spPr>
          <a:xfrm>
            <a:off x="749808" y="196596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Uy devori</a:t>
            </a:r>
            <a:endParaRPr lang="en-US" sz="1800" dirty="0"/>
          </a:p>
        </p:txBody>
      </p:sp>
      <p:sp>
        <p:nvSpPr>
          <p:cNvPr id="7" name="Text 5"/>
          <p:cNvSpPr txBox="1"/>
          <p:nvPr/>
        </p:nvSpPr>
        <p:spPr>
          <a:xfrm>
            <a:off x="749808" y="242316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38 sm g’isht: 42.8 W/m². Tavsiya: 7 sm penoplast.</a:t>
            </a:r>
            <a:endParaRPr lang="en-US" sz="1400" dirty="0"/>
          </a:p>
        </p:txBody>
      </p:sp>
      <p:sp>
        <p:nvSpPr>
          <p:cNvPr id="8" name="Issiq suv quvuri"/>
          <p:cNvSpPr/>
          <p:nvPr/>
        </p:nvSpPr>
        <p:spPr>
          <a:xfrm>
            <a:off x="3364992" y="1325880"/>
            <a:ext cx="2633472" cy="2240280"/>
          </a:xfrm>
          <a:prstGeom prst="roundRect">
            <a:avLst>
              <a:gd name="adj" fmla="val 4898"/>
            </a:avLst>
          </a:prstGeom>
          <a:solidFill>
            <a:srgbClr val="F2F5F8"/>
          </a:solidFill>
          <a:ln w="12700">
            <a:solidFill>
              <a:srgbClr val="F2F5F8"/>
            </a:solidFill>
            <a:prstDash val="solid"/>
          </a:ln>
        </p:spPr>
      </p:sp>
      <p:sp>
        <p:nvSpPr>
          <p:cNvPr id="9" name="Shape 7"/>
          <p:cNvSpPr/>
          <p:nvPr/>
        </p:nvSpPr>
        <p:spPr>
          <a:xfrm>
            <a:off x="3566160" y="1508760"/>
            <a:ext cx="1417320" cy="329184"/>
          </a:xfrm>
          <a:prstGeom prst="roundRect">
            <a:avLst>
              <a:gd name="adj" fmla="val 22222"/>
            </a:avLst>
          </a:prstGeom>
          <a:solidFill>
            <a:srgbClr val="FDF3E1"/>
          </a:solidFill>
          <a:ln w="12700">
            <a:solidFill>
              <a:srgbClr val="FDF3E1"/>
            </a:solidFill>
            <a:prstDash val="solid"/>
          </a:ln>
        </p:spPr>
      </p:sp>
      <p:sp>
        <p:nvSpPr>
          <p:cNvPr id="10" name="Text 8"/>
          <p:cNvSpPr txBox="1"/>
          <p:nvPr/>
        </p:nvSpPr>
        <p:spPr>
          <a:xfrm>
            <a:off x="3566160" y="150876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 silindr</a:t>
            </a:r>
            <a:endParaRPr lang="en-US" sz="1200" dirty="0"/>
          </a:p>
        </p:txBody>
      </p:sp>
      <p:sp>
        <p:nvSpPr>
          <p:cNvPr id="11" name="Text 9"/>
          <p:cNvSpPr txBox="1"/>
          <p:nvPr/>
        </p:nvSpPr>
        <p:spPr>
          <a:xfrm>
            <a:off x="3566160" y="196596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Issiq suv quvuri</a:t>
            </a:r>
            <a:endParaRPr lang="en-US" sz="1800" dirty="0"/>
          </a:p>
        </p:txBody>
      </p:sp>
      <p:sp>
        <p:nvSpPr>
          <p:cNvPr id="12" name="Text 10"/>
          <p:cNvSpPr txBox="1"/>
          <p:nvPr/>
        </p:nvSpPr>
        <p:spPr>
          <a:xfrm>
            <a:off x="3566160" y="242316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Izolyatsiyasiz 381 W/m, 50 mm paxta bilan 27.7 W/m.</a:t>
            </a:r>
            <a:endParaRPr lang="en-US" sz="1400" dirty="0"/>
          </a:p>
        </p:txBody>
      </p:sp>
      <p:sp>
        <p:nvSpPr>
          <p:cNvPr id="13" name="Tuxum qaynatish"/>
          <p:cNvSpPr/>
          <p:nvPr/>
        </p:nvSpPr>
        <p:spPr>
          <a:xfrm>
            <a:off x="6181344" y="1325880"/>
            <a:ext cx="2633472" cy="2240280"/>
          </a:xfrm>
          <a:prstGeom prst="roundRect">
            <a:avLst>
              <a:gd name="adj" fmla="val 4898"/>
            </a:avLst>
          </a:prstGeom>
          <a:solidFill>
            <a:srgbClr val="F2F5F8"/>
          </a:solidFill>
          <a:ln w="12700">
            <a:solidFill>
              <a:srgbClr val="F2F5F8"/>
            </a:solidFill>
            <a:prstDash val="solid"/>
          </a:ln>
        </p:spPr>
      </p:sp>
      <p:sp>
        <p:nvSpPr>
          <p:cNvPr id="14" name="Shape 12"/>
          <p:cNvSpPr/>
          <p:nvPr/>
        </p:nvSpPr>
        <p:spPr>
          <a:xfrm>
            <a:off x="6382512" y="1508760"/>
            <a:ext cx="1417320" cy="329184"/>
          </a:xfrm>
          <a:prstGeom prst="roundRect">
            <a:avLst>
              <a:gd name="adj" fmla="val 22222"/>
            </a:avLst>
          </a:prstGeom>
          <a:solidFill>
            <a:srgbClr val="FDF3E1"/>
          </a:solidFill>
          <a:ln w="12700">
            <a:solidFill>
              <a:srgbClr val="FDF3E1"/>
            </a:solidFill>
            <a:prstDash val="solid"/>
          </a:ln>
        </p:spPr>
      </p:sp>
      <p:sp>
        <p:nvSpPr>
          <p:cNvPr id="15" name="Text 13"/>
          <p:cNvSpPr txBox="1"/>
          <p:nvPr/>
        </p:nvSpPr>
        <p:spPr>
          <a:xfrm>
            <a:off x="6382512" y="150876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 shar</a:t>
            </a:r>
            <a:endParaRPr lang="en-US" sz="1200" dirty="0"/>
          </a:p>
        </p:txBody>
      </p:sp>
      <p:sp>
        <p:nvSpPr>
          <p:cNvPr id="16" name="Text 14"/>
          <p:cNvSpPr txBox="1"/>
          <p:nvPr/>
        </p:nvSpPr>
        <p:spPr>
          <a:xfrm>
            <a:off x="6382512" y="196596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Tuxum qaynatish</a:t>
            </a:r>
            <a:endParaRPr lang="en-US" sz="1800" dirty="0"/>
          </a:p>
        </p:txBody>
      </p:sp>
      <p:sp>
        <p:nvSpPr>
          <p:cNvPr id="17" name="Text 15"/>
          <p:cNvSpPr txBox="1"/>
          <p:nvPr/>
        </p:nvSpPr>
        <p:spPr>
          <a:xfrm>
            <a:off x="6382512" y="242316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O’rtacha pishishi: 8.7 daqiqa (muzlatkichdan).</a:t>
            </a:r>
            <a:endParaRPr lang="en-US" sz="1400" dirty="0"/>
          </a:p>
        </p:txBody>
      </p:sp>
      <p:sp>
        <p:nvSpPr>
          <p:cNvPr id="18" name="Protsessor radiatori"/>
          <p:cNvSpPr/>
          <p:nvPr/>
        </p:nvSpPr>
        <p:spPr>
          <a:xfrm>
            <a:off x="8997696" y="1325880"/>
            <a:ext cx="2633472" cy="2240280"/>
          </a:xfrm>
          <a:prstGeom prst="roundRect">
            <a:avLst>
              <a:gd name="adj" fmla="val 4898"/>
            </a:avLst>
          </a:prstGeom>
          <a:solidFill>
            <a:srgbClr val="F2F5F8"/>
          </a:solidFill>
          <a:ln w="12700">
            <a:solidFill>
              <a:srgbClr val="F2F5F8"/>
            </a:solidFill>
            <a:prstDash val="solid"/>
          </a:ln>
        </p:spPr>
      </p:sp>
      <p:sp>
        <p:nvSpPr>
          <p:cNvPr id="19" name="Shape 17"/>
          <p:cNvSpPr/>
          <p:nvPr/>
        </p:nvSpPr>
        <p:spPr>
          <a:xfrm>
            <a:off x="9198864" y="1508760"/>
            <a:ext cx="1417320" cy="329184"/>
          </a:xfrm>
          <a:prstGeom prst="roundRect">
            <a:avLst>
              <a:gd name="adj" fmla="val 22222"/>
            </a:avLst>
          </a:prstGeom>
          <a:solidFill>
            <a:srgbClr val="E8F0FA"/>
          </a:solidFill>
          <a:ln w="12700">
            <a:solidFill>
              <a:srgbClr val="E8F0FA"/>
            </a:solidFill>
            <a:prstDash val="solid"/>
          </a:ln>
        </p:spPr>
      </p:sp>
      <p:sp>
        <p:nvSpPr>
          <p:cNvPr id="20" name="Text 18"/>
          <p:cNvSpPr txBox="1"/>
          <p:nvPr/>
        </p:nvSpPr>
        <p:spPr>
          <a:xfrm>
            <a:off x="9198864" y="1508760"/>
            <a:ext cx="1417320" cy="329184"/>
          </a:xfrm>
          <a:prstGeom prst="rect">
            <a:avLst/>
          </a:prstGeom>
          <a:noFill/>
          <a:ln/>
        </p:spPr>
        <p:txBody>
          <a:bodyPr wrap="square" lIns="0" tIns="0" rIns="0" bIns="0" rtlCol="0" anchor="ctr"/>
          <a:lstStyle/>
          <a:p>
            <a:pPr algn="ctr" indent="0" marL="0">
              <a:buNone/>
            </a:pPr>
            <a:r>
              <a:rPr lang="en-US" sz="1200" b="1" dirty="0">
                <a:solidFill>
                  <a:srgbClr val="1F5FA8"/>
                </a:solidFill>
                <a:latin typeface="Calibri" pitchFamily="34" charset="0"/>
                <a:ea typeface="Calibri" pitchFamily="34" charset="-122"/>
                <a:cs typeface="Calibri" pitchFamily="34" charset="-120"/>
              </a:rPr>
              <a:t>2D</a:t>
            </a:r>
            <a:endParaRPr lang="en-US" sz="1200" dirty="0"/>
          </a:p>
        </p:txBody>
      </p:sp>
      <p:sp>
        <p:nvSpPr>
          <p:cNvPr id="21" name="Text 19"/>
          <p:cNvSpPr txBox="1"/>
          <p:nvPr/>
        </p:nvSpPr>
        <p:spPr>
          <a:xfrm>
            <a:off x="9198864" y="196596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Protsessor radiatori</a:t>
            </a:r>
            <a:endParaRPr lang="en-US" sz="1800" dirty="0"/>
          </a:p>
        </p:txBody>
      </p:sp>
      <p:sp>
        <p:nvSpPr>
          <p:cNvPr id="22" name="Text 20"/>
          <p:cNvSpPr txBox="1"/>
          <p:nvPr/>
        </p:nvSpPr>
        <p:spPr>
          <a:xfrm>
            <a:off x="9198864" y="242316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65 W → 88 °C. 56 W gacha 80 °C dan oshmaydi.</a:t>
            </a:r>
            <a:endParaRPr lang="en-US" sz="1400" dirty="0"/>
          </a:p>
        </p:txBody>
      </p:sp>
      <p:sp>
        <p:nvSpPr>
          <p:cNvPr id="23" name="Payvand choki"/>
          <p:cNvSpPr/>
          <p:nvPr/>
        </p:nvSpPr>
        <p:spPr>
          <a:xfrm>
            <a:off x="548640" y="3749040"/>
            <a:ext cx="2633472" cy="2240280"/>
          </a:xfrm>
          <a:prstGeom prst="roundRect">
            <a:avLst>
              <a:gd name="adj" fmla="val 4898"/>
            </a:avLst>
          </a:prstGeom>
          <a:solidFill>
            <a:srgbClr val="F2F5F8"/>
          </a:solidFill>
          <a:ln w="12700">
            <a:solidFill>
              <a:srgbClr val="F2F5F8"/>
            </a:solidFill>
            <a:prstDash val="solid"/>
          </a:ln>
        </p:spPr>
      </p:sp>
      <p:sp>
        <p:nvSpPr>
          <p:cNvPr id="24" name="Shape 22"/>
          <p:cNvSpPr/>
          <p:nvPr/>
        </p:nvSpPr>
        <p:spPr>
          <a:xfrm>
            <a:off x="749808" y="3931920"/>
            <a:ext cx="1417320" cy="329184"/>
          </a:xfrm>
          <a:prstGeom prst="roundRect">
            <a:avLst>
              <a:gd name="adj" fmla="val 22222"/>
            </a:avLst>
          </a:prstGeom>
          <a:solidFill>
            <a:srgbClr val="E8F0FA"/>
          </a:solidFill>
          <a:ln w="12700">
            <a:solidFill>
              <a:srgbClr val="E8F0FA"/>
            </a:solidFill>
            <a:prstDash val="solid"/>
          </a:ln>
        </p:spPr>
      </p:sp>
      <p:sp>
        <p:nvSpPr>
          <p:cNvPr id="25" name="Text 23"/>
          <p:cNvSpPr txBox="1"/>
          <p:nvPr/>
        </p:nvSpPr>
        <p:spPr>
          <a:xfrm>
            <a:off x="749808" y="3931920"/>
            <a:ext cx="1417320" cy="329184"/>
          </a:xfrm>
          <a:prstGeom prst="rect">
            <a:avLst/>
          </a:prstGeom>
          <a:noFill/>
          <a:ln/>
        </p:spPr>
        <p:txBody>
          <a:bodyPr wrap="square" lIns="0" tIns="0" rIns="0" bIns="0" rtlCol="0" anchor="ctr"/>
          <a:lstStyle/>
          <a:p>
            <a:pPr algn="ctr" indent="0" marL="0">
              <a:buNone/>
            </a:pPr>
            <a:r>
              <a:rPr lang="en-US" sz="1200" b="1" dirty="0">
                <a:solidFill>
                  <a:srgbClr val="1F5FA8"/>
                </a:solidFill>
                <a:latin typeface="Calibri" pitchFamily="34" charset="0"/>
                <a:ea typeface="Calibri" pitchFamily="34" charset="-122"/>
                <a:cs typeface="Calibri" pitchFamily="34" charset="-120"/>
              </a:rPr>
              <a:t>2D</a:t>
            </a:r>
            <a:endParaRPr lang="en-US" sz="1200" dirty="0"/>
          </a:p>
        </p:txBody>
      </p:sp>
      <p:sp>
        <p:nvSpPr>
          <p:cNvPr id="26" name="Text 24"/>
          <p:cNvSpPr txBox="1"/>
          <p:nvPr/>
        </p:nvSpPr>
        <p:spPr>
          <a:xfrm>
            <a:off x="749808" y="438912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Payvand choki</a:t>
            </a:r>
            <a:endParaRPr lang="en-US" sz="1800" dirty="0"/>
          </a:p>
        </p:txBody>
      </p:sp>
      <p:sp>
        <p:nvSpPr>
          <p:cNvPr id="27" name="Text 25"/>
          <p:cNvSpPr txBox="1"/>
          <p:nvPr/>
        </p:nvSpPr>
        <p:spPr>
          <a:xfrm>
            <a:off x="749808" y="484632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t₈/₅ = 6.4 s – me’yorda; qizdirish ta’siri jadvali.</a:t>
            </a:r>
            <a:endParaRPr lang="en-US" sz="1400" dirty="0"/>
          </a:p>
        </p:txBody>
      </p:sp>
      <p:sp>
        <p:nvSpPr>
          <p:cNvPr id="28" name="Beton qotishi"/>
          <p:cNvSpPr/>
          <p:nvPr/>
        </p:nvSpPr>
        <p:spPr>
          <a:xfrm>
            <a:off x="3364992" y="3749040"/>
            <a:ext cx="2633472" cy="2240280"/>
          </a:xfrm>
          <a:prstGeom prst="roundRect">
            <a:avLst>
              <a:gd name="adj" fmla="val 4898"/>
            </a:avLst>
          </a:prstGeom>
          <a:solidFill>
            <a:srgbClr val="F2F5F8"/>
          </a:solidFill>
          <a:ln w="12700">
            <a:solidFill>
              <a:srgbClr val="F2F5F8"/>
            </a:solidFill>
            <a:prstDash val="solid"/>
          </a:ln>
        </p:spPr>
      </p:sp>
      <p:sp>
        <p:nvSpPr>
          <p:cNvPr id="29" name="Shape 27"/>
          <p:cNvSpPr/>
          <p:nvPr/>
        </p:nvSpPr>
        <p:spPr>
          <a:xfrm>
            <a:off x="3566160" y="3931920"/>
            <a:ext cx="1417320" cy="329184"/>
          </a:xfrm>
          <a:prstGeom prst="roundRect">
            <a:avLst>
              <a:gd name="adj" fmla="val 22222"/>
            </a:avLst>
          </a:prstGeom>
          <a:solidFill>
            <a:srgbClr val="FDF3E1"/>
          </a:solidFill>
          <a:ln w="12700">
            <a:solidFill>
              <a:srgbClr val="FDF3E1"/>
            </a:solidFill>
            <a:prstDash val="solid"/>
          </a:ln>
        </p:spPr>
      </p:sp>
      <p:sp>
        <p:nvSpPr>
          <p:cNvPr id="30" name="Text 28"/>
          <p:cNvSpPr txBox="1"/>
          <p:nvPr/>
        </p:nvSpPr>
        <p:spPr>
          <a:xfrm>
            <a:off x="3566160" y="393192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 + manba</a:t>
            </a:r>
            <a:endParaRPr lang="en-US" sz="1200" dirty="0"/>
          </a:p>
        </p:txBody>
      </p:sp>
      <p:sp>
        <p:nvSpPr>
          <p:cNvPr id="31" name="Text 29"/>
          <p:cNvSpPr txBox="1"/>
          <p:nvPr/>
        </p:nvSpPr>
        <p:spPr>
          <a:xfrm>
            <a:off x="3566160" y="438912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Beton qotishi</a:t>
            </a:r>
            <a:endParaRPr lang="en-US" sz="1800" dirty="0"/>
          </a:p>
        </p:txBody>
      </p:sp>
      <p:sp>
        <p:nvSpPr>
          <p:cNvPr id="32" name="Text 30"/>
          <p:cNvSpPr txBox="1"/>
          <p:nvPr/>
        </p:nvSpPr>
        <p:spPr>
          <a:xfrm>
            <a:off x="3566160" y="484632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1.2 m: farq 34.9 °C. 5 sm paxta bilan – 6.7 °C.</a:t>
            </a:r>
            <a:endParaRPr lang="en-US" sz="1400" dirty="0"/>
          </a:p>
        </p:txBody>
      </p:sp>
      <p:sp>
        <p:nvSpPr>
          <p:cNvPr id="33" name="Plita yong’inda"/>
          <p:cNvSpPr/>
          <p:nvPr/>
        </p:nvSpPr>
        <p:spPr>
          <a:xfrm>
            <a:off x="6181344" y="3749040"/>
            <a:ext cx="2633472" cy="2240280"/>
          </a:xfrm>
          <a:prstGeom prst="roundRect">
            <a:avLst>
              <a:gd name="adj" fmla="val 4898"/>
            </a:avLst>
          </a:prstGeom>
          <a:solidFill>
            <a:srgbClr val="F2F5F8"/>
          </a:solidFill>
          <a:ln w="12700">
            <a:solidFill>
              <a:srgbClr val="F2F5F8"/>
            </a:solidFill>
            <a:prstDash val="solid"/>
          </a:ln>
        </p:spPr>
      </p:sp>
      <p:sp>
        <p:nvSpPr>
          <p:cNvPr id="34" name="Shape 32"/>
          <p:cNvSpPr/>
          <p:nvPr/>
        </p:nvSpPr>
        <p:spPr>
          <a:xfrm>
            <a:off x="6382512" y="3931920"/>
            <a:ext cx="1417320" cy="329184"/>
          </a:xfrm>
          <a:prstGeom prst="roundRect">
            <a:avLst>
              <a:gd name="adj" fmla="val 22222"/>
            </a:avLst>
          </a:prstGeom>
          <a:solidFill>
            <a:srgbClr val="FDF3E1"/>
          </a:solidFill>
          <a:ln w="12700">
            <a:solidFill>
              <a:srgbClr val="FDF3E1"/>
            </a:solidFill>
            <a:prstDash val="solid"/>
          </a:ln>
        </p:spPr>
      </p:sp>
      <p:sp>
        <p:nvSpPr>
          <p:cNvPr id="35" name="Text 33"/>
          <p:cNvSpPr txBox="1"/>
          <p:nvPr/>
        </p:nvSpPr>
        <p:spPr>
          <a:xfrm>
            <a:off x="6382512" y="3931920"/>
            <a:ext cx="1417320" cy="329184"/>
          </a:xfrm>
          <a:prstGeom prst="rect">
            <a:avLst/>
          </a:prstGeom>
          <a:noFill/>
          <a:ln/>
        </p:spPr>
        <p:txBody>
          <a:bodyPr wrap="square" lIns="0" tIns="0" rIns="0" bIns="0" rtlCol="0" anchor="ctr"/>
          <a:lstStyle/>
          <a:p>
            <a:pPr algn="ctr" indent="0" marL="0">
              <a:buNone/>
            </a:pPr>
            <a:r>
              <a:rPr lang="en-US" sz="1200" b="1" dirty="0">
                <a:solidFill>
                  <a:srgbClr val="C77F12"/>
                </a:solidFill>
                <a:latin typeface="Calibri" pitchFamily="34" charset="0"/>
                <a:ea typeface="Calibri" pitchFamily="34" charset="-122"/>
                <a:cs typeface="Calibri" pitchFamily="34" charset="-120"/>
              </a:rPr>
              <a:t>1D nochiziqli</a:t>
            </a:r>
            <a:endParaRPr lang="en-US" sz="1200" dirty="0"/>
          </a:p>
        </p:txBody>
      </p:sp>
      <p:sp>
        <p:nvSpPr>
          <p:cNvPr id="36" name="Text 34"/>
          <p:cNvSpPr txBox="1"/>
          <p:nvPr/>
        </p:nvSpPr>
        <p:spPr>
          <a:xfrm>
            <a:off x="6382512" y="438912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Plita yong’inda</a:t>
            </a:r>
            <a:endParaRPr lang="en-US" sz="1800" dirty="0"/>
          </a:p>
        </p:txBody>
      </p:sp>
      <p:sp>
        <p:nvSpPr>
          <p:cNvPr id="37" name="Text 35"/>
          <p:cNvSpPr txBox="1"/>
          <p:nvPr/>
        </p:nvSpPr>
        <p:spPr>
          <a:xfrm>
            <a:off x="6382512" y="484632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a = 25 mm → REI 60. REI 90 uchun a ≥ 30 mm.</a:t>
            </a:r>
            <a:endParaRPr lang="en-US" sz="1400" dirty="0"/>
          </a:p>
        </p:txBody>
      </p:sp>
      <p:sp>
        <p:nvSpPr>
          <p:cNvPr id="38" name="Konserva"/>
          <p:cNvSpPr/>
          <p:nvPr/>
        </p:nvSpPr>
        <p:spPr>
          <a:xfrm>
            <a:off x="8997696" y="3749040"/>
            <a:ext cx="2633472" cy="2240280"/>
          </a:xfrm>
          <a:prstGeom prst="roundRect">
            <a:avLst>
              <a:gd name="adj" fmla="val 4898"/>
            </a:avLst>
          </a:prstGeom>
          <a:solidFill>
            <a:srgbClr val="F2F5F8"/>
          </a:solidFill>
          <a:ln w="12700">
            <a:solidFill>
              <a:srgbClr val="F2F5F8"/>
            </a:solidFill>
            <a:prstDash val="solid"/>
          </a:ln>
        </p:spPr>
      </p:sp>
      <p:sp>
        <p:nvSpPr>
          <p:cNvPr id="39" name="Shape 37"/>
          <p:cNvSpPr/>
          <p:nvPr/>
        </p:nvSpPr>
        <p:spPr>
          <a:xfrm>
            <a:off x="9198864" y="3931920"/>
            <a:ext cx="1417320" cy="329184"/>
          </a:xfrm>
          <a:prstGeom prst="roundRect">
            <a:avLst>
              <a:gd name="adj" fmla="val 22222"/>
            </a:avLst>
          </a:prstGeom>
          <a:solidFill>
            <a:srgbClr val="E8F0FA"/>
          </a:solidFill>
          <a:ln w="12700">
            <a:solidFill>
              <a:srgbClr val="E8F0FA"/>
            </a:solidFill>
            <a:prstDash val="solid"/>
          </a:ln>
        </p:spPr>
      </p:sp>
      <p:sp>
        <p:nvSpPr>
          <p:cNvPr id="40" name="Text 38"/>
          <p:cNvSpPr txBox="1"/>
          <p:nvPr/>
        </p:nvSpPr>
        <p:spPr>
          <a:xfrm>
            <a:off x="9198864" y="3931920"/>
            <a:ext cx="1417320" cy="329184"/>
          </a:xfrm>
          <a:prstGeom prst="rect">
            <a:avLst/>
          </a:prstGeom>
          <a:noFill/>
          <a:ln/>
        </p:spPr>
        <p:txBody>
          <a:bodyPr wrap="square" lIns="0" tIns="0" rIns="0" bIns="0" rtlCol="0" anchor="ctr"/>
          <a:lstStyle/>
          <a:p>
            <a:pPr algn="ctr" indent="0" marL="0">
              <a:buNone/>
            </a:pPr>
            <a:r>
              <a:rPr lang="en-US" sz="1200" b="1" dirty="0">
                <a:solidFill>
                  <a:srgbClr val="1F5FA8"/>
                </a:solidFill>
                <a:latin typeface="Calibri" pitchFamily="34" charset="0"/>
                <a:ea typeface="Calibri" pitchFamily="34" charset="-122"/>
                <a:cs typeface="Calibri" pitchFamily="34" charset="-120"/>
              </a:rPr>
              <a:t>2D (r, z)</a:t>
            </a:r>
            <a:endParaRPr lang="en-US" sz="1200" dirty="0"/>
          </a:p>
        </p:txBody>
      </p:sp>
      <p:sp>
        <p:nvSpPr>
          <p:cNvPr id="41" name="Text 39"/>
          <p:cNvSpPr txBox="1"/>
          <p:nvPr/>
        </p:nvSpPr>
        <p:spPr>
          <a:xfrm>
            <a:off x="9198864" y="4389120"/>
            <a:ext cx="22860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Konserva</a:t>
            </a:r>
            <a:endParaRPr lang="en-US" sz="1800" dirty="0"/>
          </a:p>
        </p:txBody>
      </p:sp>
      <p:sp>
        <p:nvSpPr>
          <p:cNvPr id="42" name="Text 40"/>
          <p:cNvSpPr txBox="1"/>
          <p:nvPr/>
        </p:nvSpPr>
        <p:spPr>
          <a:xfrm>
            <a:off x="9198864" y="4846320"/>
            <a:ext cx="2286000" cy="105156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1 l go’sht, 100 °C: F₀ ≈ 0. Avtoklav 121 °C: 135 daqiqa.</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Dastur nima qilish kerakligini ham aytadi</a:t>
            </a:r>
            <a:endParaRPr lang="en-US" sz="3200" dirty="0"/>
          </a:p>
        </p:txBody>
      </p:sp>
      <p:pic>
        <p:nvPicPr>
          <p:cNvPr id="3" name="Yong’in masalasi yechimi va Yevrokod 2 jadvali" descr="Yong’in masalasi yechimi va Yevrokod 2 jadvali">    </p:cNvPr>
          <p:cNvPicPr>
            <a:picLocks noChangeAspect="1"/>
          </p:cNvPicPr>
          <p:nvPr/>
        </p:nvPicPr>
        <p:blipFill>
          <a:blip r:embed="rId1"/>
          <a:stretch>
            <a:fillRect/>
          </a:stretch>
        </p:blipFill>
        <p:spPr>
          <a:xfrm>
            <a:off x="548640" y="1325880"/>
            <a:ext cx="6309360" cy="3131484"/>
          </a:xfrm>
          <a:prstGeom prst="rect">
            <a:avLst/>
          </a:prstGeom>
        </p:spPr>
      </p:pic>
      <p:sp>
        <p:nvSpPr>
          <p:cNvPr id="4" name="Teskari masala"/>
          <p:cNvSpPr/>
          <p:nvPr/>
        </p:nvSpPr>
        <p:spPr>
          <a:xfrm>
            <a:off x="7178040" y="1325880"/>
            <a:ext cx="4462272" cy="1216152"/>
          </a:xfrm>
          <a:prstGeom prst="roundRect">
            <a:avLst>
              <a:gd name="adj" fmla="val 9023"/>
            </a:avLst>
          </a:prstGeom>
          <a:solidFill>
            <a:srgbClr val="F2F5F8"/>
          </a:solidFill>
          <a:ln w="12700">
            <a:solidFill>
              <a:srgbClr val="F2F5F8"/>
            </a:solidFill>
            <a:prstDash val="solid"/>
          </a:ln>
        </p:spPr>
      </p:sp>
      <p:sp>
        <p:nvSpPr>
          <p:cNvPr id="5" name="Text 2"/>
          <p:cNvSpPr txBox="1"/>
          <p:nvPr/>
        </p:nvSpPr>
        <p:spPr>
          <a:xfrm>
            <a:off x="7388352" y="1444752"/>
            <a:ext cx="4069080" cy="347472"/>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Teskari masala</a:t>
            </a:r>
            <a:endParaRPr lang="en-US" sz="1700" dirty="0"/>
          </a:p>
        </p:txBody>
      </p:sp>
      <p:sp>
        <p:nvSpPr>
          <p:cNvPr id="6" name="Text 3"/>
          <p:cNvSpPr txBox="1"/>
          <p:nvPr/>
        </p:nvSpPr>
        <p:spPr>
          <a:xfrm>
            <a:off x="7388352" y="1801368"/>
            <a:ext cx="4069080" cy="685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Kerakli izolyatsiya qalinligi, himoya qatlami, qizdirish vaqti yoki ruxsat etilgan quvvatni o’zi topadi.</a:t>
            </a:r>
            <a:endParaRPr lang="en-US" sz="1400" dirty="0"/>
          </a:p>
        </p:txBody>
      </p:sp>
      <p:sp>
        <p:nvSpPr>
          <p:cNvPr id="7" name="Matnli hisobot"/>
          <p:cNvSpPr/>
          <p:nvPr/>
        </p:nvSpPr>
        <p:spPr>
          <a:xfrm>
            <a:off x="7178040" y="2697480"/>
            <a:ext cx="4462272" cy="1216152"/>
          </a:xfrm>
          <a:prstGeom prst="roundRect">
            <a:avLst>
              <a:gd name="adj" fmla="val 9023"/>
            </a:avLst>
          </a:prstGeom>
          <a:solidFill>
            <a:srgbClr val="F2F5F8"/>
          </a:solidFill>
          <a:ln w="12700">
            <a:solidFill>
              <a:srgbClr val="F2F5F8"/>
            </a:solidFill>
            <a:prstDash val="solid"/>
          </a:ln>
        </p:spPr>
      </p:sp>
      <p:sp>
        <p:nvSpPr>
          <p:cNvPr id="8" name="Text 5"/>
          <p:cNvSpPr txBox="1"/>
          <p:nvPr/>
        </p:nvSpPr>
        <p:spPr>
          <a:xfrm>
            <a:off x="7388352" y="2816352"/>
            <a:ext cx="4069080" cy="347472"/>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Matnli hisobot</a:t>
            </a:r>
            <a:endParaRPr lang="en-US" sz="1700" dirty="0"/>
          </a:p>
        </p:txBody>
      </p:sp>
      <p:sp>
        <p:nvSpPr>
          <p:cNvPr id="9" name="Text 6"/>
          <p:cNvSpPr txBox="1"/>
          <p:nvPr/>
        </p:nvSpPr>
        <p:spPr>
          <a:xfrm>
            <a:off x="7388352" y="3172968"/>
            <a:ext cx="4069080" cy="685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Berilganlar, natijalar, tavsiya va xulosa – bir tugma bilan nusxalanadi yoki .txt fayl bo’lib saqlanadi.</a:t>
            </a:r>
            <a:endParaRPr lang="en-US" sz="1400" dirty="0"/>
          </a:p>
        </p:txBody>
      </p:sp>
      <p:sp>
        <p:nvSpPr>
          <p:cNvPr id="10" name="Variantlarni taqqoslash"/>
          <p:cNvSpPr/>
          <p:nvPr/>
        </p:nvSpPr>
        <p:spPr>
          <a:xfrm>
            <a:off x="7178040" y="4069080"/>
            <a:ext cx="4462272" cy="1216152"/>
          </a:xfrm>
          <a:prstGeom prst="roundRect">
            <a:avLst>
              <a:gd name="adj" fmla="val 9023"/>
            </a:avLst>
          </a:prstGeom>
          <a:solidFill>
            <a:srgbClr val="F2F5F8"/>
          </a:solidFill>
          <a:ln w="12700">
            <a:solidFill>
              <a:srgbClr val="F2F5F8"/>
            </a:solidFill>
            <a:prstDash val="solid"/>
          </a:ln>
        </p:spPr>
      </p:sp>
      <p:sp>
        <p:nvSpPr>
          <p:cNvPr id="11" name="Text 8"/>
          <p:cNvSpPr txBox="1"/>
          <p:nvPr/>
        </p:nvSpPr>
        <p:spPr>
          <a:xfrm>
            <a:off x="7388352" y="4187952"/>
            <a:ext cx="4069080" cy="347472"/>
          </a:xfrm>
          <a:prstGeom prst="rect">
            <a:avLst/>
          </a:prstGeom>
          <a:noFill/>
          <a:ln/>
        </p:spPr>
        <p:txBody>
          <a:bodyPr wrap="square" lIns="0" tIns="0" rIns="0" bIns="0" rtlCol="0" anchor="t"/>
          <a:lstStyle/>
          <a:p>
            <a:pPr indent="0" marL="0">
              <a:buNone/>
            </a:pPr>
            <a:r>
              <a:rPr lang="en-US" sz="1700" b="1" dirty="0">
                <a:solidFill>
                  <a:srgbClr val="1F7A4A"/>
                </a:solidFill>
                <a:latin typeface="Calibri" pitchFamily="34" charset="0"/>
                <a:ea typeface="Calibri" pitchFamily="34" charset="-122"/>
                <a:cs typeface="Calibri" pitchFamily="34" charset="-120"/>
              </a:rPr>
              <a:t>Variantlarni taqqoslash</a:t>
            </a:r>
            <a:endParaRPr lang="en-US" sz="1700" dirty="0"/>
          </a:p>
        </p:txBody>
      </p:sp>
      <p:sp>
        <p:nvSpPr>
          <p:cNvPr id="12" name="Text 9"/>
          <p:cNvSpPr txBox="1"/>
          <p:nvPr/>
        </p:nvSpPr>
        <p:spPr>
          <a:xfrm>
            <a:off x="7388352" y="4544568"/>
            <a:ext cx="4069080" cy="68580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4 tagacha variant yonma-yon: qaysi biri foydaliroq – darhol ko’rinadi.</a:t>
            </a:r>
            <a:endParaRPr lang="en-US" sz="1400" dirty="0"/>
          </a:p>
        </p:txBody>
      </p:sp>
      <p:sp>
        <p:nvSpPr>
          <p:cNvPr id="13" name="Text 10"/>
          <p:cNvSpPr txBox="1"/>
          <p:nvPr/>
        </p:nvSpPr>
        <p:spPr>
          <a:xfrm>
            <a:off x="548640" y="4548804"/>
            <a:ext cx="6309360" cy="411480"/>
          </a:xfrm>
          <a:prstGeom prst="rect">
            <a:avLst/>
          </a:prstGeom>
          <a:noFill/>
          <a:ln/>
        </p:spPr>
        <p:txBody>
          <a:bodyPr wrap="square" lIns="0" tIns="0" rIns="0" bIns="0" rtlCol="0" anchor="t"/>
          <a:lstStyle/>
          <a:p>
            <a:pPr indent="0" marL="0">
              <a:buNone/>
            </a:pPr>
            <a:r>
              <a:rPr lang="en-US" sz="1200" i="1" dirty="0">
                <a:solidFill>
                  <a:srgbClr val="56657A"/>
                </a:solidFill>
                <a:latin typeface="Calibri" pitchFamily="34" charset="0"/>
                <a:ea typeface="Calibri" pitchFamily="34" charset="-122"/>
                <a:cs typeface="Calibri" pitchFamily="34" charset="-120"/>
              </a:rPr>
              <a:t>Yong’in masalasi: tavsiya va model natijalarining Yevrokod 2 jadvali bilan solishtiruvi</a:t>
            </a:r>
            <a:endParaRPr lang="en-US" sz="12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3D ko’rinish: natija real jism shaklida</a:t>
            </a:r>
            <a:endParaRPr lang="en-US" sz="3200" dirty="0"/>
          </a:p>
        </p:txBody>
      </p:sp>
      <p:pic>
        <p:nvPicPr>
          <p:cNvPr id="3" name="Uy devori: xonadan ko’chaga harorat" descr="Uy devori: xonadan ko’chaga harorat">    </p:cNvPr>
          <p:cNvPicPr>
            <a:picLocks noChangeAspect="1"/>
          </p:cNvPicPr>
          <p:nvPr/>
        </p:nvPicPr>
        <p:blipFill>
          <a:blip r:embed="rId1"/>
          <a:stretch>
            <a:fillRect/>
          </a:stretch>
        </p:blipFill>
        <p:spPr>
          <a:xfrm>
            <a:off x="548640" y="1280160"/>
            <a:ext cx="5281099" cy="2103120"/>
          </a:xfrm>
          <a:prstGeom prst="rect">
            <a:avLst/>
          </a:prstGeom>
        </p:spPr>
      </p:pic>
      <p:sp>
        <p:nvSpPr>
          <p:cNvPr id="4" name="Text 1"/>
          <p:cNvSpPr txBox="1"/>
          <p:nvPr/>
        </p:nvSpPr>
        <p:spPr>
          <a:xfrm>
            <a:off x="548640" y="3429000"/>
            <a:ext cx="5468112" cy="32004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Uy devori: xonadan ko’chaga harorat</a:t>
            </a:r>
            <a:endParaRPr lang="en-US" sz="1300" dirty="0"/>
          </a:p>
        </p:txBody>
      </p:sp>
      <p:pic>
        <p:nvPicPr>
          <p:cNvPr id="5" name="Radiator: “relyef” rejimida issiq nuqta" descr="Radiator: “relyef” rejimida issiq nuqta">    </p:cNvPr>
          <p:cNvPicPr>
            <a:picLocks noChangeAspect="1"/>
          </p:cNvPicPr>
          <p:nvPr/>
        </p:nvPicPr>
        <p:blipFill>
          <a:blip r:embed="rId2"/>
          <a:stretch>
            <a:fillRect/>
          </a:stretch>
        </p:blipFill>
        <p:spPr>
          <a:xfrm>
            <a:off x="6172200" y="1280160"/>
            <a:ext cx="5281099" cy="2103120"/>
          </a:xfrm>
          <a:prstGeom prst="rect">
            <a:avLst/>
          </a:prstGeom>
        </p:spPr>
      </p:pic>
      <p:sp>
        <p:nvSpPr>
          <p:cNvPr id="6" name="Text 2"/>
          <p:cNvSpPr txBox="1"/>
          <p:nvPr/>
        </p:nvSpPr>
        <p:spPr>
          <a:xfrm>
            <a:off x="6172200" y="3429000"/>
            <a:ext cx="5468112" cy="32004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Radiator: “relyef” rejimida issiq nuqta</a:t>
            </a:r>
            <a:endParaRPr lang="en-US" sz="1300" dirty="0"/>
          </a:p>
        </p:txBody>
      </p:sp>
      <p:pic>
        <p:nvPicPr>
          <p:cNvPr id="7" name="Beton: markaz qizigan, sirt sovuq" descr="Beton: markaz qizigan, sirt sovuq">    </p:cNvPr>
          <p:cNvPicPr>
            <a:picLocks noChangeAspect="1"/>
          </p:cNvPicPr>
          <p:nvPr/>
        </p:nvPicPr>
        <p:blipFill>
          <a:blip r:embed="rId3"/>
          <a:stretch>
            <a:fillRect/>
          </a:stretch>
        </p:blipFill>
        <p:spPr>
          <a:xfrm>
            <a:off x="548640" y="3840480"/>
            <a:ext cx="5281099" cy="2103120"/>
          </a:xfrm>
          <a:prstGeom prst="rect">
            <a:avLst/>
          </a:prstGeom>
        </p:spPr>
      </p:pic>
      <p:sp>
        <p:nvSpPr>
          <p:cNvPr id="8" name="Text 3"/>
          <p:cNvSpPr txBox="1"/>
          <p:nvPr/>
        </p:nvSpPr>
        <p:spPr>
          <a:xfrm>
            <a:off x="548640" y="5989320"/>
            <a:ext cx="5468112" cy="32004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Beton: markaz qizigan, sirt sovuq</a:t>
            </a:r>
            <a:endParaRPr lang="en-US" sz="1300" dirty="0"/>
          </a:p>
        </p:txBody>
      </p:sp>
      <p:pic>
        <p:nvPicPr>
          <p:cNvPr id="9" name="Konserva: kesimda sovuq markaz" descr="Konserva: kesimda sovuq markaz">    </p:cNvPr>
          <p:cNvPicPr>
            <a:picLocks noChangeAspect="1"/>
          </p:cNvPicPr>
          <p:nvPr/>
        </p:nvPicPr>
        <p:blipFill>
          <a:blip r:embed="rId4"/>
          <a:stretch>
            <a:fillRect/>
          </a:stretch>
        </p:blipFill>
        <p:spPr>
          <a:xfrm>
            <a:off x="6172200" y="3840480"/>
            <a:ext cx="5281099" cy="2103120"/>
          </a:xfrm>
          <a:prstGeom prst="rect">
            <a:avLst/>
          </a:prstGeom>
        </p:spPr>
      </p:pic>
      <p:sp>
        <p:nvSpPr>
          <p:cNvPr id="10" name="Text 4"/>
          <p:cNvSpPr txBox="1"/>
          <p:nvPr/>
        </p:nvSpPr>
        <p:spPr>
          <a:xfrm>
            <a:off x="6172200" y="5989320"/>
            <a:ext cx="5468112" cy="32004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Konserva: kesimda sovuq markaz</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Natijalar ishonchli: uch xil tekshiruv</a:t>
            </a:r>
            <a:endParaRPr lang="en-US" sz="3200" dirty="0"/>
          </a:p>
        </p:txBody>
      </p:sp>
      <p:sp>
        <p:nvSpPr>
          <p:cNvPr id="3" name="Aniq yechim bilan"/>
          <p:cNvSpPr/>
          <p:nvPr/>
        </p:nvSpPr>
        <p:spPr>
          <a:xfrm>
            <a:off x="548640" y="1325880"/>
            <a:ext cx="3593592" cy="2240280"/>
          </a:xfrm>
          <a:prstGeom prst="roundRect">
            <a:avLst>
              <a:gd name="adj" fmla="val 4898"/>
            </a:avLst>
          </a:prstGeom>
          <a:solidFill>
            <a:srgbClr val="F2F5F8"/>
          </a:solidFill>
          <a:ln w="12700">
            <a:solidFill>
              <a:srgbClr val="F2F5F8"/>
            </a:solidFill>
            <a:prstDash val="solid"/>
          </a:ln>
        </p:spPr>
      </p:sp>
      <p:sp>
        <p:nvSpPr>
          <p:cNvPr id="4" name="Shape 2"/>
          <p:cNvSpPr/>
          <p:nvPr/>
        </p:nvSpPr>
        <p:spPr>
          <a:xfrm>
            <a:off x="749808" y="1481328"/>
            <a:ext cx="420624" cy="420624"/>
          </a:xfrm>
          <a:prstGeom prst="ellipse">
            <a:avLst/>
          </a:prstGeom>
          <a:solidFill>
            <a:srgbClr val="1F5FA8"/>
          </a:solidFill>
          <a:ln w="12700">
            <a:solidFill>
              <a:srgbClr val="1F5FA8"/>
            </a:solidFill>
            <a:prstDash val="solid"/>
          </a:ln>
        </p:spPr>
      </p:sp>
      <p:sp>
        <p:nvSpPr>
          <p:cNvPr id="5" name="Text 3"/>
          <p:cNvSpPr txBox="1"/>
          <p:nvPr/>
        </p:nvSpPr>
        <p:spPr>
          <a:xfrm>
            <a:off x="74980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98448" y="1517904"/>
            <a:ext cx="2743200" cy="365760"/>
          </a:xfrm>
          <a:prstGeom prst="rect">
            <a:avLst/>
          </a:prstGeom>
          <a:noFill/>
          <a:ln/>
        </p:spPr>
        <p:txBody>
          <a:bodyPr wrap="square" lIns="0" tIns="0" rIns="0" bIns="0" rtlCol="0" anchor="t"/>
          <a:lstStyle/>
          <a:p>
            <a:pPr indent="0" marL="0">
              <a:buNone/>
            </a:pPr>
            <a:r>
              <a:rPr lang="en-US" sz="1700" b="1" dirty="0">
                <a:solidFill>
                  <a:srgbClr val="1F5FA8"/>
                </a:solidFill>
                <a:latin typeface="Calibri" pitchFamily="34" charset="0"/>
                <a:ea typeface="Calibri" pitchFamily="34" charset="-122"/>
                <a:cs typeface="Calibri" pitchFamily="34" charset="-120"/>
              </a:rPr>
              <a:t>Aniq yechim bilan</a:t>
            </a:r>
            <a:endParaRPr lang="en-US" sz="1700" dirty="0"/>
          </a:p>
        </p:txBody>
      </p:sp>
      <p:sp>
        <p:nvSpPr>
          <p:cNvPr id="7" name="Text 5"/>
          <p:cNvSpPr txBox="1"/>
          <p:nvPr/>
        </p:nvSpPr>
        <p:spPr>
          <a:xfrm>
            <a:off x="749808" y="2057400"/>
            <a:ext cx="3200400" cy="14630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To’r 2 marta maydalansa xato 4 marta kamayadi – 2-tartibli aniqlik (p ≈ 2) 1D va 2D da tasdiqlandi. JavaScript va Python versiyalari bir xil natija beradi.</a:t>
            </a:r>
            <a:endParaRPr lang="en-US" sz="1400" dirty="0"/>
          </a:p>
        </p:txBody>
      </p:sp>
      <p:sp>
        <p:nvSpPr>
          <p:cNvPr id="8" name="Fizik formulalar bilan"/>
          <p:cNvSpPr/>
          <p:nvPr/>
        </p:nvSpPr>
        <p:spPr>
          <a:xfrm>
            <a:off x="4297680" y="1325880"/>
            <a:ext cx="3593592" cy="2240280"/>
          </a:xfrm>
          <a:prstGeom prst="roundRect">
            <a:avLst>
              <a:gd name="adj" fmla="val 4898"/>
            </a:avLst>
          </a:prstGeom>
          <a:solidFill>
            <a:srgbClr val="F2F5F8"/>
          </a:solidFill>
          <a:ln w="12700">
            <a:solidFill>
              <a:srgbClr val="F2F5F8"/>
            </a:solidFill>
            <a:prstDash val="solid"/>
          </a:ln>
        </p:spPr>
      </p:sp>
      <p:sp>
        <p:nvSpPr>
          <p:cNvPr id="9" name="Shape 7"/>
          <p:cNvSpPr/>
          <p:nvPr/>
        </p:nvSpPr>
        <p:spPr>
          <a:xfrm>
            <a:off x="4498848" y="1481328"/>
            <a:ext cx="420624" cy="420624"/>
          </a:xfrm>
          <a:prstGeom prst="ellipse">
            <a:avLst/>
          </a:prstGeom>
          <a:solidFill>
            <a:srgbClr val="1F7A4A"/>
          </a:solidFill>
          <a:ln w="12700">
            <a:solidFill>
              <a:srgbClr val="1F7A4A"/>
            </a:solidFill>
            <a:prstDash val="solid"/>
          </a:ln>
        </p:spPr>
      </p:sp>
      <p:sp>
        <p:nvSpPr>
          <p:cNvPr id="10" name="Text 8"/>
          <p:cNvSpPr txBox="1"/>
          <p:nvPr/>
        </p:nvSpPr>
        <p:spPr>
          <a:xfrm>
            <a:off x="449884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1" name="Text 9"/>
          <p:cNvSpPr txBox="1"/>
          <p:nvPr/>
        </p:nvSpPr>
        <p:spPr>
          <a:xfrm>
            <a:off x="5047488" y="1517904"/>
            <a:ext cx="2743200" cy="365760"/>
          </a:xfrm>
          <a:prstGeom prst="rect">
            <a:avLst/>
          </a:prstGeom>
          <a:noFill/>
          <a:ln/>
        </p:spPr>
        <p:txBody>
          <a:bodyPr wrap="square" lIns="0" tIns="0" rIns="0" bIns="0" rtlCol="0" anchor="t"/>
          <a:lstStyle/>
          <a:p>
            <a:pPr indent="0" marL="0">
              <a:buNone/>
            </a:pPr>
            <a:r>
              <a:rPr lang="en-US" sz="1700" b="1" dirty="0">
                <a:solidFill>
                  <a:srgbClr val="1F7A4A"/>
                </a:solidFill>
                <a:latin typeface="Calibri" pitchFamily="34" charset="0"/>
                <a:ea typeface="Calibri" pitchFamily="34" charset="-122"/>
                <a:cs typeface="Calibri" pitchFamily="34" charset="-120"/>
              </a:rPr>
              <a:t>Fizik formulalar bilan</a:t>
            </a:r>
            <a:endParaRPr lang="en-US" sz="1700" dirty="0"/>
          </a:p>
        </p:txBody>
      </p:sp>
      <p:sp>
        <p:nvSpPr>
          <p:cNvPr id="12" name="Text 10"/>
          <p:cNvSpPr txBox="1"/>
          <p:nvPr/>
        </p:nvSpPr>
        <p:spPr>
          <a:xfrm>
            <a:off x="4498848" y="2057400"/>
            <a:ext cx="3200400" cy="14630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Devor 78.38 W/m², qatlamli devor 9.3713 W/m², izolyatsiyali quvur 28.7883 W/m – analitik formula bilan to’liq mos.</a:t>
            </a:r>
            <a:endParaRPr lang="en-US" sz="1400" dirty="0"/>
          </a:p>
        </p:txBody>
      </p:sp>
      <p:sp>
        <p:nvSpPr>
          <p:cNvPr id="13" name="Me’yor bilan"/>
          <p:cNvSpPr/>
          <p:nvPr/>
        </p:nvSpPr>
        <p:spPr>
          <a:xfrm>
            <a:off x="8046720" y="1325880"/>
            <a:ext cx="3593592" cy="2240280"/>
          </a:xfrm>
          <a:prstGeom prst="roundRect">
            <a:avLst>
              <a:gd name="adj" fmla="val 4898"/>
            </a:avLst>
          </a:prstGeom>
          <a:solidFill>
            <a:srgbClr val="F2F5F8"/>
          </a:solidFill>
          <a:ln w="12700">
            <a:solidFill>
              <a:srgbClr val="F2F5F8"/>
            </a:solidFill>
            <a:prstDash val="solid"/>
          </a:ln>
        </p:spPr>
      </p:sp>
      <p:sp>
        <p:nvSpPr>
          <p:cNvPr id="14" name="Shape 12"/>
          <p:cNvSpPr/>
          <p:nvPr/>
        </p:nvSpPr>
        <p:spPr>
          <a:xfrm>
            <a:off x="8247888" y="1481328"/>
            <a:ext cx="420624" cy="420624"/>
          </a:xfrm>
          <a:prstGeom prst="ellipse">
            <a:avLst/>
          </a:prstGeom>
          <a:solidFill>
            <a:srgbClr val="C4401F"/>
          </a:solidFill>
          <a:ln w="12700">
            <a:solidFill>
              <a:srgbClr val="C4401F"/>
            </a:solidFill>
            <a:prstDash val="solid"/>
          </a:ln>
        </p:spPr>
      </p:sp>
      <p:sp>
        <p:nvSpPr>
          <p:cNvPr id="15" name="Text 13"/>
          <p:cNvSpPr txBox="1"/>
          <p:nvPr/>
        </p:nvSpPr>
        <p:spPr>
          <a:xfrm>
            <a:off x="8247888" y="1481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8796528" y="1517904"/>
            <a:ext cx="2743200" cy="365760"/>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Me’yor bilan</a:t>
            </a:r>
            <a:endParaRPr lang="en-US" sz="1700" dirty="0"/>
          </a:p>
        </p:txBody>
      </p:sp>
      <p:sp>
        <p:nvSpPr>
          <p:cNvPr id="17" name="Text 15"/>
          <p:cNvSpPr txBox="1"/>
          <p:nvPr/>
        </p:nvSpPr>
        <p:spPr>
          <a:xfrm>
            <a:off x="8247888" y="2057400"/>
            <a:ext cx="3200400" cy="146304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Yong’in modeli Yevrokod 2 (EN 1992-1-2) jadvaliga mos: REI 90 uchun a = 30 mm, h = 100 mm.</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1672" cy="914400"/>
        </p:xfrm>
        <a:graphic>
          <a:graphicData uri="http://schemas.openxmlformats.org/drawingml/2006/table">
            <a:tbl>
              <a:tblPr/>
              <a:tblGrid>
                <a:gridCol w="3044952"/>
                <a:gridCol w="2011680"/>
                <a:gridCol w="2011680"/>
                <a:gridCol w="2011680"/>
                <a:gridCol w="2011680"/>
              </a:tblGrid>
              <a:tr h="384048">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Yong’inga chidamlilik</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a, mm (model)</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a, mm (EC2)</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h, mm (model)</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c>
                  <a:txBody>
                    <a:bodyPr/>
                    <a:lstStyle/>
                    <a:p>
                      <a:pPr algn="ctr" indent="0" marL="0">
                        <a:buNone/>
                      </a:pPr>
                      <a:r>
                        <a:rPr lang="en-US" sz="1400" b="1" dirty="0">
                          <a:solidFill>
                            <a:srgbClr val="1B2A3A"/>
                          </a:solidFill>
                          <a:latin typeface="Calibri" pitchFamily="34" charset="0"/>
                          <a:ea typeface="Calibri" pitchFamily="34" charset="-122"/>
                          <a:cs typeface="Calibri" pitchFamily="34" charset="-120"/>
                        </a:rPr>
                        <a:t>h, mm (EC2)</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solidFill>
                      <a:srgbClr val="DCE6F2"/>
                    </a:solidFill>
                  </a:tcPr>
                </a:tc>
              </a:tr>
              <a:tr h="384048">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REI 60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80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REI 90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30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REI 120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38</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120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120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r h="384048">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REI 180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55</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140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c>
                  <a:txBody>
                    <a:bodyPr/>
                    <a:lstStyle/>
                    <a:p>
                      <a:pPr algn="ctr" indent="0" marL="0">
                        <a:buNone/>
                      </a:pPr>
                      <a:r>
                        <a:rPr lang="en-US" sz="1400" dirty="0">
                          <a:solidFill>
                            <a:srgbClr val="16212E"/>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91440" marR="91440" marT="45720" marB="45720" anchor="ctr">
                    <a:lnL w="9525" cap="flat" cmpd="sng" algn="ctr">
                      <a:solidFill>
                        <a:srgbClr val="D3DBE4"/>
                      </a:solidFill>
                      <a:prstDash val="solid"/>
                      <a:round/>
                      <a:headEnd type="none" w="med" len="med"/>
                      <a:tailEnd type="none" w="med" len="med"/>
                    </a:lnL>
                    <a:lnR w="9525" cap="flat" cmpd="sng" algn="ctr">
                      <a:solidFill>
                        <a:srgbClr val="D3DBE4"/>
                      </a:solidFill>
                      <a:prstDash val="solid"/>
                      <a:round/>
                      <a:headEnd type="none" w="med" len="med"/>
                      <a:tailEnd type="none" w="med" len="med"/>
                    </a:lnR>
                    <a:lnT w="9525" cap="flat" cmpd="sng" algn="ctr">
                      <a:solidFill>
                        <a:srgbClr val="D3DBE4"/>
                      </a:solidFill>
                      <a:prstDash val="solid"/>
                      <a:round/>
                      <a:headEnd type="none" w="med" len="med"/>
                      <a:tailEnd type="none" w="med" len="med"/>
                    </a:lnT>
                    <a:lnB w="9525" cap="flat" cmpd="sng" algn="ctr">
                      <a:solidFill>
                        <a:srgbClr val="D3DBE4"/>
                      </a:solidFill>
                      <a:prstDash val="solid"/>
                      <a:round/>
                      <a:headEnd type="none" w="med" len="med"/>
                      <a:tailEnd type="none" w="med" len="med"/>
                    </a:lnB>
                  </a:tcPr>
                </a:tc>
              </a:tr>
            </a:tbl>
          </a:graphicData>
        </a:graphic>
      </p:graphicFrame>
      <p:sp>
        <p:nvSpPr>
          <p:cNvPr id="19" name="Text 16"/>
          <p:cNvSpPr txBox="1"/>
          <p:nvPr/>
        </p:nvSpPr>
        <p:spPr>
          <a:xfrm>
            <a:off x="548640" y="5806440"/>
            <a:ext cx="10972800" cy="365760"/>
          </a:xfrm>
          <a:prstGeom prst="rect">
            <a:avLst/>
          </a:prstGeom>
          <a:noFill/>
          <a:ln/>
        </p:spPr>
        <p:txBody>
          <a:bodyPr wrap="square" lIns="0" tIns="0" rIns="0" bIns="0" rtlCol="0" anchor="t"/>
          <a:lstStyle/>
          <a:p>
            <a:pPr indent="0" marL="0">
              <a:buNone/>
            </a:pPr>
            <a:r>
              <a:rPr lang="en-US" sz="1300" dirty="0">
                <a:solidFill>
                  <a:srgbClr val="56657A"/>
                </a:solidFill>
                <a:latin typeface="Calibri" pitchFamily="34" charset="0"/>
                <a:ea typeface="Calibri" pitchFamily="34" charset="-122"/>
                <a:cs typeface="Calibri" pitchFamily="34" charset="-120"/>
              </a:rPr>
              <a:t>a – armatura o’qigacha masofa (500 °C mezoni), h – plita qalinligi (yuqori yuza +140 °C mezoni).</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Saytdan foydalanish: olti qadam</a:t>
            </a:r>
            <a:endParaRPr lang="en-US" sz="3200" dirty="0"/>
          </a:p>
        </p:txBody>
      </p:sp>
      <p:sp>
        <p:nvSpPr>
          <p:cNvPr id="3" name="Shape 1"/>
          <p:cNvSpPr/>
          <p:nvPr/>
        </p:nvSpPr>
        <p:spPr>
          <a:xfrm>
            <a:off x="548640" y="1417320"/>
            <a:ext cx="420624" cy="420624"/>
          </a:xfrm>
          <a:prstGeom prst="ellipse">
            <a:avLst/>
          </a:prstGeom>
          <a:solidFill>
            <a:srgbClr val="C4401F"/>
          </a:solidFill>
          <a:ln w="12700">
            <a:solidFill>
              <a:srgbClr val="C4401F"/>
            </a:solidFill>
            <a:prstDash val="solid"/>
          </a:ln>
        </p:spPr>
      </p:sp>
      <p:sp>
        <p:nvSpPr>
          <p:cNvPr id="4" name="Text 2"/>
          <p:cNvSpPr txBox="1"/>
          <p:nvPr/>
        </p:nvSpPr>
        <p:spPr>
          <a:xfrm>
            <a:off x="548640" y="141732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115568" y="137160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Saytni oching – telefon yoki kompyuterda, o’rnatish shart emas</a:t>
            </a:r>
            <a:endParaRPr lang="en-US" sz="1500" dirty="0"/>
          </a:p>
        </p:txBody>
      </p:sp>
      <p:sp>
        <p:nvSpPr>
          <p:cNvPr id="6" name="Shape 4"/>
          <p:cNvSpPr/>
          <p:nvPr/>
        </p:nvSpPr>
        <p:spPr>
          <a:xfrm>
            <a:off x="4206240" y="1417320"/>
            <a:ext cx="420624" cy="420624"/>
          </a:xfrm>
          <a:prstGeom prst="ellipse">
            <a:avLst/>
          </a:prstGeom>
          <a:solidFill>
            <a:srgbClr val="C4401F"/>
          </a:solidFill>
          <a:ln w="12700">
            <a:solidFill>
              <a:srgbClr val="C4401F"/>
            </a:solidFill>
            <a:prstDash val="solid"/>
          </a:ln>
        </p:spPr>
      </p:sp>
      <p:sp>
        <p:nvSpPr>
          <p:cNvPr id="7" name="Text 5"/>
          <p:cNvSpPr txBox="1"/>
          <p:nvPr/>
        </p:nvSpPr>
        <p:spPr>
          <a:xfrm>
            <a:off x="4206240" y="141732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4773168" y="137160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Sohani tanlang: devor, quvur, beton, konserva…</a:t>
            </a:r>
            <a:endParaRPr lang="en-US" sz="1500" dirty="0"/>
          </a:p>
        </p:txBody>
      </p:sp>
      <p:sp>
        <p:nvSpPr>
          <p:cNvPr id="9" name="Shape 7"/>
          <p:cNvSpPr/>
          <p:nvPr/>
        </p:nvSpPr>
        <p:spPr>
          <a:xfrm>
            <a:off x="548640" y="2468880"/>
            <a:ext cx="420624" cy="420624"/>
          </a:xfrm>
          <a:prstGeom prst="ellipse">
            <a:avLst/>
          </a:prstGeom>
          <a:solidFill>
            <a:srgbClr val="C4401F"/>
          </a:solidFill>
          <a:ln w="12700">
            <a:solidFill>
              <a:srgbClr val="C4401F"/>
            </a:solidFill>
            <a:prstDash val="solid"/>
          </a:ln>
        </p:spPr>
      </p:sp>
      <p:sp>
        <p:nvSpPr>
          <p:cNvPr id="10" name="Text 8"/>
          <p:cNvSpPr txBox="1"/>
          <p:nvPr/>
        </p:nvSpPr>
        <p:spPr>
          <a:xfrm>
            <a:off x="548640" y="24688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115568" y="242316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Qiymatlarni kiriting – natija darhol qayta hisoblanadi</a:t>
            </a:r>
            <a:endParaRPr lang="en-US" sz="1500" dirty="0"/>
          </a:p>
        </p:txBody>
      </p:sp>
      <p:sp>
        <p:nvSpPr>
          <p:cNvPr id="12" name="Shape 10"/>
          <p:cNvSpPr/>
          <p:nvPr/>
        </p:nvSpPr>
        <p:spPr>
          <a:xfrm>
            <a:off x="4206240" y="2468880"/>
            <a:ext cx="420624" cy="420624"/>
          </a:xfrm>
          <a:prstGeom prst="ellipse">
            <a:avLst/>
          </a:prstGeom>
          <a:solidFill>
            <a:srgbClr val="C4401F"/>
          </a:solidFill>
          <a:ln w="12700">
            <a:solidFill>
              <a:srgbClr val="C4401F"/>
            </a:solidFill>
            <a:prstDash val="solid"/>
          </a:ln>
        </p:spPr>
      </p:sp>
      <p:sp>
        <p:nvSpPr>
          <p:cNvPr id="13" name="Text 11"/>
          <p:cNvSpPr txBox="1"/>
          <p:nvPr/>
        </p:nvSpPr>
        <p:spPr>
          <a:xfrm>
            <a:off x="4206240" y="246888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4" name="Text 12"/>
          <p:cNvSpPr txBox="1"/>
          <p:nvPr/>
        </p:nvSpPr>
        <p:spPr>
          <a:xfrm>
            <a:off x="4773168" y="242316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Javobni o’qing: yashil – me’yorda, qizil – xavfli</a:t>
            </a:r>
            <a:endParaRPr lang="en-US" sz="1500" dirty="0"/>
          </a:p>
        </p:txBody>
      </p:sp>
      <p:sp>
        <p:nvSpPr>
          <p:cNvPr id="15" name="Shape 13"/>
          <p:cNvSpPr/>
          <p:nvPr/>
        </p:nvSpPr>
        <p:spPr>
          <a:xfrm>
            <a:off x="548640" y="3520440"/>
            <a:ext cx="420624" cy="420624"/>
          </a:xfrm>
          <a:prstGeom prst="ellipse">
            <a:avLst/>
          </a:prstGeom>
          <a:solidFill>
            <a:srgbClr val="C4401F"/>
          </a:solidFill>
          <a:ln w="12700">
            <a:solidFill>
              <a:srgbClr val="C4401F"/>
            </a:solidFill>
            <a:prstDash val="solid"/>
          </a:ln>
        </p:spPr>
      </p:sp>
      <p:sp>
        <p:nvSpPr>
          <p:cNvPr id="16" name="Text 14"/>
          <p:cNvSpPr txBox="1"/>
          <p:nvPr/>
        </p:nvSpPr>
        <p:spPr>
          <a:xfrm>
            <a:off x="548640" y="35204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17" name="Text 15"/>
          <p:cNvSpPr txBox="1"/>
          <p:nvPr/>
        </p:nvSpPr>
        <p:spPr>
          <a:xfrm>
            <a:off x="1115568" y="347472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“Yechim va tavsiya”da nima qilish kerakligini ko’ring</a:t>
            </a:r>
            <a:endParaRPr lang="en-US" sz="1500" dirty="0"/>
          </a:p>
        </p:txBody>
      </p:sp>
      <p:sp>
        <p:nvSpPr>
          <p:cNvPr id="18" name="Shape 16"/>
          <p:cNvSpPr/>
          <p:nvPr/>
        </p:nvSpPr>
        <p:spPr>
          <a:xfrm>
            <a:off x="4206240" y="3520440"/>
            <a:ext cx="420624" cy="420624"/>
          </a:xfrm>
          <a:prstGeom prst="ellipse">
            <a:avLst/>
          </a:prstGeom>
          <a:solidFill>
            <a:srgbClr val="C4401F"/>
          </a:solidFill>
          <a:ln w="12700">
            <a:solidFill>
              <a:srgbClr val="C4401F"/>
            </a:solidFill>
            <a:prstDash val="solid"/>
          </a:ln>
        </p:spPr>
      </p:sp>
      <p:sp>
        <p:nvSpPr>
          <p:cNvPr id="19" name="Text 17"/>
          <p:cNvSpPr txBox="1"/>
          <p:nvPr/>
        </p:nvSpPr>
        <p:spPr>
          <a:xfrm>
            <a:off x="4206240" y="35204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0" name="Text 18"/>
          <p:cNvSpPr txBox="1"/>
          <p:nvPr/>
        </p:nvSpPr>
        <p:spPr>
          <a:xfrm>
            <a:off x="4773168" y="3474720"/>
            <a:ext cx="2926080" cy="868680"/>
          </a:xfrm>
          <a:prstGeom prst="rect">
            <a:avLst/>
          </a:prstGeom>
          <a:noFill/>
          <a:ln/>
        </p:spPr>
        <p:txBody>
          <a:bodyPr wrap="square" lIns="0" tIns="0" rIns="0" bIns="0" rtlCol="0" anchor="t"/>
          <a:lstStyle/>
          <a:p>
            <a:pPr indent="0" marL="0">
              <a:buNone/>
            </a:pPr>
            <a:r>
              <a:rPr lang="en-US" sz="1500" dirty="0">
                <a:solidFill>
                  <a:srgbClr val="16212E"/>
                </a:solidFill>
                <a:latin typeface="Calibri" pitchFamily="34" charset="0"/>
                <a:ea typeface="Calibri" pitchFamily="34" charset="-122"/>
                <a:cs typeface="Calibri" pitchFamily="34" charset="-120"/>
              </a:rPr>
              <a:t>“Hisobot”ni nusxalang yoki yuklab oling</a:t>
            </a:r>
            <a:endParaRPr lang="en-US" sz="1500" dirty="0"/>
          </a:p>
        </p:txBody>
      </p:sp>
      <p:sp>
        <p:nvSpPr>
          <p:cNvPr id="21" name="Havola"/>
          <p:cNvSpPr/>
          <p:nvPr/>
        </p:nvSpPr>
        <p:spPr>
          <a:xfrm>
            <a:off x="548640" y="4617720"/>
            <a:ext cx="6949440" cy="1463040"/>
          </a:xfrm>
          <a:prstGeom prst="roundRect">
            <a:avLst>
              <a:gd name="adj" fmla="val 7500"/>
            </a:avLst>
          </a:prstGeom>
          <a:solidFill>
            <a:srgbClr val="E8F0FA"/>
          </a:solidFill>
          <a:ln w="12700">
            <a:solidFill>
              <a:srgbClr val="E8F0FA"/>
            </a:solidFill>
            <a:prstDash val="solid"/>
          </a:ln>
        </p:spPr>
      </p:sp>
      <p:sp>
        <p:nvSpPr>
          <p:cNvPr id="22" name="Text 20"/>
          <p:cNvSpPr txBox="1"/>
          <p:nvPr/>
        </p:nvSpPr>
        <p:spPr>
          <a:xfrm>
            <a:off x="777240" y="4736592"/>
            <a:ext cx="6400800" cy="320040"/>
          </a:xfrm>
          <a:prstGeom prst="rect">
            <a:avLst/>
          </a:prstGeom>
          <a:noFill/>
          <a:ln/>
        </p:spPr>
        <p:txBody>
          <a:bodyPr wrap="square" lIns="0" tIns="0" rIns="0" bIns="0" rtlCol="0" anchor="t"/>
          <a:lstStyle/>
          <a:p>
            <a:pPr indent="0" marL="0">
              <a:buNone/>
            </a:pPr>
            <a:r>
              <a:rPr lang="en-US" sz="1400" dirty="0">
                <a:solidFill>
                  <a:srgbClr val="56657A"/>
                </a:solidFill>
                <a:latin typeface="Calibri" pitchFamily="34" charset="0"/>
                <a:ea typeface="Calibri" pitchFamily="34" charset="-122"/>
                <a:cs typeface="Calibri" pitchFamily="34" charset="-120"/>
              </a:rPr>
              <a:t>Sayt manzili</a:t>
            </a:r>
            <a:endParaRPr lang="en-US" sz="1400" dirty="0"/>
          </a:p>
        </p:txBody>
      </p:sp>
      <p:sp>
        <p:nvSpPr>
          <p:cNvPr id="23" name="Text 21">
            <a:hlinkClick r:id="rId1" tooltip=""/>
          </p:cNvPr>
          <p:cNvSpPr txBox="1"/>
          <p:nvPr/>
        </p:nvSpPr>
        <p:spPr>
          <a:xfrm>
            <a:off x="777240" y="5074920"/>
            <a:ext cx="6583680" cy="457200"/>
          </a:xfrm>
          <a:prstGeom prst="rect">
            <a:avLst/>
          </a:prstGeom>
          <a:noFill/>
          <a:ln/>
        </p:spPr>
        <p:txBody>
          <a:bodyPr wrap="square" lIns="0" tIns="0" rIns="0" bIns="0" rtlCol="0" anchor="t"/>
          <a:lstStyle/>
          <a:p>
            <a:pPr indent="0" marL="0">
              <a:buNone/>
            </a:pPr>
            <a:r>
              <a:rPr lang="en-US" sz="2200" b="1"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2200" dirty="0"/>
          </a:p>
        </p:txBody>
      </p:sp>
      <p:sp>
        <p:nvSpPr>
          <p:cNvPr id="24" name="Text 22">
            <a:hlinkClick r:id="rId2" tooltip=""/>
          </p:cNvPr>
          <p:cNvSpPr txBox="1"/>
          <p:nvPr/>
        </p:nvSpPr>
        <p:spPr>
          <a:xfrm>
            <a:off x="777240" y="5577840"/>
            <a:ext cx="6400800" cy="365760"/>
          </a:xfrm>
          <a:prstGeom prst="rect">
            <a:avLst/>
          </a:prstGeom>
          <a:noFill/>
          <a:ln/>
        </p:spPr>
        <p:txBody>
          <a:bodyPr wrap="square" lIns="0" tIns="0" rIns="0" bIns="0" rtlCol="0" anchor="t"/>
          <a:lstStyle/>
          <a:p>
            <a:pPr indent="0" marL="0">
              <a:buNone/>
            </a:pPr>
            <a:r>
              <a:rPr lang="en-US" sz="1400" u="sng" dirty="0">
                <a:solidFill>
                  <a:srgbClr val="56657A"/>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Kod: github.com/ulugbekkamalov0829-web/termolab</a:t>
            </a:r>
            <a:endParaRPr lang="en-US" sz="1400" dirty="0"/>
          </a:p>
        </p:txBody>
      </p:sp>
      <p:pic>
        <p:nvPicPr>
          <p:cNvPr id="25" name="Matnli hisobot namunasi" descr="Matnli hisobot namunasi">    </p:cNvPr>
          <p:cNvPicPr>
            <a:picLocks noChangeAspect="1"/>
          </p:cNvPicPr>
          <p:nvPr/>
        </p:nvPicPr>
        <p:blipFill>
          <a:blip r:embed="rId3"/>
          <a:stretch>
            <a:fillRect/>
          </a:stretch>
        </p:blipFill>
        <p:spPr>
          <a:xfrm>
            <a:off x="8871886" y="1280160"/>
            <a:ext cx="1760379" cy="4846320"/>
          </a:xfrm>
          <a:prstGeom prst="rect">
            <a:avLst/>
          </a:prstGeom>
        </p:spPr>
      </p:pic>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Kimga va qanday foyda beradi</a:t>
            </a:r>
            <a:endParaRPr lang="en-US" sz="3200" dirty="0"/>
          </a:p>
        </p:txBody>
      </p:sp>
      <p:sp>
        <p:nvSpPr>
          <p:cNvPr id="3" name="Talaba va o’qituvchi"/>
          <p:cNvSpPr/>
          <p:nvPr/>
        </p:nvSpPr>
        <p:spPr>
          <a:xfrm>
            <a:off x="548640" y="1325880"/>
            <a:ext cx="3493008" cy="1874520"/>
          </a:xfrm>
          <a:prstGeom prst="roundRect">
            <a:avLst>
              <a:gd name="adj" fmla="val 5854"/>
            </a:avLst>
          </a:prstGeom>
          <a:solidFill>
            <a:srgbClr val="F2F5F8"/>
          </a:solidFill>
          <a:ln w="12700">
            <a:solidFill>
              <a:srgbClr val="F2F5F8"/>
            </a:solidFill>
            <a:prstDash val="solid"/>
          </a:ln>
        </p:spPr>
      </p:sp>
      <p:sp>
        <p:nvSpPr>
          <p:cNvPr id="4" name="Text 2"/>
          <p:cNvSpPr txBox="1"/>
          <p:nvPr/>
        </p:nvSpPr>
        <p:spPr>
          <a:xfrm>
            <a:off x="749808" y="1490472"/>
            <a:ext cx="3108960" cy="365760"/>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Talaba va o’qituvchi</a:t>
            </a:r>
            <a:endParaRPr lang="en-US" sz="1700" dirty="0"/>
          </a:p>
        </p:txBody>
      </p:sp>
      <p:sp>
        <p:nvSpPr>
          <p:cNvPr id="5" name="Text 3"/>
          <p:cNvSpPr txBox="1"/>
          <p:nvPr/>
        </p:nvSpPr>
        <p:spPr>
          <a:xfrm>
            <a:off x="749808" y="1947672"/>
            <a:ext cx="3108960" cy="118872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Sonli usullarni ko’rib o’rganadi: turg’unlik, aniqlik, usullar taqqoslash – jonli tajriba sifatida.</a:t>
            </a:r>
            <a:endParaRPr lang="en-US" sz="1400" dirty="0"/>
          </a:p>
        </p:txBody>
      </p:sp>
      <p:sp>
        <p:nvSpPr>
          <p:cNvPr id="6" name="Quruvchi va muhandis"/>
          <p:cNvSpPr/>
          <p:nvPr/>
        </p:nvSpPr>
        <p:spPr>
          <a:xfrm>
            <a:off x="4206240" y="1325880"/>
            <a:ext cx="3493008" cy="1874520"/>
          </a:xfrm>
          <a:prstGeom prst="roundRect">
            <a:avLst>
              <a:gd name="adj" fmla="val 5854"/>
            </a:avLst>
          </a:prstGeom>
          <a:solidFill>
            <a:srgbClr val="F2F5F8"/>
          </a:solidFill>
          <a:ln w="12700">
            <a:solidFill>
              <a:srgbClr val="F2F5F8"/>
            </a:solidFill>
            <a:prstDash val="solid"/>
          </a:ln>
        </p:spPr>
      </p:sp>
      <p:sp>
        <p:nvSpPr>
          <p:cNvPr id="7" name="Text 5"/>
          <p:cNvSpPr txBox="1"/>
          <p:nvPr/>
        </p:nvSpPr>
        <p:spPr>
          <a:xfrm>
            <a:off x="4407408" y="1490472"/>
            <a:ext cx="3108960" cy="365760"/>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Quruvchi va muhandis</a:t>
            </a:r>
            <a:endParaRPr lang="en-US" sz="1700" dirty="0"/>
          </a:p>
        </p:txBody>
      </p:sp>
      <p:sp>
        <p:nvSpPr>
          <p:cNvPr id="8" name="Text 6"/>
          <p:cNvSpPr txBox="1"/>
          <p:nvPr/>
        </p:nvSpPr>
        <p:spPr>
          <a:xfrm>
            <a:off x="4407408" y="1947672"/>
            <a:ext cx="3108960" cy="118872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Izolyatsiya, beton qotishi, yong’inga chidamlilikni bir necha soniyada baholaydi.</a:t>
            </a:r>
            <a:endParaRPr lang="en-US" sz="1400" dirty="0"/>
          </a:p>
        </p:txBody>
      </p:sp>
      <p:sp>
        <p:nvSpPr>
          <p:cNvPr id="9" name="Uy egasi"/>
          <p:cNvSpPr/>
          <p:nvPr/>
        </p:nvSpPr>
        <p:spPr>
          <a:xfrm>
            <a:off x="548640" y="3383280"/>
            <a:ext cx="3493008" cy="1874520"/>
          </a:xfrm>
          <a:prstGeom prst="roundRect">
            <a:avLst>
              <a:gd name="adj" fmla="val 5854"/>
            </a:avLst>
          </a:prstGeom>
          <a:solidFill>
            <a:srgbClr val="F2F5F8"/>
          </a:solidFill>
          <a:ln w="12700">
            <a:solidFill>
              <a:srgbClr val="F2F5F8"/>
            </a:solidFill>
            <a:prstDash val="solid"/>
          </a:ln>
        </p:spPr>
      </p:sp>
      <p:sp>
        <p:nvSpPr>
          <p:cNvPr id="10" name="Text 8"/>
          <p:cNvSpPr txBox="1"/>
          <p:nvPr/>
        </p:nvSpPr>
        <p:spPr>
          <a:xfrm>
            <a:off x="749808" y="3547872"/>
            <a:ext cx="3108960" cy="365760"/>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Uy egasi</a:t>
            </a:r>
            <a:endParaRPr lang="en-US" sz="1700" dirty="0"/>
          </a:p>
        </p:txBody>
      </p:sp>
      <p:sp>
        <p:nvSpPr>
          <p:cNvPr id="11" name="Text 9"/>
          <p:cNvSpPr txBox="1"/>
          <p:nvPr/>
        </p:nvSpPr>
        <p:spPr>
          <a:xfrm>
            <a:off x="749808" y="4005072"/>
            <a:ext cx="3108960" cy="118872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Issiqlikni tejash, quvur izolyatsiyasi, konserva xavfsizligi bo’yicha tushunarli tavsiya oladi.</a:t>
            </a:r>
            <a:endParaRPr lang="en-US" sz="1400" dirty="0"/>
          </a:p>
        </p:txBody>
      </p:sp>
      <p:sp>
        <p:nvSpPr>
          <p:cNvPr id="12" name="Dasturchi"/>
          <p:cNvSpPr/>
          <p:nvPr/>
        </p:nvSpPr>
        <p:spPr>
          <a:xfrm>
            <a:off x="4206240" y="3383280"/>
            <a:ext cx="3493008" cy="1874520"/>
          </a:xfrm>
          <a:prstGeom prst="roundRect">
            <a:avLst>
              <a:gd name="adj" fmla="val 5854"/>
            </a:avLst>
          </a:prstGeom>
          <a:solidFill>
            <a:srgbClr val="F2F5F8"/>
          </a:solidFill>
          <a:ln w="12700">
            <a:solidFill>
              <a:srgbClr val="F2F5F8"/>
            </a:solidFill>
            <a:prstDash val="solid"/>
          </a:ln>
        </p:spPr>
      </p:sp>
      <p:sp>
        <p:nvSpPr>
          <p:cNvPr id="13" name="Text 11"/>
          <p:cNvSpPr txBox="1"/>
          <p:nvPr/>
        </p:nvSpPr>
        <p:spPr>
          <a:xfrm>
            <a:off x="4407408" y="3547872"/>
            <a:ext cx="3108960" cy="365760"/>
          </a:xfrm>
          <a:prstGeom prst="rect">
            <a:avLst/>
          </a:prstGeom>
          <a:noFill/>
          <a:ln/>
        </p:spPr>
        <p:txBody>
          <a:bodyPr wrap="square" lIns="0" tIns="0" rIns="0" bIns="0" rtlCol="0" anchor="t"/>
          <a:lstStyle/>
          <a:p>
            <a:pPr indent="0" marL="0">
              <a:buNone/>
            </a:pPr>
            <a:r>
              <a:rPr lang="en-US" sz="1700" b="1" dirty="0">
                <a:solidFill>
                  <a:srgbClr val="C4401F"/>
                </a:solidFill>
                <a:latin typeface="Calibri" pitchFamily="34" charset="0"/>
                <a:ea typeface="Calibri" pitchFamily="34" charset="-122"/>
                <a:cs typeface="Calibri" pitchFamily="34" charset="-120"/>
              </a:rPr>
              <a:t>Dasturchi</a:t>
            </a:r>
            <a:endParaRPr lang="en-US" sz="1700" dirty="0"/>
          </a:p>
        </p:txBody>
      </p:sp>
      <p:sp>
        <p:nvSpPr>
          <p:cNvPr id="14" name="Text 12"/>
          <p:cNvSpPr txBox="1"/>
          <p:nvPr/>
        </p:nvSpPr>
        <p:spPr>
          <a:xfrm>
            <a:off x="4407408" y="4005072"/>
            <a:ext cx="3108960" cy="1188720"/>
          </a:xfrm>
          <a:prstGeom prst="rect">
            <a:avLst/>
          </a:prstGeom>
          <a:noFill/>
          <a:ln/>
        </p:spPr>
        <p:txBody>
          <a:bodyPr wrap="square" lIns="0" tIns="0" rIns="0" bIns="0" rtlCol="0" anchor="t"/>
          <a:lstStyle/>
          <a:p>
            <a:pPr indent="0" marL="0">
              <a:buNone/>
            </a:pPr>
            <a:r>
              <a:rPr lang="en-US" sz="1400" dirty="0">
                <a:solidFill>
                  <a:srgbClr val="16212E"/>
                </a:solidFill>
                <a:latin typeface="Calibri" pitchFamily="34" charset="0"/>
                <a:ea typeface="Calibri" pitchFamily="34" charset="-122"/>
                <a:cs typeface="Calibri" pitchFamily="34" charset="-120"/>
              </a:rPr>
              <a:t>Ochiq kod: yadroni o’z loyihasida ishlatadi yoki yangi masala qo’shadi.</a:t>
            </a:r>
            <a:endParaRPr lang="en-US" sz="1400" dirty="0"/>
          </a:p>
        </p:txBody>
      </p:sp>
      <p:sp>
        <p:nvSpPr>
          <p:cNvPr id="15" name="0 so’m"/>
          <p:cNvSpPr/>
          <p:nvPr/>
        </p:nvSpPr>
        <p:spPr>
          <a:xfrm>
            <a:off x="8001000" y="1325880"/>
            <a:ext cx="3639312" cy="896112"/>
          </a:xfrm>
          <a:prstGeom prst="roundRect">
            <a:avLst>
              <a:gd name="adj" fmla="val 12245"/>
            </a:avLst>
          </a:prstGeom>
          <a:solidFill>
            <a:srgbClr val="E7F4EC"/>
          </a:solidFill>
          <a:ln w="12700">
            <a:solidFill>
              <a:srgbClr val="E7F4EC"/>
            </a:solidFill>
            <a:prstDash val="solid"/>
          </a:ln>
        </p:spPr>
      </p:sp>
      <p:sp>
        <p:nvSpPr>
          <p:cNvPr id="16" name="Text 14"/>
          <p:cNvSpPr txBox="1"/>
          <p:nvPr/>
        </p:nvSpPr>
        <p:spPr>
          <a:xfrm>
            <a:off x="8183880" y="1435608"/>
            <a:ext cx="1463040" cy="685800"/>
          </a:xfrm>
          <a:prstGeom prst="rect">
            <a:avLst/>
          </a:prstGeom>
          <a:noFill/>
          <a:ln/>
        </p:spPr>
        <p:txBody>
          <a:bodyPr wrap="square" lIns="0" tIns="0" rIns="0" bIns="0" rtlCol="0" anchor="ctr"/>
          <a:lstStyle/>
          <a:p>
            <a:pPr indent="0" marL="0">
              <a:buNone/>
            </a:pPr>
            <a:r>
              <a:rPr lang="en-US" sz="2400" b="1" dirty="0">
                <a:solidFill>
                  <a:srgbClr val="1F7A4A"/>
                </a:solidFill>
                <a:latin typeface="Cambria" pitchFamily="34" charset="0"/>
                <a:ea typeface="Cambria" pitchFamily="34" charset="-122"/>
                <a:cs typeface="Cambria" pitchFamily="34" charset="-120"/>
              </a:rPr>
              <a:t>0 so’m</a:t>
            </a:r>
            <a:endParaRPr lang="en-US" sz="2400" dirty="0"/>
          </a:p>
        </p:txBody>
      </p:sp>
      <p:sp>
        <p:nvSpPr>
          <p:cNvPr id="17" name="Text 15"/>
          <p:cNvSpPr txBox="1"/>
          <p:nvPr/>
        </p:nvSpPr>
        <p:spPr>
          <a:xfrm>
            <a:off x="9646920" y="1435608"/>
            <a:ext cx="1874520" cy="685800"/>
          </a:xfrm>
          <a:prstGeom prst="rect">
            <a:avLst/>
          </a:prstGeom>
          <a:noFill/>
          <a:ln/>
        </p:spPr>
        <p:txBody>
          <a:bodyPr wrap="square" lIns="0" tIns="0" rIns="0" bIns="0" rtlCol="0" anchor="ctr"/>
          <a:lstStyle/>
          <a:p>
            <a:pPr indent="0" marL="0">
              <a:buNone/>
            </a:pPr>
            <a:r>
              <a:rPr lang="en-US" sz="1300" dirty="0">
                <a:solidFill>
                  <a:srgbClr val="16212E"/>
                </a:solidFill>
                <a:latin typeface="Calibri" pitchFamily="34" charset="0"/>
                <a:ea typeface="Calibri" pitchFamily="34" charset="-122"/>
                <a:cs typeface="Calibri" pitchFamily="34" charset="-120"/>
              </a:rPr>
              <a:t>bepul, litsenziyasiz</a:t>
            </a:r>
            <a:endParaRPr lang="en-US" sz="1300" dirty="0"/>
          </a:p>
        </p:txBody>
      </p:sp>
      <p:sp>
        <p:nvSpPr>
          <p:cNvPr id="18" name="0"/>
          <p:cNvSpPr/>
          <p:nvPr/>
        </p:nvSpPr>
        <p:spPr>
          <a:xfrm>
            <a:off x="8001000" y="2350008"/>
            <a:ext cx="3639312" cy="896112"/>
          </a:xfrm>
          <a:prstGeom prst="roundRect">
            <a:avLst>
              <a:gd name="adj" fmla="val 12245"/>
            </a:avLst>
          </a:prstGeom>
          <a:solidFill>
            <a:srgbClr val="E7F4EC"/>
          </a:solidFill>
          <a:ln w="12700">
            <a:solidFill>
              <a:srgbClr val="E7F4EC"/>
            </a:solidFill>
            <a:prstDash val="solid"/>
          </a:ln>
        </p:spPr>
      </p:sp>
      <p:sp>
        <p:nvSpPr>
          <p:cNvPr id="19" name="Text 17"/>
          <p:cNvSpPr txBox="1"/>
          <p:nvPr/>
        </p:nvSpPr>
        <p:spPr>
          <a:xfrm>
            <a:off x="8183880" y="2459736"/>
            <a:ext cx="1463040" cy="685800"/>
          </a:xfrm>
          <a:prstGeom prst="rect">
            <a:avLst/>
          </a:prstGeom>
          <a:noFill/>
          <a:ln/>
        </p:spPr>
        <p:txBody>
          <a:bodyPr wrap="square" lIns="0" tIns="0" rIns="0" bIns="0" rtlCol="0" anchor="ctr"/>
          <a:lstStyle/>
          <a:p>
            <a:pPr indent="0" marL="0">
              <a:buNone/>
            </a:pPr>
            <a:r>
              <a:rPr lang="en-US" sz="2400" b="1" dirty="0">
                <a:solidFill>
                  <a:srgbClr val="1F7A4A"/>
                </a:solidFill>
                <a:latin typeface="Cambria" pitchFamily="34" charset="0"/>
                <a:ea typeface="Cambria" pitchFamily="34" charset="-122"/>
                <a:cs typeface="Cambria" pitchFamily="34" charset="-120"/>
              </a:rPr>
              <a:t>0</a:t>
            </a:r>
            <a:endParaRPr lang="en-US" sz="2400" dirty="0"/>
          </a:p>
        </p:txBody>
      </p:sp>
      <p:sp>
        <p:nvSpPr>
          <p:cNvPr id="20" name="Text 18"/>
          <p:cNvSpPr txBox="1"/>
          <p:nvPr/>
        </p:nvSpPr>
        <p:spPr>
          <a:xfrm>
            <a:off x="9646920" y="2459736"/>
            <a:ext cx="1874520" cy="685800"/>
          </a:xfrm>
          <a:prstGeom prst="rect">
            <a:avLst/>
          </a:prstGeom>
          <a:noFill/>
          <a:ln/>
        </p:spPr>
        <p:txBody>
          <a:bodyPr wrap="square" lIns="0" tIns="0" rIns="0" bIns="0" rtlCol="0" anchor="ctr"/>
          <a:lstStyle/>
          <a:p>
            <a:pPr indent="0" marL="0">
              <a:buNone/>
            </a:pPr>
            <a:r>
              <a:rPr lang="en-US" sz="1300" dirty="0">
                <a:solidFill>
                  <a:srgbClr val="16212E"/>
                </a:solidFill>
                <a:latin typeface="Calibri" pitchFamily="34" charset="0"/>
                <a:ea typeface="Calibri" pitchFamily="34" charset="-122"/>
                <a:cs typeface="Calibri" pitchFamily="34" charset="-120"/>
              </a:rPr>
              <a:t>tashqi kutubxona – internetsiz ishlaydi</a:t>
            </a:r>
            <a:endParaRPr lang="en-US" sz="1300" dirty="0"/>
          </a:p>
        </p:txBody>
      </p:sp>
      <p:sp>
        <p:nvSpPr>
          <p:cNvPr id="21" name="O’zbek"/>
          <p:cNvSpPr/>
          <p:nvPr/>
        </p:nvSpPr>
        <p:spPr>
          <a:xfrm>
            <a:off x="8001000" y="3374136"/>
            <a:ext cx="3639312" cy="896112"/>
          </a:xfrm>
          <a:prstGeom prst="roundRect">
            <a:avLst>
              <a:gd name="adj" fmla="val 12245"/>
            </a:avLst>
          </a:prstGeom>
          <a:solidFill>
            <a:srgbClr val="E7F4EC"/>
          </a:solidFill>
          <a:ln w="12700">
            <a:solidFill>
              <a:srgbClr val="E7F4EC"/>
            </a:solidFill>
            <a:prstDash val="solid"/>
          </a:ln>
        </p:spPr>
      </p:sp>
      <p:sp>
        <p:nvSpPr>
          <p:cNvPr id="22" name="Text 20"/>
          <p:cNvSpPr txBox="1"/>
          <p:nvPr/>
        </p:nvSpPr>
        <p:spPr>
          <a:xfrm>
            <a:off x="8183880" y="3483864"/>
            <a:ext cx="1463040" cy="685800"/>
          </a:xfrm>
          <a:prstGeom prst="rect">
            <a:avLst/>
          </a:prstGeom>
          <a:noFill/>
          <a:ln/>
        </p:spPr>
        <p:txBody>
          <a:bodyPr wrap="square" lIns="0" tIns="0" rIns="0" bIns="0" rtlCol="0" anchor="ctr"/>
          <a:lstStyle/>
          <a:p>
            <a:pPr indent="0" marL="0">
              <a:buNone/>
            </a:pPr>
            <a:r>
              <a:rPr lang="en-US" sz="2400" b="1" dirty="0">
                <a:solidFill>
                  <a:srgbClr val="1F7A4A"/>
                </a:solidFill>
                <a:latin typeface="Cambria" pitchFamily="34" charset="0"/>
                <a:ea typeface="Cambria" pitchFamily="34" charset="-122"/>
                <a:cs typeface="Cambria" pitchFamily="34" charset="-120"/>
              </a:rPr>
              <a:t>O’zbek</a:t>
            </a:r>
            <a:endParaRPr lang="en-US" sz="2400" dirty="0"/>
          </a:p>
        </p:txBody>
      </p:sp>
      <p:sp>
        <p:nvSpPr>
          <p:cNvPr id="23" name="Text 21"/>
          <p:cNvSpPr txBox="1"/>
          <p:nvPr/>
        </p:nvSpPr>
        <p:spPr>
          <a:xfrm>
            <a:off x="9646920" y="3483864"/>
            <a:ext cx="1874520" cy="685800"/>
          </a:xfrm>
          <a:prstGeom prst="rect">
            <a:avLst/>
          </a:prstGeom>
          <a:noFill/>
          <a:ln/>
        </p:spPr>
        <p:txBody>
          <a:bodyPr wrap="square" lIns="0" tIns="0" rIns="0" bIns="0" rtlCol="0" anchor="ctr"/>
          <a:lstStyle/>
          <a:p>
            <a:pPr indent="0" marL="0">
              <a:buNone/>
            </a:pPr>
            <a:r>
              <a:rPr lang="en-US" sz="1300" dirty="0">
                <a:solidFill>
                  <a:srgbClr val="16212E"/>
                </a:solidFill>
                <a:latin typeface="Calibri" pitchFamily="34" charset="0"/>
                <a:ea typeface="Calibri" pitchFamily="34" charset="-122"/>
                <a:cs typeface="Calibri" pitchFamily="34" charset="-120"/>
              </a:rPr>
              <a:t>tilida, sohaning tilida</a:t>
            </a:r>
            <a:endParaRPr lang="en-US" sz="1300" dirty="0"/>
          </a:p>
        </p:txBody>
      </p:sp>
      <p:sp>
        <p:nvSpPr>
          <p:cNvPr id="24" name="100 %"/>
          <p:cNvSpPr/>
          <p:nvPr/>
        </p:nvSpPr>
        <p:spPr>
          <a:xfrm>
            <a:off x="8001000" y="4398264"/>
            <a:ext cx="3639312" cy="896112"/>
          </a:xfrm>
          <a:prstGeom prst="roundRect">
            <a:avLst>
              <a:gd name="adj" fmla="val 12245"/>
            </a:avLst>
          </a:prstGeom>
          <a:solidFill>
            <a:srgbClr val="E7F4EC"/>
          </a:solidFill>
          <a:ln w="12700">
            <a:solidFill>
              <a:srgbClr val="E7F4EC"/>
            </a:solidFill>
            <a:prstDash val="solid"/>
          </a:ln>
        </p:spPr>
      </p:sp>
      <p:sp>
        <p:nvSpPr>
          <p:cNvPr id="25" name="Text 23"/>
          <p:cNvSpPr txBox="1"/>
          <p:nvPr/>
        </p:nvSpPr>
        <p:spPr>
          <a:xfrm>
            <a:off x="8183880" y="4507992"/>
            <a:ext cx="1463040" cy="685800"/>
          </a:xfrm>
          <a:prstGeom prst="rect">
            <a:avLst/>
          </a:prstGeom>
          <a:noFill/>
          <a:ln/>
        </p:spPr>
        <p:txBody>
          <a:bodyPr wrap="square" lIns="0" tIns="0" rIns="0" bIns="0" rtlCol="0" anchor="ctr"/>
          <a:lstStyle/>
          <a:p>
            <a:pPr indent="0" marL="0">
              <a:buNone/>
            </a:pPr>
            <a:r>
              <a:rPr lang="en-US" sz="2400" b="1" dirty="0">
                <a:solidFill>
                  <a:srgbClr val="1F7A4A"/>
                </a:solidFill>
                <a:latin typeface="Cambria" pitchFamily="34" charset="0"/>
                <a:ea typeface="Cambria" pitchFamily="34" charset="-122"/>
                <a:cs typeface="Cambria" pitchFamily="34" charset="-120"/>
              </a:rPr>
              <a:t>100 %</a:t>
            </a:r>
            <a:endParaRPr lang="en-US" sz="2400" dirty="0"/>
          </a:p>
        </p:txBody>
      </p:sp>
      <p:sp>
        <p:nvSpPr>
          <p:cNvPr id="26" name="Text 24"/>
          <p:cNvSpPr txBox="1"/>
          <p:nvPr/>
        </p:nvSpPr>
        <p:spPr>
          <a:xfrm>
            <a:off x="9646920" y="4507992"/>
            <a:ext cx="1874520" cy="685800"/>
          </a:xfrm>
          <a:prstGeom prst="rect">
            <a:avLst/>
          </a:prstGeom>
          <a:noFill/>
          <a:ln/>
        </p:spPr>
        <p:txBody>
          <a:bodyPr wrap="square" lIns="0" tIns="0" rIns="0" bIns="0" rtlCol="0" anchor="ctr"/>
          <a:lstStyle/>
          <a:p>
            <a:pPr indent="0" marL="0">
              <a:buNone/>
            </a:pPr>
            <a:r>
              <a:rPr lang="en-US" sz="1300" dirty="0">
                <a:solidFill>
                  <a:srgbClr val="16212E"/>
                </a:solidFill>
                <a:latin typeface="Calibri" pitchFamily="34" charset="0"/>
                <a:ea typeface="Calibri" pitchFamily="34" charset="-122"/>
                <a:cs typeface="Calibri" pitchFamily="34" charset="-120"/>
              </a:rPr>
              <a:t>ochiq kod – GitHub</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777240"/>
          </a:xfrm>
          <a:prstGeom prst="rect">
            <a:avLst/>
          </a:prstGeom>
          <a:noFill/>
          <a:ln/>
        </p:spPr>
        <p:txBody>
          <a:bodyPr wrap="square" lIns="0" tIns="0" rIns="0" bIns="0" rtlCol="0" anchor="ctr"/>
          <a:lstStyle/>
          <a:p>
            <a:pPr indent="0" marL="0">
              <a:buNone/>
            </a:pPr>
            <a:r>
              <a:rPr lang="en-US" sz="3200" b="1" dirty="0">
                <a:solidFill>
                  <a:schemeClr val="tx1"/>
                </a:solidFill>
              </a:rPr>
              <a:t>Xulosa va keyingi bosqich</a:t>
            </a:r>
            <a:endParaRPr lang="en-US" sz="3200" dirty="0"/>
          </a:p>
        </p:txBody>
      </p:sp>
      <p:sp>
        <p:nvSpPr>
          <p:cNvPr id="3" name="Text 1"/>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1F7A4A"/>
                </a:solidFill>
                <a:latin typeface="Calibri" pitchFamily="34" charset="0"/>
                <a:ea typeface="Calibri" pitchFamily="34" charset="-122"/>
                <a:cs typeface="Calibri" pitchFamily="34" charset="-120"/>
              </a:rPr>
              <a:t>Qilingan ishlar</a:t>
            </a:r>
            <a:endParaRPr lang="en-US" sz="1800" dirty="0"/>
          </a:p>
        </p:txBody>
      </p:sp>
      <p:sp>
        <p:nvSpPr>
          <p:cNvPr id="4" name="Text 2"/>
          <p:cNvSpPr txBox="1"/>
          <p:nvPr/>
        </p:nvSpPr>
        <p:spPr>
          <a:xfrm>
            <a:off x="548640" y="1783080"/>
            <a:ext cx="5486400"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Umumiy model: 1D/2D, tekis, silindrik, sferik, ko’p qatlamli, nochiziqli</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6 ta usul taqqoslandi; eng maqbuli aniqlandi: Krank–Nikolson va ADI</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8 ta amaliy soha: javob, teskari masala, tavsiya, hisobot, 3D</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Uch xil tekshiruv, jumladan Yevrokod 2 me’yori bilan</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Ochiq veb-ilova va GitHub’dagi kod</a:t>
            </a:r>
            <a:endParaRPr lang="en-US" sz="1500" dirty="0"/>
          </a:p>
        </p:txBody>
      </p:sp>
      <p:sp>
        <p:nvSpPr>
          <p:cNvPr id="5" name="Text 3"/>
          <p:cNvSpPr txBox="1"/>
          <p:nvPr/>
        </p:nvSpPr>
        <p:spPr>
          <a:xfrm>
            <a:off x="6400800" y="1325880"/>
            <a:ext cx="5212080" cy="365760"/>
          </a:xfrm>
          <a:prstGeom prst="rect">
            <a:avLst/>
          </a:prstGeom>
          <a:noFill/>
          <a:ln/>
        </p:spPr>
        <p:txBody>
          <a:bodyPr wrap="square" lIns="0" tIns="0" rIns="0" bIns="0" rtlCol="0" anchor="t"/>
          <a:lstStyle/>
          <a:p>
            <a:pPr indent="0" marL="0">
              <a:buNone/>
            </a:pPr>
            <a:r>
              <a:rPr lang="en-US" sz="1800" b="1" dirty="0">
                <a:solidFill>
                  <a:srgbClr val="C4401F"/>
                </a:solidFill>
                <a:latin typeface="Calibri" pitchFamily="34" charset="0"/>
                <a:ea typeface="Calibri" pitchFamily="34" charset="-122"/>
                <a:cs typeface="Calibri" pitchFamily="34" charset="-120"/>
              </a:rPr>
              <a:t>Keyingi bosqich</a:t>
            </a:r>
            <a:endParaRPr lang="en-US" sz="1800" dirty="0"/>
          </a:p>
        </p:txBody>
      </p:sp>
      <p:sp>
        <p:nvSpPr>
          <p:cNvPr id="6" name="Text 4"/>
          <p:cNvSpPr txBox="1"/>
          <p:nvPr/>
        </p:nvSpPr>
        <p:spPr>
          <a:xfrm>
            <a:off x="6400800" y="1783080"/>
            <a:ext cx="5239512" cy="30175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Faza o’zgarishi: tuproq va oziq-ovqat muzlashi</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Murakkab 3D shakllar (chekli elementlar usuli)</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O’zbekiston qurilish me’yorlari (ShNQ) bilan solishtirish</a:t>
            </a:r>
            <a:endParaRPr lang="en-US" sz="1500" dirty="0"/>
          </a:p>
          <a:p>
            <a:pPr marL="342900" indent="-342900">
              <a:spcAft>
                <a:spcPts val="800"/>
              </a:spcAft>
              <a:buSzPct val="100000"/>
              <a:buChar char="•"/>
            </a:pPr>
            <a:r>
              <a:rPr lang="en-US" sz="1500" dirty="0">
                <a:solidFill>
                  <a:srgbClr val="16212E"/>
                </a:solidFill>
                <a:latin typeface="Calibri" pitchFamily="34" charset="0"/>
                <a:ea typeface="Calibri" pitchFamily="34" charset="-122"/>
                <a:cs typeface="Calibri" pitchFamily="34" charset="-120"/>
              </a:rPr>
              <a:t>Rus va ingliz tillari, mobil ilova</a:t>
            </a:r>
            <a:endParaRPr lang="en-US" sz="1500" dirty="0"/>
          </a:p>
        </p:txBody>
      </p:sp>
      <p:sp>
        <p:nvSpPr>
          <p:cNvPr id="7" name="Yakuniy havola"/>
          <p:cNvSpPr/>
          <p:nvPr/>
        </p:nvSpPr>
        <p:spPr>
          <a:xfrm>
            <a:off x="548640" y="4846320"/>
            <a:ext cx="11091672" cy="1280160"/>
          </a:xfrm>
          <a:prstGeom prst="roundRect">
            <a:avLst>
              <a:gd name="adj" fmla="val 8571"/>
            </a:avLst>
          </a:prstGeom>
          <a:solidFill>
            <a:srgbClr val="E8F0FA"/>
          </a:solidFill>
          <a:ln w="12700">
            <a:solidFill>
              <a:srgbClr val="E8F0FA"/>
            </a:solidFill>
            <a:prstDash val="solid"/>
          </a:ln>
        </p:spPr>
      </p:sp>
      <p:sp>
        <p:nvSpPr>
          <p:cNvPr id="8" name="Text 6"/>
          <p:cNvSpPr txBox="1"/>
          <p:nvPr/>
        </p:nvSpPr>
        <p:spPr>
          <a:xfrm>
            <a:off x="777240" y="4983480"/>
            <a:ext cx="10515600" cy="411480"/>
          </a:xfrm>
          <a:prstGeom prst="rect">
            <a:avLst/>
          </a:prstGeom>
          <a:noFill/>
          <a:ln/>
        </p:spPr>
        <p:txBody>
          <a:bodyPr wrap="square" lIns="0" tIns="0" rIns="0" bIns="0" rtlCol="0" anchor="t"/>
          <a:lstStyle/>
          <a:p>
            <a:pPr indent="0" marL="0">
              <a:buNone/>
            </a:pPr>
            <a:r>
              <a:rPr lang="en-US" sz="1800" b="1" dirty="0">
                <a:solidFill>
                  <a:srgbClr val="16212E"/>
                </a:solidFill>
                <a:latin typeface="Calibri" pitchFamily="34" charset="0"/>
                <a:ea typeface="Calibri" pitchFamily="34" charset="-122"/>
                <a:cs typeface="Calibri" pitchFamily="34" charset="-120"/>
              </a:rPr>
              <a:t>Rahmat! Saytni hozir sinab ko’ring:</a:t>
            </a:r>
            <a:endParaRPr lang="en-US" sz="1800" dirty="0"/>
          </a:p>
        </p:txBody>
      </p:sp>
      <p:sp>
        <p:nvSpPr>
          <p:cNvPr id="9" name="Text 7">
            <a:hlinkClick r:id="rId1" tooltip=""/>
          </p:cNvPr>
          <p:cNvSpPr txBox="1"/>
          <p:nvPr/>
        </p:nvSpPr>
        <p:spPr>
          <a:xfrm>
            <a:off x="777240" y="5440680"/>
            <a:ext cx="10515600" cy="502920"/>
          </a:xfrm>
          <a:prstGeom prst="rect">
            <a:avLst/>
          </a:prstGeom>
          <a:noFill/>
          <a:ln/>
        </p:spPr>
        <p:txBody>
          <a:bodyPr wrap="square" lIns="0" tIns="0" rIns="0" bIns="0" rtlCol="0" anchor="t"/>
          <a:lstStyle/>
          <a:p>
            <a:pPr indent="0" marL="0">
              <a:buNone/>
            </a:pPr>
            <a:r>
              <a:rPr lang="en-US" sz="2600" b="1" u="sng" dirty="0">
                <a:solidFill>
                  <a:srgbClr val="1F5FA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ulugbekkamalov0829-web.github.io/termolab</a:t>
            </a:r>
            <a:endParaRPr lang="en-US" sz="26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8797"/>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TermoLab">
  <a:themeElements>
    <a:clrScheme name="TermoLab">
      <a:dk1>
        <a:srgbClr val="16212E"/>
      </a:dk1>
      <a:lt1>
        <a:srgbClr val="FFFFFF"/>
      </a:lt1>
      <a:dk2>
        <a:srgbClr val="3D4B5C"/>
      </a:dk2>
      <a:lt2>
        <a:srgbClr val="F2F5F8"/>
      </a:lt2>
      <a:accent1>
        <a:srgbClr val="C4401F"/>
      </a:accent1>
      <a:accent2>
        <a:srgbClr val="1F5FA8"/>
      </a:accent2>
      <a:accent3>
        <a:srgbClr val="1F7A4A"/>
      </a:accent3>
      <a:accent4>
        <a:srgbClr val="C77F12"/>
      </a:accent4>
      <a:accent5>
        <a:srgbClr val="B3261E"/>
      </a:accent5>
      <a:accent6>
        <a:srgbClr val="7A8797"/>
      </a:accent6>
      <a:hlink>
        <a:srgbClr val="1F5FA8"/>
      </a:hlink>
      <a:folHlink>
        <a:srgbClr val="6D4C9F"/>
      </a:folHlink>
    </a:clrScheme>
    <a:fontScheme name="TermoLab">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TermoLab — issiqlik tarqalishi uchun virtual laboratoriya</dc:title>
  <dc:subject>StudEXPO-2026, UBS</dc:subject>
  <dc:creator>Kamalov Ulug’bek</dc:creator>
  <cp:lastModifiedBy>Kamalov Ulug’bek</cp:lastModifiedBy>
  <cp:revision>1</cp:revision>
  <dcterms:created xsi:type="dcterms:W3CDTF">2026-10-23T00:41:11Z</dcterms:created>
  <dcterms:modified xsi:type="dcterms:W3CDTF">2026-10-23T00:41:11Z</dcterms:modified>
</cp:coreProperties>
</file>