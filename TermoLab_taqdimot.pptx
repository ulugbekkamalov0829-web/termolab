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irish" id="{ba6f3bbe-e512-9226-a10b-9d729995b62f}">
          <p14:sldIdLst>
            <p14:sldId id="256"/>
            <p14:sldId id="257"/>
          </p14:sldIdLst>
        </p14:section>
        <p14:section name="Masala va usullar" id="{f7eabd3a-9435-b777-b0a6-3ceaaa0bd8f3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Taqqoslash" id="{289dfa9f-43f9-a12c-1f19-8b23d2f2c4e8}">
          <p14:sldIdLst>
            <p14:sldId id="264"/>
            <p14:sldId id="265"/>
          </p14:sldIdLst>
        </p14:section>
        <p14:section name="Dasturiy ta’minot" id="{c0a1c703-e4db-82b2-637d-714f363a62c8}">
          <p14:sldIdLst>
            <p14:sldId id="266"/>
            <p14:sldId id="267"/>
          </p14:sldIdLst>
        </p14:section>
        <p14:section name="Amaliy natijalar" id="{3c86ad5b-1ade-4a6f-3553-bb0b24539242}">
          <p14:sldIdLst>
            <p14:sldId id="268"/>
            <p14:sldId id="269"/>
            <p14:sldId id="270"/>
          </p14:sldIdLst>
        </p14:section>
        <p14:section name="Ishonchlilik" id="{6b148c29-3e60-489f-6c6b-1f1f5b22b5bf}">
          <p14:sldIdLst>
            <p14:sldId id="271"/>
          </p14:sldIdLst>
        </p14:section>
        <p14:section name="Foydalanish" id="{7124e22b-aaf1-e1e7-dfdd-621e3d9d4ef6}">
          <p14:sldIdLst>
            <p14:sldId id="272"/>
          </p14:sldIdLst>
        </p14:section>
        <p14:section name="Xulosa" id="{fbd73628-8b68-36e4-83b1-c3a923924943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1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12E"/>
                </a:solidFill>
                <a:latin typeface="+mn-lt"/>
              </a:rPr>
              <a:t>1D: hisoblash vaqti, ms (kam – yaxshi)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Hisoblash vaqti, ms</c:v>
                </c:pt>
              </c:strCache>
            </c:strRef>
          </c:tx>
          <c:spPr>
            <a:solidFill>
              <a:srgbClr val="C77F12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1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7F1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AA5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AA58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7F1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7A4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Oshkormas + Zeydel</c:v>
                  </c:pt>
                  <c:pt idx="1">
                    <c:v>Krank–Nikolson + Zeydel</c:v>
                  </c:pt>
                  <c:pt idx="2">
                    <c:v>Oshkor (τ = 0.125 s)</c:v>
                  </c:pt>
                  <c:pt idx="3">
                    <c:v>Oshkormas + haydash</c:v>
                  </c:pt>
                  <c:pt idx="4">
                    <c:v>Krank–Nikolson + haydash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35.9</c:v>
                </c:pt>
                <c:pt idx="1">
                  <c:v>21.6</c:v>
                </c:pt>
                <c:pt idx="2">
                  <c:v>14.8</c:v>
                </c:pt>
                <c:pt idx="3">
                  <c:v>2</c:v>
                </c:pt>
                <c:pt idx="4">
                  <c:v>0.31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200" u="none">
                  <a:solidFill>
                    <a:srgbClr val="1621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4B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in val="0.1"/>
        </c:scaling>
        <c:delete val="0"/>
        <c:axPos val="b"/>
        <c:majorGridlines>
          <c:spPr>
            <a:ln w="9525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5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669280" y="6419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TermoLab · StudEXPO-2026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hyperlink" Target="https://ulugbekkamalov0829-web.github.io/termolab/" TargetMode="External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video" Target="../media/media-9-1.mp4"/><Relationship Id="rId3" Type="http://schemas.microsoft.com/office/2007/relationships/media" Target="../media/media-9-1.mp4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chart" Target="/ppt/charts/chart1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3" Type="http://schemas.openxmlformats.org/officeDocument/2006/relationships/hyperlink" Target="https://ulugbekkamalov0829-web.github.io/termolab/" TargetMode="External"/><Relationship Id="rId2" Type="http://schemas.openxmlformats.org/officeDocument/2006/relationships/image" Target="../media/image-11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3" Type="http://schemas.openxmlformats.org/officeDocument/2006/relationships/hyperlink" Target="https://ulugbekkamalov0829-web.github.io/termolab/" TargetMode="External"/><Relationship Id="rId2" Type="http://schemas.openxmlformats.org/officeDocument/2006/relationships/image" Target="../media/image-12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image" Target="../media/image-15-1.png"/><Relationship Id="rId3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image" Target="../media/image-15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hyperlink" Target="https://ulugbekkamalov0829-web.github.io/termolab/" TargetMode="External"/><Relationship Id="rId3" Type="http://schemas.openxmlformats.org/officeDocument/2006/relationships/hyperlink" Target="https://ulugbekkamalov0829-web.github.io/termolab/" TargetMode="External"/><Relationship Id="rId4" Type="http://schemas.openxmlformats.org/officeDocument/2006/relationships/hyperlink" Target="https://github.com/ulugbekkamalov0829-web/termolab" TargetMode="External"/><Relationship Id="rId5" Type="http://schemas.openxmlformats.org/officeDocument/2006/relationships/image" Target="../media/image-17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ulugbekkamalov0829-web.github.io/termolab/" TargetMode="External"/><Relationship Id="rId2" Type="http://schemas.openxmlformats.org/officeDocument/2006/relationships/hyperlink" Target="https://ulugbekkamalov0829-web.github.io/termolab/" TargetMode="External"/><Relationship Id="rId3" Type="http://schemas.openxmlformats.org/officeDocument/2006/relationships/hyperlink" Target="https://ulugbekkamalov0829-web.github.io/termolab/" TargetMode="Externa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STUDEXPO-2026 · UBS, NAMANGAN · 1-SEKSIYA: DASTURLASH VA VEB-ILOVALAR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Sterjenda issiqlik tarqalishi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Sonli usullar, ularning taqqoslanishi va TermoLab dasturiy ta’minoti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Kamalov Ulug’bek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 tizimlari va texnologiyalari, 3-kurs</a:t>
            </a:r>
            <a:endParaRPr lang="en-US" sz="1600" dirty="0"/>
          </a:p>
        </p:txBody>
      </p:sp>
      <p:sp>
        <p:nvSpPr>
          <p:cNvPr id="6" name="Sayt havolasi"/>
          <p:cNvSpPr/>
          <p:nvPr/>
        </p:nvSpPr>
        <p:spPr>
          <a:xfrm>
            <a:off x="548640" y="4846320"/>
            <a:ext cx="6309360" cy="1188720"/>
          </a:xfrm>
          <a:prstGeom prst="roundRect">
            <a:avLst>
              <a:gd name="adj" fmla="val 9231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49834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Dasturni oching (bosing) – telefon yoki kompyuterda:</a:t>
            </a:r>
            <a:endParaRPr lang="en-US" sz="1400" dirty="0"/>
          </a:p>
        </p:txBody>
      </p:sp>
      <p:sp>
        <p:nvSpPr>
          <p:cNvPr id="8" name="Text 6">
            <a:hlinkClick r:id="rId1" tooltip="TermoLab saytini ochish"/>
          </p:cNvPr>
          <p:cNvSpPr txBox="1"/>
          <p:nvPr/>
        </p:nvSpPr>
        <p:spPr>
          <a:xfrm>
            <a:off x="777240" y="5349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TermoLab saytini ochish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https://ulugbekkamalov0829-web.github.io/termolab/</a:t>
            </a:r>
            <a:endParaRPr lang="en-US" sz="1900" dirty="0"/>
          </a:p>
        </p:txBody>
      </p:sp>
      <p:sp>
        <p:nvSpPr>
          <p:cNvPr id="9" name="Shape 7">
            <a:hlinkClick r:id="rId2" tooltip="TermoLab saytini ochish"/>
          </p:cNvPr>
          <p:cNvSpPr/>
          <p:nvPr/>
        </p:nvSpPr>
        <p:spPr>
          <a:xfrm>
            <a:off x="548640" y="4846320"/>
            <a:ext cx="6309360" cy="1188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Sterjen va uning sovishi" descr="Sterjen va uning sovish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914400"/>
            <a:ext cx="4846320" cy="278663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086600" y="379247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Sterjen o’rtasidan uchlariga qarab soviydi: egri chiziqlar – turli vaqtlardagi harorat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Nima uchun sterjendagi issiqlik tarqalishi muhim?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Sterjen – eng sodda va eng ko’p uchraydigan jism: bir yo’nalishda uzun, issiqlik asosan shu yo’nalishda oqadi.</a:t>
            </a:r>
            <a:endParaRPr lang="en-US" sz="1600" dirty="0"/>
          </a:p>
        </p:txBody>
      </p:sp>
      <p:sp>
        <p:nvSpPr>
          <p:cNvPr id="5" name="Metallni qizdirish va sovitish"/>
          <p:cNvSpPr/>
          <p:nvPr/>
        </p:nvSpPr>
        <p:spPr>
          <a:xfrm>
            <a:off x="548640" y="178308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Metallni qizdirish va sovitish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517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Toblash, bolg’alash, quyma qolipda sovitish: qayerda necha daqiqada qanday harorat bo’lishi detal mustahkamligini belgilaydi.</a:t>
            </a:r>
            <a:endParaRPr lang="en-US" sz="1400" dirty="0"/>
          </a:p>
        </p:txBody>
      </p:sp>
      <p:sp>
        <p:nvSpPr>
          <p:cNvPr id="8" name="Payvandlash"/>
          <p:cNvSpPr/>
          <p:nvPr/>
        </p:nvSpPr>
        <p:spPr>
          <a:xfrm>
            <a:off x="3364992" y="178308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Payvandlash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6517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Payvand chokidan sterjen bo’ylab issiqlik tarqaladi. Sovish juda tez yoki sekin bo’lsa, metall mo’rt bo’lib qoladi.</a:t>
            </a:r>
            <a:endParaRPr lang="en-US" sz="1400" dirty="0"/>
          </a:p>
        </p:txBody>
      </p:sp>
      <p:sp>
        <p:nvSpPr>
          <p:cNvPr id="11" name="Elektr sim va shinalar"/>
          <p:cNvSpPr/>
          <p:nvPr/>
        </p:nvSpPr>
        <p:spPr>
          <a:xfrm>
            <a:off x="6181344" y="178308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 sim va shinalar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26517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 o’tganda sim qiziydi. Qayerda eng issiq nuqta ekanini bilish kuyish va yong’inning oldini oladi.</a:t>
            </a:r>
            <a:endParaRPr lang="en-US" sz="1400" dirty="0"/>
          </a:p>
        </p:txBody>
      </p:sp>
      <p:sp>
        <p:nvSpPr>
          <p:cNvPr id="14" name="Radiator qovurg’asi, armatura"/>
          <p:cNvSpPr/>
          <p:nvPr/>
        </p:nvSpPr>
        <p:spPr>
          <a:xfrm>
            <a:off x="8997696" y="178308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98864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Radiator qovurg’asi, armatura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198864" y="265176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Qovurg’a issiqlikni uzoqqa olib ketadi; yong’inda armatura sterjeni qizishi binoning chidamliligini belgilaydi.</a:t>
            </a:r>
            <a:endParaRPr lang="en-US" sz="1400" dirty="0"/>
          </a:p>
        </p:txBody>
      </p:sp>
      <p:sp>
        <p:nvSpPr>
          <p:cNvPr id="17" name="Muammo"/>
          <p:cNvSpPr/>
          <p:nvPr/>
        </p:nvSpPr>
        <p:spPr>
          <a:xfrm>
            <a:off x="548640" y="47548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86460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Muammo. </a:t>
            </a:r>
            <a:pPr indent="0" marL="0"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formula faqat ideal hollar uchun bor. Real sterjenda material xossalari, sirtdan sovish va chegaraviy shartlar murakkab – formulani yozib bo’lmaydi.</a:t>
            </a:r>
            <a:endParaRPr lang="en-US" sz="1500" dirty="0"/>
          </a:p>
        </p:txBody>
      </p:sp>
      <p:sp>
        <p:nvSpPr>
          <p:cNvPr id="19" name="Yechim"/>
          <p:cNvSpPr/>
          <p:nvPr/>
        </p:nvSpPr>
        <p:spPr>
          <a:xfrm>
            <a:off x="6199632" y="47548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28232" y="486460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Yechim. </a:t>
            </a:r>
            <a:pPr indent="0" marL="0"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Sonli usullar: kompyuter jismni bo’lakchalarga bo’lib, haroratni hisoblaydi. Lekin ko’p usul bor – qaysi biri eng yaxshi? Shuni aniqladik.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Masala qo’yilishi: sterjen soviydi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pic>
        <p:nvPicPr>
          <p:cNvPr id="4" name="Sterjen masalasi sxemasi" descr="Sterjen masalasi sxem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686550" cy="2377440"/>
          </a:xfrm>
          <a:prstGeom prst="rect">
            <a:avLst/>
          </a:prstGeom>
        </p:spPr>
      </p:pic>
      <p:sp>
        <p:nvSpPr>
          <p:cNvPr id="5" name="Berilgan"/>
          <p:cNvSpPr/>
          <p:nvPr/>
        </p:nvSpPr>
        <p:spPr>
          <a:xfrm>
            <a:off x="7589520" y="1280160"/>
            <a:ext cx="4050792" cy="2377440"/>
          </a:xfrm>
          <a:prstGeom prst="roundRect">
            <a:avLst>
              <a:gd name="adj" fmla="val 461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90688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Berilgan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90688" y="18288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Po’lat sterjen, L = 20 sm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Uchlari 0 °C da ushlanadi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Boshida o’rtasi 100 °C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Topish kerak: 10 daqiqadan keyingi harorat</a:t>
            </a:r>
            <a:endParaRPr lang="en-US" sz="1500" dirty="0"/>
          </a:p>
        </p:txBody>
      </p:sp>
      <p:sp>
        <p:nvSpPr>
          <p:cNvPr id="8" name="Tenglama"/>
          <p:cNvSpPr/>
          <p:nvPr/>
        </p:nvSpPr>
        <p:spPr>
          <a:xfrm>
            <a:off x="548640" y="3840480"/>
            <a:ext cx="11091672" cy="2286000"/>
          </a:xfrm>
          <a:prstGeom prst="roundRect">
            <a:avLst>
              <a:gd name="adj" fmla="val 48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950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ISSIQLIK O’TKAZUVCHANLIK TENGLAMASI VA SHARTLAR</a:t>
            </a:r>
            <a:endParaRPr lang="en-US" sz="1200" dirty="0"/>
          </a:p>
        </p:txBody>
      </p:sp>
      <p:pic>
        <p:nvPicPr>
          <p:cNvPr id="10" name="Issiqlik tenglamasi" descr="Issiqlik tenglamas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3609250" cy="868680"/>
          </a:xfrm>
          <a:prstGeom prst="rect">
            <a:avLst/>
          </a:prstGeom>
        </p:spPr>
      </p:pic>
      <p:pic>
        <p:nvPicPr>
          <p:cNvPr id="11" name="Chegaraviy va boshlang’ich shart" descr="Chegaraviy va boshlang’ich sh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40680"/>
            <a:ext cx="4754880" cy="40149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492240" y="4343400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– harorat, t – vaqt, x – sterjen bo’ylab joy.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a² = λ/(ρc) – haroratdan tenglanish tezligi: material issiqlikni qanchalik tez “tarqatishi”.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Chegaraviy shart – uchlarida nima bo’layapti; boshlang’ich shart – boshida harorat qanday.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Aniq yechim bor – lekin faqat ideal holda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sp>
        <p:nvSpPr>
          <p:cNvPr id="4" name="Aniq yechim"/>
          <p:cNvSpPr/>
          <p:nvPr/>
        </p:nvSpPr>
        <p:spPr>
          <a:xfrm>
            <a:off x="548640" y="1325880"/>
            <a:ext cx="6766560" cy="1463040"/>
          </a:xfrm>
          <a:prstGeom prst="roundRect">
            <a:avLst>
              <a:gd name="adj" fmla="val 75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44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FURYE QATORI (ideal sterjen uchun)</a:t>
            </a:r>
            <a:endParaRPr lang="en-US" sz="1200" dirty="0"/>
          </a:p>
        </p:txBody>
      </p:sp>
      <p:pic>
        <p:nvPicPr>
          <p:cNvPr id="6" name="Aniq yechim" descr="Aniq yechi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4602156" cy="868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017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yechim faqat shu hollarda yoziladi: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7472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bir jinsli, xossalari o’zgarmaydi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uchlarida harorat berilgan (I tur)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ichki issiqlik manbasi va yon sirtdan sovish yo’q</a:t>
            </a:r>
            <a:endParaRPr lang="en-US" sz="1600" dirty="0"/>
          </a:p>
        </p:txBody>
      </p:sp>
      <p:sp>
        <p:nvSpPr>
          <p:cNvPr id="9" name="Real"/>
          <p:cNvSpPr/>
          <p:nvPr/>
        </p:nvSpPr>
        <p:spPr>
          <a:xfrm>
            <a:off x="548640" y="4937760"/>
            <a:ext cx="6766560" cy="1234440"/>
          </a:xfrm>
          <a:prstGeom prst="roundRect">
            <a:avLst>
              <a:gd name="adj" fmla="val 8889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502920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sterjenda havo bilan almashinuv, o’zgaruvchan xossa, ichki manba bo’ladi – aniq formula yo’q. Faqat sonli usul qoladi.</a:t>
            </a:r>
            <a:endParaRPr lang="en-US" sz="1600" dirty="0"/>
          </a:p>
        </p:txBody>
      </p:sp>
      <p:sp>
        <p:nvSpPr>
          <p:cNvPr id="11" name="Nega muhim"/>
          <p:cNvSpPr/>
          <p:nvPr/>
        </p:nvSpPr>
        <p:spPr>
          <a:xfrm>
            <a:off x="7589520" y="1325880"/>
            <a:ext cx="4050792" cy="4846320"/>
          </a:xfrm>
          <a:prstGeom prst="roundRect">
            <a:avLst>
              <a:gd name="adj" fmla="val 2709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90688" y="1463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yechimdan nima uchun foydalanamiz?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790688" y="2286000"/>
            <a:ext cx="3657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– “javobi bor” sinov masalasi.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sonli usul natijasini aniq javob bilan solishtirib, xatosini o’lchaymiz.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Xatosi kichik va tez usul – eng maqbul usul.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Shunda real masalalarda (aniq javob yo’q joyda) ham shu usulga ishonamiz.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Sonli yechish g’oyasi: sterjenni bo’lakchalarga bo’lamiz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sp>
        <p:nvSpPr>
          <p:cNvPr id="4" name="To’r"/>
          <p:cNvSpPr/>
          <p:nvPr/>
        </p:nvSpPr>
        <p:spPr>
          <a:xfrm>
            <a:off x="548640" y="1325880"/>
            <a:ext cx="3593592" cy="18288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81328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To’r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0116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Sterjen uzunligi h qadamli N ta nuqtaga, vaqt esa τ qadamli qatlamlarga bo’linadi. uᵢʲ – i-nuqtaning j-qatlamdagi harorati.</a:t>
            </a:r>
            <a:endParaRPr lang="en-US" sz="1400" dirty="0"/>
          </a:p>
        </p:txBody>
      </p:sp>
      <p:sp>
        <p:nvSpPr>
          <p:cNvPr id="9" name="Hosilalar → ayirmalar"/>
          <p:cNvSpPr/>
          <p:nvPr/>
        </p:nvSpPr>
        <p:spPr>
          <a:xfrm>
            <a:off x="4297680" y="1325880"/>
            <a:ext cx="3593592" cy="18288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481328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47488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Hosilalar → ayirmalar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0116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Ikkinchi hosila qo’shni nuqtalar farqi bilan almashtiriladi: (uᵢ₊₁ − 2uᵢ + uᵢ₋₁) / h².</a:t>
            </a:r>
            <a:endParaRPr lang="en-US" sz="1400" dirty="0"/>
          </a:p>
        </p:txBody>
      </p:sp>
      <p:sp>
        <p:nvSpPr>
          <p:cNvPr id="14" name="Qatlamma-qatlam"/>
          <p:cNvSpPr/>
          <p:nvPr/>
        </p:nvSpPr>
        <p:spPr>
          <a:xfrm>
            <a:off x="8046720" y="1325880"/>
            <a:ext cx="3593592" cy="18288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1481328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796528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Qatlamma-qatlam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0116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Boshlang’ich haroratdan boshlab, har vaqt qadamida yangi qatlam topiladi, 10 daqiqagacha.</a:t>
            </a:r>
            <a:endParaRPr lang="en-US" sz="1400" dirty="0"/>
          </a:p>
        </p:txBody>
      </p:sp>
      <p:sp>
        <p:nvSpPr>
          <p:cNvPr id="19" name="Theta"/>
          <p:cNvSpPr/>
          <p:nvPr/>
        </p:nvSpPr>
        <p:spPr>
          <a:xfrm>
            <a:off x="548640" y="338328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4930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θ-SXEMA: bitta parametr – uch sxema</a:t>
            </a:r>
            <a:endParaRPr lang="en-US" sz="1200" dirty="0"/>
          </a:p>
        </p:txBody>
      </p:sp>
      <p:pic>
        <p:nvPicPr>
          <p:cNvPr id="21" name="Theta-sxema" descr="Theta-sxe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86200"/>
            <a:ext cx="8469347" cy="777240"/>
          </a:xfrm>
          <a:prstGeom prst="rect">
            <a:avLst/>
          </a:prstGeom>
        </p:spPr>
      </p:pic>
      <p:sp>
        <p:nvSpPr>
          <p:cNvPr id="22" name="Oshkor"/>
          <p:cNvSpPr/>
          <p:nvPr/>
        </p:nvSpPr>
        <p:spPr>
          <a:xfrm>
            <a:off x="548640" y="4937760"/>
            <a:ext cx="3593592" cy="731520"/>
          </a:xfrm>
          <a:prstGeom prst="roundRect">
            <a:avLst>
              <a:gd name="adj" fmla="val 1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937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0   </a:t>
            </a:r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Oshkor</a:t>
            </a:r>
            <a:endParaRPr lang="en-US" sz="2000" dirty="0"/>
          </a:p>
        </p:txBody>
      </p:sp>
      <p:sp>
        <p:nvSpPr>
          <p:cNvPr id="24" name="Oshkormas"/>
          <p:cNvSpPr/>
          <p:nvPr/>
        </p:nvSpPr>
        <p:spPr>
          <a:xfrm>
            <a:off x="4297680" y="4937760"/>
            <a:ext cx="3593592" cy="731520"/>
          </a:xfrm>
          <a:prstGeom prst="roundRect">
            <a:avLst>
              <a:gd name="adj" fmla="val 1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26280" y="4937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7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1   </a:t>
            </a:r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Oshkormas</a:t>
            </a:r>
            <a:endParaRPr lang="en-US" sz="2000" dirty="0"/>
          </a:p>
        </p:txBody>
      </p:sp>
      <p:sp>
        <p:nvSpPr>
          <p:cNvPr id="26" name="Krank–Nikolson"/>
          <p:cNvSpPr/>
          <p:nvPr/>
        </p:nvSpPr>
        <p:spPr>
          <a:xfrm>
            <a:off x="8046720" y="4937760"/>
            <a:ext cx="3593592" cy="731520"/>
          </a:xfrm>
          <a:prstGeom prst="roundRect">
            <a:avLst>
              <a:gd name="adj" fmla="val 1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75320" y="4937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7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½   </a:t>
            </a:r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Krank–Nikolson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852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Furye soni:</a:t>
            </a:r>
            <a:endParaRPr lang="en-US" sz="1500" dirty="0"/>
          </a:p>
        </p:txBody>
      </p:sp>
      <p:pic>
        <p:nvPicPr>
          <p:cNvPr id="29" name="Furye soni" descr="Furye son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806440"/>
            <a:ext cx="790626" cy="50292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2985186" y="5852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qadamlar nisbati – usul turg’unligini belgilaydi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Uch sxema: yangi qatlam qanday topiladi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pic>
        <p:nvPicPr>
          <p:cNvPr id="4" name="Uch sxemaning shablonlari" descr="Uch sxemaning shablonlar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961120" cy="2688336"/>
          </a:xfrm>
          <a:prstGeom prst="rect">
            <a:avLst/>
          </a:prstGeom>
        </p:spPr>
      </p:pic>
      <p:sp>
        <p:nvSpPr>
          <p:cNvPr id="5" name="Belgi"/>
          <p:cNvSpPr/>
          <p:nvPr/>
        </p:nvSpPr>
        <p:spPr>
          <a:xfrm>
            <a:off x="9692640" y="1234440"/>
            <a:ext cx="1947672" cy="2651760"/>
          </a:xfrm>
          <a:prstGeom prst="roundRect">
            <a:avLst>
              <a:gd name="adj" fmla="val 563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829800" y="1325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Shablon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829800" y="1691640"/>
            <a:ext cx="1691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Qora nuqta – eski qatlam (haroratlar ma’lum). Rangli nuqta – yangi qatlam (topiladigan).</a:t>
            </a:r>
            <a:endParaRPr lang="en-US" sz="1300" dirty="0"/>
          </a:p>
        </p:txBody>
      </p:sp>
      <p:sp>
        <p:nvSpPr>
          <p:cNvPr id="8" name="Oshkor"/>
          <p:cNvSpPr/>
          <p:nvPr/>
        </p:nvSpPr>
        <p:spPr>
          <a:xfrm>
            <a:off x="548640" y="4023360"/>
            <a:ext cx="3593592" cy="2148840"/>
          </a:xfrm>
          <a:prstGeom prst="roundRect">
            <a:avLst>
              <a:gd name="adj" fmla="val 510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Oshkor</a:t>
            </a:r>
            <a:endParaRPr lang="en-US" sz="1800" dirty="0"/>
          </a:p>
        </p:txBody>
      </p:sp>
      <p:pic>
        <p:nvPicPr>
          <p:cNvPr id="10" name="Oshkor formulasi" descr="Oshkor formulas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526280"/>
            <a:ext cx="3200400" cy="32849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" y="4983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harorat eskisidan to’g’ridan-to’g’ri.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5486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Tez, oson. Fo ≤ ½ bo’lmasa “portlaydi”.</a:t>
            </a:r>
            <a:endParaRPr lang="en-US" sz="1400" dirty="0"/>
          </a:p>
        </p:txBody>
      </p:sp>
      <p:sp>
        <p:nvSpPr>
          <p:cNvPr id="13" name="Oshkormas"/>
          <p:cNvSpPr/>
          <p:nvPr/>
        </p:nvSpPr>
        <p:spPr>
          <a:xfrm>
            <a:off x="4297680" y="4023360"/>
            <a:ext cx="3593592" cy="2148840"/>
          </a:xfrm>
          <a:prstGeom prst="roundRect">
            <a:avLst>
              <a:gd name="adj" fmla="val 510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498848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Oshkormas</a:t>
            </a:r>
            <a:endParaRPr lang="en-US" sz="1800" dirty="0"/>
          </a:p>
        </p:txBody>
      </p:sp>
      <p:pic>
        <p:nvPicPr>
          <p:cNvPr id="15" name="Oshkormas formulasi" descr="Oshkormas formula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4526280"/>
            <a:ext cx="3200400" cy="27340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498848" y="4983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nuqta uchun tenglama – hammasi birga yechiladi.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498848" y="5486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doim turg’un, lekin xato kattaroq.</a:t>
            </a:r>
            <a:endParaRPr lang="en-US" sz="1400" dirty="0"/>
          </a:p>
        </p:txBody>
      </p:sp>
      <p:sp>
        <p:nvSpPr>
          <p:cNvPr id="18" name="Krank–Nikolson"/>
          <p:cNvSpPr/>
          <p:nvPr/>
        </p:nvSpPr>
        <p:spPr>
          <a:xfrm>
            <a:off x="8046720" y="4023360"/>
            <a:ext cx="3593592" cy="2148840"/>
          </a:xfrm>
          <a:prstGeom prst="roundRect">
            <a:avLst>
              <a:gd name="adj" fmla="val 510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47888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Krank–Nikolson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47888" y="4983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Oshkor va oshkormasning o’rtachasi.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247888" y="5486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Turg’un va ikkinchi tartibli aniq.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Sistemani yechish: haydash, Zeydel, SOR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Oshkormas va Krank–Nikolson sxemalarida har qadamda N ta noma’lumli uch diagonalli sistema chiqadi:</a:t>
            </a:r>
            <a:endParaRPr lang="en-US" sz="1600" dirty="0"/>
          </a:p>
        </p:txBody>
      </p:sp>
      <p:sp>
        <p:nvSpPr>
          <p:cNvPr id="5" name="Zeydel iteratsiyasi"/>
          <p:cNvSpPr/>
          <p:nvPr/>
        </p:nvSpPr>
        <p:spPr>
          <a:xfrm>
            <a:off x="548640" y="1783080"/>
            <a:ext cx="3593592" cy="2651760"/>
          </a:xfrm>
          <a:prstGeom prst="roundRect">
            <a:avLst>
              <a:gd name="adj" fmla="val 413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Zeydel iteratsiyasi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68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Taxminiy javobdan boshlab, uni qayta-qayta yaxshilaydi, to’xtash shartigacha.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611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Oddiy, lekin yuzlab iteratsiya – sekin.</a:t>
            </a:r>
            <a:endParaRPr lang="en-US" sz="1500" dirty="0"/>
          </a:p>
        </p:txBody>
      </p:sp>
      <p:sp>
        <p:nvSpPr>
          <p:cNvPr id="9" name="SOR (ω optimal)"/>
          <p:cNvSpPr/>
          <p:nvPr/>
        </p:nvSpPr>
        <p:spPr>
          <a:xfrm>
            <a:off x="4297680" y="1783080"/>
            <a:ext cx="3593592" cy="2651760"/>
          </a:xfrm>
          <a:prstGeom prst="roundRect">
            <a:avLst>
              <a:gd name="adj" fmla="val 413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 (ω optimal)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468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Zeydeldan har qadamda “oshirib” siljiydi: ω = 2/(1+sin πh).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3611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Zeydeldan tezroq, lekin baribir iteratsiya.</a:t>
            </a:r>
            <a:endParaRPr lang="en-US" sz="1500" dirty="0"/>
          </a:p>
        </p:txBody>
      </p:sp>
      <p:sp>
        <p:nvSpPr>
          <p:cNvPr id="13" name="Haydash (Thomas)"/>
          <p:cNvSpPr/>
          <p:nvPr/>
        </p:nvSpPr>
        <p:spPr>
          <a:xfrm>
            <a:off x="8046720" y="1783080"/>
            <a:ext cx="3593592" cy="2651760"/>
          </a:xfrm>
          <a:prstGeom prst="roundRect">
            <a:avLst>
              <a:gd name="adj" fmla="val 413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Haydash (Thomas)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468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Sistemani oldinga bir o’tish va orqaga bir o’tishda to’g’ridan-to’g’ri yechadi.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3611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Iteratsiyasiz, N ta amal – eng tez va aniq.</a:t>
            </a:r>
            <a:endParaRPr lang="en-US" sz="1500" dirty="0"/>
          </a:p>
        </p:txBody>
      </p:sp>
      <p:sp>
        <p:nvSpPr>
          <p:cNvPr id="17" name="Haydash formulasi"/>
          <p:cNvSpPr/>
          <p:nvPr/>
        </p:nvSpPr>
        <p:spPr>
          <a:xfrm>
            <a:off x="548640" y="466344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HAYDASH USULI: SISTEMA BIR O’TISHDA</a:t>
            </a:r>
            <a:endParaRPr lang="en-US" sz="1200" dirty="0"/>
          </a:p>
        </p:txBody>
      </p:sp>
      <p:pic>
        <p:nvPicPr>
          <p:cNvPr id="19" name="Haydash formulasi" descr="Haydash formul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166360"/>
            <a:ext cx="9601200" cy="55205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– 6 ta usul: 3 sxema × 2 yechish usuli. Ularni bitta masalada sinaymiz.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Sterjendan keyin: plastinka va murakkab jismlar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sp>
        <p:nvSpPr>
          <p:cNvPr id="4" name="2D plastinka: ADI usuli"/>
          <p:cNvSpPr/>
          <p:nvPr/>
        </p:nvSpPr>
        <p:spPr>
          <a:xfrm>
            <a:off x="548640" y="1325880"/>
            <a:ext cx="5468112" cy="1938528"/>
          </a:xfrm>
          <a:prstGeom prst="roundRect">
            <a:avLst>
              <a:gd name="adj" fmla="val 566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plastinka: ADI usuli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qadam ikki yarim qadamga bo’linadi: avval x, keyin y bo’yicha oshkormas. Katta 2D sistema o’rniga kichik uch diagonalli sistemalar – iteratsiyasiz.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Topilgan muammo: chegaraviy oqim noto’g’ri bo’linsa aniqlik 2-tartibdan 1-tartibga tushadi. Tuzatildi.</a:t>
            </a:r>
            <a:endParaRPr lang="en-US" sz="1300" dirty="0"/>
          </a:p>
        </p:txBody>
      </p:sp>
      <p:sp>
        <p:nvSpPr>
          <p:cNvPr id="8" name="Ko’p qatlamli jismlar"/>
          <p:cNvSpPr/>
          <p:nvPr/>
        </p:nvSpPr>
        <p:spPr>
          <a:xfrm>
            <a:off x="6172200" y="1325880"/>
            <a:ext cx="5468112" cy="1938528"/>
          </a:xfrm>
          <a:prstGeom prst="roundRect">
            <a:avLst>
              <a:gd name="adj" fmla="val 566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Ko’p qatlamli jismlar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874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Devor + izolyatsiya, quvur + izolyatsiya. Qatlamlar chegarasida oqim uzluksiz; chekli hajmlar usuli.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651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Tekis, silindrik va sferik shakllar bitta kodda.</a:t>
            </a:r>
            <a:endParaRPr lang="en-US" sz="1300" dirty="0"/>
          </a:p>
        </p:txBody>
      </p:sp>
      <p:sp>
        <p:nvSpPr>
          <p:cNvPr id="12" name="Nochiziqli: yong’indagi beton"/>
          <p:cNvSpPr/>
          <p:nvPr/>
        </p:nvSpPr>
        <p:spPr>
          <a:xfrm>
            <a:off x="548640" y="3429000"/>
            <a:ext cx="5468112" cy="1938528"/>
          </a:xfrm>
          <a:prstGeom prst="roundRect">
            <a:avLst>
              <a:gd name="adj" fmla="val 566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Nochiziqli: yong’indagi beton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977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λ(T), c(T), ρ(T) Yevrokod 2 bo’yicha; olovdan nurlanish ∼T⁴. Har qadamda Pikar iteratsiyasi.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754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 EN 1992-1-2 jadvali bilan mos.</a:t>
            </a:r>
            <a:endParaRPr lang="en-US" sz="1300" dirty="0"/>
          </a:p>
        </p:txBody>
      </p:sp>
      <p:sp>
        <p:nvSpPr>
          <p:cNvPr id="16" name="2D silindr: Nyuman ko’paytmasi"/>
          <p:cNvSpPr/>
          <p:nvPr/>
        </p:nvSpPr>
        <p:spPr>
          <a:xfrm>
            <a:off x="6172200" y="3429000"/>
            <a:ext cx="5468112" cy="1938528"/>
          </a:xfrm>
          <a:prstGeom prst="roundRect">
            <a:avLst>
              <a:gd name="adj" fmla="val 566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silindr: Nyuman ko’paytmasi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977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Konserva bankasi = cheksiz silindr × plastinka. Ikki 1D yechimning ko’paytmasi chiziqli masalada aniq.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754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Qizdirish va sovitish – superpozitsiya.</a:t>
            </a:r>
            <a:endParaRPr lang="en-US" sz="1300" dirty="0"/>
          </a:p>
        </p:txBody>
      </p:sp>
      <p:pic>
        <p:nvPicPr>
          <p:cNvPr id="20" name="ADI 1-yarim qadam" descr="ADI 1-yarim qad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23560"/>
            <a:ext cx="1898469" cy="502920"/>
          </a:xfrm>
          <a:prstGeom prst="rect">
            <a:avLst/>
          </a:prstGeom>
        </p:spPr>
      </p:pic>
      <p:pic>
        <p:nvPicPr>
          <p:cNvPr id="21" name="ADI 2-yarim qadam" descr="ADI 2-yarim qad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5623560"/>
            <a:ext cx="2325189" cy="5029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949440" y="5715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Pisman–Rekford sxemasi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Video: bitta masala – olti usul – eng maqbuli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pic>
        <p:nvPicPr>
          <p:cNvPr id="4" name="Usullar videos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234440"/>
            <a:ext cx="7589520" cy="42691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549265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Videoni ishga tushirish: slaydda play tugmasini bosing (51 soniya)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Videoda nima ko’rinadi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412480" y="1773936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0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961120" y="20665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sterjen soviydi, aniq javob ma’lum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12480" y="2670048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0" y="2633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Usullar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0" y="29626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olti usul nimasi bilan farq qiladi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412480" y="3566160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961120" y="35295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hisob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961120" y="3858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hammasi bir vaqtda; ko’k – usul, punktir – aniq javob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412480" y="4462272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0" y="4462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961120" y="44256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O’lchov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96112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va tezlik; talab: xato ≤ 0.05 °C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412480" y="5358384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12480" y="5358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961120" y="5321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G’olib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961120" y="5650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tez va aniq usul</a:t>
            </a:r>
            <a:endParaRPr lang="en-US" sz="1200" dirty="0"/>
          </a:p>
        </p:txBody>
      </p:sp>
      <p:sp>
        <p:nvSpPr>
          <p:cNvPr id="27" name="Xulosa"/>
          <p:cNvSpPr/>
          <p:nvPr/>
        </p:nvSpPr>
        <p:spPr>
          <a:xfrm>
            <a:off x="548640" y="5852160"/>
            <a:ext cx="7589520" cy="502920"/>
          </a:xfrm>
          <a:prstGeom prst="roundRect">
            <a:avLst>
              <a:gd name="adj" fmla="val 21818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58521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oshkor sxema “portlaydi”, oshkormasning xatosi katta, Krank–Nikolson + haydash – aniq va eng tez.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Eng maqbul usul: 1D da Krank–Nikolson, 2D da ADI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578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Yashil – talab bajarildi (xato ≤ 0.05 °C), sariq – xato katta (0.45 °C). Oshkor sxema katta qadamda portladi (diagrammada yo’q).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325880"/>
          <a:ext cx="4690872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usul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Xato, °C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Vaqt,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Oshkor, katta qadam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portladi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Oshkor, kichik qadam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Oshkormas + 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C77F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Krank–Nikolson + SOR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 + haydash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abab"/>
          <p:cNvSpPr/>
          <p:nvPr/>
        </p:nvSpPr>
        <p:spPr>
          <a:xfrm>
            <a:off x="6949440" y="4206240"/>
            <a:ext cx="4690872" cy="1737360"/>
          </a:xfrm>
          <a:prstGeom prst="roundRect">
            <a:avLst>
              <a:gd name="adj" fmla="val 6316"/>
            </a:avLst>
          </a:prstGeom>
          <a:solidFill>
            <a:srgbClr val="E7F4EC"/>
          </a:solidFill>
          <a:ln w="12700">
            <a:solidFill>
              <a:srgbClr val="E7F4E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178040" y="431596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aynan shular?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istalgan qadamda turg’un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2-tartibli aniq – oshkormasdan 31 marta aniqroq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iteratsiyasiz: 1D da Zeydeldan 69, 2D da SOR dan 6 marta tez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TermoLab: sterjen masalasidan umumiy dasturgacha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sp>
        <p:nvSpPr>
          <p:cNvPr id="4" name="Qadam 1"/>
          <p:cNvSpPr/>
          <p:nvPr/>
        </p:nvSpPr>
        <p:spPr>
          <a:xfrm>
            <a:off x="548640" y="13716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54480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5727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12140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sohasini tanlaydi va oddiy qiymatlarni kiritadi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920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Qadam 2"/>
          <p:cNvSpPr/>
          <p:nvPr/>
        </p:nvSpPr>
        <p:spPr>
          <a:xfrm>
            <a:off x="3364992" y="13716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554480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5727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12140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 masalani 1D yoki 2D tenglamaga aylantiradi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25312" y="1920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Qadam 3"/>
          <p:cNvSpPr/>
          <p:nvPr/>
        </p:nvSpPr>
        <p:spPr>
          <a:xfrm>
            <a:off x="6181344" y="13716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1554480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82512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15727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212140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mos sonli usul (Krank–Nikolson, ADI + haydash) bilan yechiladi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41664" y="1920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Qadam 4"/>
          <p:cNvSpPr/>
          <p:nvPr/>
        </p:nvSpPr>
        <p:spPr>
          <a:xfrm>
            <a:off x="8997696" y="137160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98864" y="1554480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98864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747504" y="15727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 va tavsiya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198864" y="212140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Natija, 3D ko’rinish, “nima qilish kerak” va matnli hisobot</a:t>
            </a:r>
            <a:endParaRPr lang="en-US" sz="1400" dirty="0"/>
          </a:p>
        </p:txBody>
      </p:sp>
      <p:pic>
        <p:nvPicPr>
          <p:cNvPr id="27" name="TermoLab bosh sahifasi" descr="TermoLab bosh sahifas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0"/>
            <a:ext cx="6675120" cy="3013075"/>
          </a:xfrm>
          <a:prstGeom prst="rect">
            <a:avLst/>
          </a:prstGeom>
        </p:spPr>
      </p:pic>
      <p:sp>
        <p:nvSpPr>
          <p:cNvPr id="28" name="Shape 25">
            <a:hlinkClick r:id="rId3" tooltip="TermoLab saytini ochish"/>
          </p:cNvPr>
          <p:cNvSpPr/>
          <p:nvPr/>
        </p:nvSpPr>
        <p:spPr>
          <a:xfrm>
            <a:off x="548640" y="3291840"/>
            <a:ext cx="6675120" cy="301307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Ilmiy laboratoriya"/>
          <p:cNvSpPr/>
          <p:nvPr/>
        </p:nvSpPr>
        <p:spPr>
          <a:xfrm>
            <a:off x="7498080" y="3291840"/>
            <a:ext cx="4142232" cy="896112"/>
          </a:xfrm>
          <a:prstGeom prst="roundRect">
            <a:avLst>
              <a:gd name="adj" fmla="val 1224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699248" y="3383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Ilmiy laboratoriya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699248" y="37124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sterjen, plastinka; I–III tur chegaraviy shartlar; sxema va yechish usulini tanlash</a:t>
            </a:r>
            <a:endParaRPr lang="en-US" sz="1200" dirty="0"/>
          </a:p>
        </p:txBody>
      </p:sp>
      <p:sp>
        <p:nvSpPr>
          <p:cNvPr id="32" name="Usullarni taqqoslash"/>
          <p:cNvSpPr/>
          <p:nvPr/>
        </p:nvSpPr>
        <p:spPr>
          <a:xfrm>
            <a:off x="7498080" y="4315968"/>
            <a:ext cx="4142232" cy="896112"/>
          </a:xfrm>
          <a:prstGeom prst="roundRect">
            <a:avLst>
              <a:gd name="adj" fmla="val 1224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99248" y="4407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Usullarni taqqoslash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7699248" y="47365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usul bir masalada: xato, tezlik va eng maqbuli</a:t>
            </a:r>
            <a:endParaRPr lang="en-US" sz="1200" dirty="0"/>
          </a:p>
        </p:txBody>
      </p:sp>
      <p:sp>
        <p:nvSpPr>
          <p:cNvPr id="35" name="8 ta amaliy soha"/>
          <p:cNvSpPr/>
          <p:nvPr/>
        </p:nvSpPr>
        <p:spPr>
          <a:xfrm>
            <a:off x="7498080" y="5340096"/>
            <a:ext cx="4142232" cy="896112"/>
          </a:xfrm>
          <a:prstGeom prst="roundRect">
            <a:avLst>
              <a:gd name="adj" fmla="val 1224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699248" y="54315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amaliy soha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7699248" y="57607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uy, quvur, tuxum, protsessor, payvand, beton, yong’in, konserva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Ilmiy laboratoriya: sterjenni o’zingiz sozlang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pic>
        <p:nvPicPr>
          <p:cNvPr id="4" name="TermoLab ilmiy laboratoriyasi: mis sterjen" descr="TermoLab ilmiy laboratoriyasi: mis sterj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110374" cy="4937760"/>
          </a:xfrm>
          <a:prstGeom prst="rect">
            <a:avLst/>
          </a:prstGeom>
        </p:spPr>
      </p:pic>
      <p:sp>
        <p:nvSpPr>
          <p:cNvPr id="5" name="Shape 2">
            <a:hlinkClick r:id="rId3" tooltip="TermoLab saytini ochish"/>
          </p:cNvPr>
          <p:cNvSpPr/>
          <p:nvPr/>
        </p:nvSpPr>
        <p:spPr>
          <a:xfrm>
            <a:off x="548640" y="1280160"/>
            <a:ext cx="7110374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ozlang"/>
          <p:cNvSpPr/>
          <p:nvPr/>
        </p:nvSpPr>
        <p:spPr>
          <a:xfrm>
            <a:off x="8001000" y="1280160"/>
            <a:ext cx="3639312" cy="150876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83880" y="1389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Sozlang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17830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(mis, po’lat, beton…), uzunlik, boshlang’ich harorat, uchlaridagi shart: harorat, oqim yoki havo bilan almashinuv.</a:t>
            </a:r>
            <a:endParaRPr lang="en-US" sz="1300" dirty="0"/>
          </a:p>
        </p:txBody>
      </p:sp>
      <p:sp>
        <p:nvSpPr>
          <p:cNvPr id="9" name="Ishga tushiring"/>
          <p:cNvSpPr/>
          <p:nvPr/>
        </p:nvSpPr>
        <p:spPr>
          <a:xfrm>
            <a:off x="8001000" y="2944368"/>
            <a:ext cx="3639312" cy="150876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83880" y="30540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tushiring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344728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“Boshlash” tugmasi: sterjenning rangi vaqt o’tishi bilan o’zgaradi; slayder bilan istalgan vaqtga o’ting.</a:t>
            </a:r>
            <a:endParaRPr lang="en-US" sz="1300" dirty="0"/>
          </a:p>
        </p:txBody>
      </p:sp>
      <p:sp>
        <p:nvSpPr>
          <p:cNvPr id="12" name="O’qing"/>
          <p:cNvSpPr/>
          <p:nvPr/>
        </p:nvSpPr>
        <p:spPr>
          <a:xfrm>
            <a:off x="8001000" y="4608576"/>
            <a:ext cx="3639312" cy="150876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83880" y="47183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O’qing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5111496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Matnli natija: eng issiq va sovuq joy, issiqlik oqimi, qachon barqaror holat qaror topishi.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Sakkiz amaliy soha – savol sohaning o’z tilida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sp>
        <p:nvSpPr>
          <p:cNvPr id="4" name="Uy devori"/>
          <p:cNvSpPr/>
          <p:nvPr/>
        </p:nvSpPr>
        <p:spPr>
          <a:xfrm>
            <a:off x="548640" y="1325880"/>
            <a:ext cx="2633472" cy="2240280"/>
          </a:xfrm>
          <a:prstGeom prst="roundRect">
            <a:avLst>
              <a:gd name="adj" fmla="val 489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087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087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 devori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231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sm g’isht: 42.8 W/m². Tavsiya: 7 sm penoplast.</a:t>
            </a:r>
            <a:endParaRPr lang="en-US" sz="1400" dirty="0"/>
          </a:p>
        </p:txBody>
      </p:sp>
      <p:sp>
        <p:nvSpPr>
          <p:cNvPr id="9" name="Issiq suv quvuri"/>
          <p:cNvSpPr/>
          <p:nvPr/>
        </p:nvSpPr>
        <p:spPr>
          <a:xfrm>
            <a:off x="3364992" y="1325880"/>
            <a:ext cx="2633472" cy="2240280"/>
          </a:xfrm>
          <a:prstGeom prst="roundRect">
            <a:avLst>
              <a:gd name="adj" fmla="val 489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5087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5087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silindr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Issiq suv quvuri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4231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Izolyatsiyasiz 381 W/m, 50 mm paxta bilan 27.7 W/m.</a:t>
            </a:r>
            <a:endParaRPr lang="en-US" sz="1400" dirty="0"/>
          </a:p>
        </p:txBody>
      </p:sp>
      <p:sp>
        <p:nvSpPr>
          <p:cNvPr id="14" name="Tuxum qaynatish"/>
          <p:cNvSpPr/>
          <p:nvPr/>
        </p:nvSpPr>
        <p:spPr>
          <a:xfrm>
            <a:off x="6181344" y="1325880"/>
            <a:ext cx="2633472" cy="2240280"/>
          </a:xfrm>
          <a:prstGeom prst="roundRect">
            <a:avLst>
              <a:gd name="adj" fmla="val 489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15087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82512" y="15087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shar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Tuxum qaynatish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24231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O’rtacha pishishi: 8.7 daqiqa (muzlatkichdan).</a:t>
            </a:r>
            <a:endParaRPr lang="en-US" sz="1400" dirty="0"/>
          </a:p>
        </p:txBody>
      </p:sp>
      <p:sp>
        <p:nvSpPr>
          <p:cNvPr id="19" name="Protsessor radiatori"/>
          <p:cNvSpPr/>
          <p:nvPr/>
        </p:nvSpPr>
        <p:spPr>
          <a:xfrm>
            <a:off x="8997696" y="1325880"/>
            <a:ext cx="2633472" cy="2240280"/>
          </a:xfrm>
          <a:prstGeom prst="roundRect">
            <a:avLst>
              <a:gd name="adj" fmla="val 489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98864" y="150876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98864" y="15087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Protsessor radiatori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198864" y="24231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W → 88 °C. 56 W gacha 80 °C dan oshmaydi.</a:t>
            </a:r>
            <a:endParaRPr lang="en-US" sz="1400" dirty="0"/>
          </a:p>
        </p:txBody>
      </p:sp>
      <p:sp>
        <p:nvSpPr>
          <p:cNvPr id="24" name="Payvand choki"/>
          <p:cNvSpPr/>
          <p:nvPr/>
        </p:nvSpPr>
        <p:spPr>
          <a:xfrm>
            <a:off x="548640" y="3749040"/>
            <a:ext cx="2633472" cy="2240280"/>
          </a:xfrm>
          <a:prstGeom prst="roundRect">
            <a:avLst>
              <a:gd name="adj" fmla="val 489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9319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3931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Payvand choki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8463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t₈/₅ = 6.4 s – me’yorda; qizdirish ta’siri jadvali.</a:t>
            </a:r>
            <a:endParaRPr lang="en-US" sz="1400" dirty="0"/>
          </a:p>
        </p:txBody>
      </p:sp>
      <p:sp>
        <p:nvSpPr>
          <p:cNvPr id="29" name="Beton qotishi"/>
          <p:cNvSpPr/>
          <p:nvPr/>
        </p:nvSpPr>
        <p:spPr>
          <a:xfrm>
            <a:off x="3364992" y="3749040"/>
            <a:ext cx="2633472" cy="2240280"/>
          </a:xfrm>
          <a:prstGeom prst="roundRect">
            <a:avLst>
              <a:gd name="adj" fmla="val 489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6160" y="39319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66160" y="3931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+ manba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566160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Beton qotishi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48463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m: farq 34.9 °C. 5 sm paxta bilan – 6.7 °C.</a:t>
            </a:r>
            <a:endParaRPr lang="en-US" sz="1400" dirty="0"/>
          </a:p>
        </p:txBody>
      </p:sp>
      <p:sp>
        <p:nvSpPr>
          <p:cNvPr id="34" name="Plita yong’inda"/>
          <p:cNvSpPr/>
          <p:nvPr/>
        </p:nvSpPr>
        <p:spPr>
          <a:xfrm>
            <a:off x="6181344" y="3749040"/>
            <a:ext cx="2633472" cy="2240280"/>
          </a:xfrm>
          <a:prstGeom prst="roundRect">
            <a:avLst>
              <a:gd name="adj" fmla="val 489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39319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82512" y="3931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nochiziqli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382512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Plita yong’inda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382512" y="48463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25 mm → REI 60. REI 90 uchun a ≥ 30 mm.</a:t>
            </a:r>
            <a:endParaRPr lang="en-US" sz="1400" dirty="0"/>
          </a:p>
        </p:txBody>
      </p:sp>
      <p:sp>
        <p:nvSpPr>
          <p:cNvPr id="39" name="Konserva"/>
          <p:cNvSpPr/>
          <p:nvPr/>
        </p:nvSpPr>
        <p:spPr>
          <a:xfrm>
            <a:off x="8997696" y="3749040"/>
            <a:ext cx="2633472" cy="2240280"/>
          </a:xfrm>
          <a:prstGeom prst="roundRect">
            <a:avLst>
              <a:gd name="adj" fmla="val 489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98864" y="393192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98864" y="3931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(r, z)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198864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Konserva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9198864" y="48463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 go’sht, 100 °C: F₀ ≈ 0. Avtoklav 121 °C: 135 daqiqa.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Dastur nima qilish kerakligini ham aytadi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pic>
        <p:nvPicPr>
          <p:cNvPr id="4" name="Yong’in masalasi yechimi va Yevrokod 2 jadvali" descr="Yong’in masalasi yechimi va Yevrokod 2 jadval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309360" cy="3131484"/>
          </a:xfrm>
          <a:prstGeom prst="rect">
            <a:avLst/>
          </a:prstGeom>
        </p:spPr>
      </p:pic>
      <p:sp>
        <p:nvSpPr>
          <p:cNvPr id="5" name="Teskari masala"/>
          <p:cNvSpPr/>
          <p:nvPr/>
        </p:nvSpPr>
        <p:spPr>
          <a:xfrm>
            <a:off x="7178040" y="1325880"/>
            <a:ext cx="4462272" cy="1216152"/>
          </a:xfrm>
          <a:prstGeom prst="roundRect">
            <a:avLst>
              <a:gd name="adj" fmla="val 902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88352" y="14447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Teskari masala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88352" y="180136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Kerakli izolyatsiya qalinligi, himoya qatlami, qizdirish vaqti yoki ruxsat etilgan quvvatni o’zi topadi.</a:t>
            </a:r>
            <a:endParaRPr lang="en-US" sz="1400" dirty="0"/>
          </a:p>
        </p:txBody>
      </p:sp>
      <p:sp>
        <p:nvSpPr>
          <p:cNvPr id="8" name="Matnli hisobot"/>
          <p:cNvSpPr/>
          <p:nvPr/>
        </p:nvSpPr>
        <p:spPr>
          <a:xfrm>
            <a:off x="7178040" y="2697480"/>
            <a:ext cx="4462272" cy="1216152"/>
          </a:xfrm>
          <a:prstGeom prst="roundRect">
            <a:avLst>
              <a:gd name="adj" fmla="val 902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88352" y="28163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Matnli hisobot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388352" y="317296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Berilganlar, natijalar, tavsiya va xulosa – bir tugma bilan nusxalanadi yoki .txt fayl bo’lib saqlanadi.</a:t>
            </a:r>
            <a:endParaRPr lang="en-US" sz="1400" dirty="0"/>
          </a:p>
        </p:txBody>
      </p:sp>
      <p:sp>
        <p:nvSpPr>
          <p:cNvPr id="11" name="Variantlarni taqqoslash"/>
          <p:cNvSpPr/>
          <p:nvPr/>
        </p:nvSpPr>
        <p:spPr>
          <a:xfrm>
            <a:off x="7178040" y="4069080"/>
            <a:ext cx="4462272" cy="1216152"/>
          </a:xfrm>
          <a:prstGeom prst="roundRect">
            <a:avLst>
              <a:gd name="adj" fmla="val 902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88352" y="41879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Variantlarni taqqoslash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388352" y="454456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tagacha variant yonma-yon: qaysi biri foydaliroq – darhol ko’rinadi.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54880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Yong’in masalasi: tavsiya va model natijalarining Yevrokod 2 jadvali bilan solishtiruvi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3D ko’rinish: natija real jism shaklida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pic>
        <p:nvPicPr>
          <p:cNvPr id="4" name="Uy devori: xonadan ko’chaga harorat" descr="Uy devori: xonadan ko’chaga haror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281099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42900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 devori: xonadan ko’chaga harorat</a:t>
            </a:r>
            <a:endParaRPr lang="en-US" sz="1300" dirty="0"/>
          </a:p>
        </p:txBody>
      </p:sp>
      <p:pic>
        <p:nvPicPr>
          <p:cNvPr id="6" name="Radiator: “relyef” rejimida issiq nuqta" descr="Radiator: “relyef” rejimida issiq nuq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80160"/>
            <a:ext cx="5281099" cy="2103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72200" y="342900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Radiator: “relyef” rejimida issiq nuqta</a:t>
            </a:r>
            <a:endParaRPr lang="en-US" sz="1300" dirty="0"/>
          </a:p>
        </p:txBody>
      </p:sp>
      <p:pic>
        <p:nvPicPr>
          <p:cNvPr id="8" name="Beton: markaz qizigan, sirt sovuq" descr="Beton: markaz qizigan, sirt sovuq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40480"/>
            <a:ext cx="5281099" cy="21031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98932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Beton: markaz qizigan, sirt sovuq</a:t>
            </a:r>
            <a:endParaRPr lang="en-US" sz="1300" dirty="0"/>
          </a:p>
        </p:txBody>
      </p:sp>
      <p:pic>
        <p:nvPicPr>
          <p:cNvPr id="10" name="Konserva: kesimda sovuq markaz" descr="Konserva: kesimda sovuq markaz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840480"/>
            <a:ext cx="5281099" cy="21031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172200" y="598932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Konserva: kesimda sovuq markaz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Natijalar ishonchli: uch xil tekshiruv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sp>
        <p:nvSpPr>
          <p:cNvPr id="4" name="Aniq yechim bilan"/>
          <p:cNvSpPr/>
          <p:nvPr/>
        </p:nvSpPr>
        <p:spPr>
          <a:xfrm>
            <a:off x="548640" y="1325880"/>
            <a:ext cx="3593592" cy="2240280"/>
          </a:xfrm>
          <a:prstGeom prst="roundRect">
            <a:avLst>
              <a:gd name="adj" fmla="val 489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81328"/>
            <a:ext cx="420624" cy="420624"/>
          </a:xfrm>
          <a:prstGeom prst="ellipse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yechim bilan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057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To’r 2 marta maydalansa xato 4 marta kamayadi – 2-tartibli aniqlik (p ≈ 2) 1D va 2D da tasdiqlandi. JavaScript va Python versiyalari bir xil natija beradi.</a:t>
            </a:r>
            <a:endParaRPr lang="en-US" sz="1400" dirty="0"/>
          </a:p>
        </p:txBody>
      </p:sp>
      <p:sp>
        <p:nvSpPr>
          <p:cNvPr id="9" name="Fizik formulalar bilan"/>
          <p:cNvSpPr/>
          <p:nvPr/>
        </p:nvSpPr>
        <p:spPr>
          <a:xfrm>
            <a:off x="4297680" y="1325880"/>
            <a:ext cx="3593592" cy="2240280"/>
          </a:xfrm>
          <a:prstGeom prst="roundRect">
            <a:avLst>
              <a:gd name="adj" fmla="val 489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481328"/>
            <a:ext cx="420624" cy="420624"/>
          </a:xfrm>
          <a:prstGeom prst="ellipse">
            <a:avLst/>
          </a:prstGeom>
          <a:solidFill>
            <a:srgbClr val="1F7A4A"/>
          </a:solidFill>
          <a:ln w="12700">
            <a:solidFill>
              <a:srgbClr val="1F7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47488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 formulalar bilan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057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Devor 78.38 W/m², qatlamli devor 9.3713 W/m², izolyatsiyali quvur 28.7883 W/m – analitik formula bilan to’liq mos.</a:t>
            </a:r>
            <a:endParaRPr lang="en-US" sz="1400" dirty="0"/>
          </a:p>
        </p:txBody>
      </p:sp>
      <p:sp>
        <p:nvSpPr>
          <p:cNvPr id="14" name="Me’yor bilan"/>
          <p:cNvSpPr/>
          <p:nvPr/>
        </p:nvSpPr>
        <p:spPr>
          <a:xfrm>
            <a:off x="8046720" y="1325880"/>
            <a:ext cx="3593592" cy="2240280"/>
          </a:xfrm>
          <a:prstGeom prst="roundRect">
            <a:avLst>
              <a:gd name="adj" fmla="val 489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1481328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796528" y="1517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Me’yor bilan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057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Yong’in modeli Yevrokod 2 (EN 1992-1-2) jadvaliga mos: REI 90 uchun a = 30 mm, h = 100 mm.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914400"/>
        </p:xfrm>
        <a:graphic>
          <a:graphicData uri="http://schemas.openxmlformats.org/drawingml/2006/table">
            <a:tbl>
              <a:tblPr/>
              <a:tblGrid>
                <a:gridCol w="3044952"/>
                <a:gridCol w="2011680"/>
                <a:gridCol w="201168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Yong’inga chidamlilik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mm (model)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mm (EC2)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h, mm (model)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h, mm (EC2)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 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 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 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 180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– armatura o’qigacha masofa (500 °C mezoni), h – plita qalinligi (yuqori yuza +140 °C mezoni).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Saytdan foydalanish: olti qadam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371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Saytni oching – telefon yoki kompyuterda, o’rnatish shart emas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06240" y="1417320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0624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73168" y="1371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Sohani tanlang: devor, quvur, beton, konserva…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4231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Qiymatlarni kiriting – natija darhol qayta hisoblanadi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06240" y="2468880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0624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24231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Javobni o’qing: yashil – me’yorda, qizil – xavfli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4747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“Yechim va tavsiya”da nima qilish kerakligini ko’ring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06240" y="3520440"/>
            <a:ext cx="420624" cy="420624"/>
          </a:xfrm>
          <a:prstGeom prst="ellipse">
            <a:avLst/>
          </a:prstGeom>
          <a:solidFill>
            <a:srgbClr val="C4401F"/>
          </a:solidFill>
          <a:ln w="12700">
            <a:solidFill>
              <a:srgbClr val="C440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0624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773168" y="34747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“Hisobot”ni nusxalang yoki yuklab oling</a:t>
            </a:r>
            <a:endParaRPr lang="en-US" sz="1500" dirty="0"/>
          </a:p>
        </p:txBody>
      </p:sp>
      <p:sp>
        <p:nvSpPr>
          <p:cNvPr id="22" name="Havola"/>
          <p:cNvSpPr/>
          <p:nvPr/>
        </p:nvSpPr>
        <p:spPr>
          <a:xfrm>
            <a:off x="548640" y="4617720"/>
            <a:ext cx="6949440" cy="1463040"/>
          </a:xfrm>
          <a:prstGeom prst="roundRect">
            <a:avLst>
              <a:gd name="adj" fmla="val 75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23" name="Shape 21">
            <a:hlinkClick r:id="rId2" tooltip="TermoLab saytini ochish"/>
          </p:cNvPr>
          <p:cNvSpPr/>
          <p:nvPr/>
        </p:nvSpPr>
        <p:spPr>
          <a:xfrm>
            <a:off x="548640" y="4617720"/>
            <a:ext cx="694944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7365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 manzili</a:t>
            </a:r>
            <a:endParaRPr lang="en-US" sz="1400" dirty="0"/>
          </a:p>
        </p:txBody>
      </p:sp>
      <p:sp>
        <p:nvSpPr>
          <p:cNvPr id="25" name="Text 23">
            <a:hlinkClick r:id="rId3" tooltip=""/>
          </p:cNvPr>
          <p:cNvSpPr txBox="1"/>
          <p:nvPr/>
        </p:nvSpPr>
        <p:spPr>
          <a:xfrm>
            <a:off x="777240" y="5074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https://ulugbekkamalov0829-web.github.io/termolab/</a:t>
            </a:r>
            <a:endParaRPr lang="en-US" sz="1900" dirty="0"/>
          </a:p>
        </p:txBody>
      </p:sp>
      <p:sp>
        <p:nvSpPr>
          <p:cNvPr id="26" name="Text 24">
            <a:hlinkClick r:id="rId4" tooltip=""/>
          </p:cNvPr>
          <p:cNvSpPr txBox="1"/>
          <p:nvPr/>
        </p:nvSpPr>
        <p:spPr>
          <a:xfrm>
            <a:off x="777240" y="5577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rgbClr val="56657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Kod: github.com/ulugbekkamalov0829-web/termolab</a:t>
            </a:r>
            <a:endParaRPr lang="en-US" sz="1400" dirty="0"/>
          </a:p>
        </p:txBody>
      </p:sp>
      <p:pic>
        <p:nvPicPr>
          <p:cNvPr id="27" name="Matnli hisobot namunasi" descr="Matnli hisobot namunas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1886" y="1280160"/>
            <a:ext cx="1760379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Xulosa</a:t>
            </a:r>
            <a:endParaRPr lang="en-US" sz="32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ulugbekkamalov0829-web.github.io/termolab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qildik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Sterjenda issiqlik tarqalishi masalasini 6 ta sonli usulda yechdik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yechim bilan solishtirib, xato va tezlikni o’lchadik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maqbul: 1D da Krank–Nikolson + haydash, 2D da ADI + haydash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Usullarni TermoLab veb-dasturiga joyladik: 8 amaliy soha, 3D, tavsiya va hisobot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Natijalar uch xil tekshirildi, jumladan Yevrokod 2 bilan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44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bosqich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737360"/>
            <a:ext cx="52395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o’zgarishi: tuproq va oziq-ovqat muzlashi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Murakkab 3D shakllar (chekli elementlar usuli)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O’zbekiston qurilish me’yorlari (ShNQ) bilan solishtirish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va ingliz tillari, mobil ilova</a:t>
            </a:r>
            <a:endParaRPr lang="en-US" sz="1500" dirty="0"/>
          </a:p>
        </p:txBody>
      </p:sp>
      <p:sp>
        <p:nvSpPr>
          <p:cNvPr id="8" name="Yakuniy havola"/>
          <p:cNvSpPr/>
          <p:nvPr/>
        </p:nvSpPr>
        <p:spPr>
          <a:xfrm>
            <a:off x="548640" y="4846320"/>
            <a:ext cx="11091672" cy="1280160"/>
          </a:xfrm>
          <a:prstGeom prst="roundRect">
            <a:avLst>
              <a:gd name="adj" fmla="val 8571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9" name="Shape 7">
            <a:hlinkClick r:id="rId2" tooltip="TermoLab saytini ochish"/>
          </p:cNvPr>
          <p:cNvSpPr/>
          <p:nvPr/>
        </p:nvSpPr>
        <p:spPr>
          <a:xfrm>
            <a:off x="548640" y="4846320"/>
            <a:ext cx="11091672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983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Dasturni hozir sinab ko’ring (bosing):</a:t>
            </a:r>
            <a:endParaRPr lang="en-US" sz="1800" dirty="0"/>
          </a:p>
        </p:txBody>
      </p:sp>
      <p:sp>
        <p:nvSpPr>
          <p:cNvPr id="11" name="Text 9">
            <a:hlinkClick r:id="rId3" tooltip="TermoLab saytini ochish"/>
          </p:cNvPr>
          <p:cNvSpPr txBox="1"/>
          <p:nvPr/>
        </p:nvSpPr>
        <p:spPr>
          <a:xfrm>
            <a:off x="777240" y="5440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TermoLab saytini ochish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https://ulugbekkamalov0829-web.github.io/termolab/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moLab">
  <a:themeElements>
    <a:clrScheme name="TermoLab">
      <a:dk1>
        <a:srgbClr val="16212E"/>
      </a:dk1>
      <a:lt1>
        <a:srgbClr val="FFFFFF"/>
      </a:lt1>
      <a:dk2>
        <a:srgbClr val="3D4B5C"/>
      </a:dk2>
      <a:lt2>
        <a:srgbClr val="F2F5F8"/>
      </a:lt2>
      <a:accent1>
        <a:srgbClr val="C4401F"/>
      </a:accent1>
      <a:accent2>
        <a:srgbClr val="1F5FA8"/>
      </a:accent2>
      <a:accent3>
        <a:srgbClr val="1F7A4A"/>
      </a:accent3>
      <a:accent4>
        <a:srgbClr val="C77F12"/>
      </a:accent4>
      <a:accent5>
        <a:srgbClr val="B3261E"/>
      </a:accent5>
      <a:accent6>
        <a:srgbClr val="7A8797"/>
      </a:accent6>
      <a:hlink>
        <a:srgbClr val="1F5FA8"/>
      </a:hlink>
      <a:folHlink>
        <a:srgbClr val="6D4C9F"/>
      </a:folHlink>
    </a:clrScheme>
    <a:fontScheme name="Termo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Sterjenda issiqlik tarqalishi: usullar va TermoLab dasturi</dc:title>
  <dc:subject>StudEXPO-2026, UBS</dc:subject>
  <dc:creator>Kamalov Ulug’bek</dc:creator>
  <cp:lastModifiedBy>Kamalov Ulug’bek</cp:lastModifiedBy>
  <cp:revision>1</cp:revision>
  <dcterms:created xsi:type="dcterms:W3CDTF">2026-10-23T03:11:47Z</dcterms:created>
  <dcterms:modified xsi:type="dcterms:W3CDTF">2026-10-23T03:11:47Z</dcterms:modified>
</cp:coreProperties>
</file>